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Layouts/slideLayout37.xml" ContentType="application/vnd.openxmlformats-officedocument.presentationml.slideLayout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28.xml" ContentType="application/vnd.openxmlformats-officedocument.presentationml.slideLayout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8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9.xml" ContentType="application/vnd.openxmlformats-officedocument.presentationml.notesSlide+xml"/>
  <Override PartName="/ppt/slideLayouts/slideLayout3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3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  <p:sldMasterId id="2147483661" r:id="rId2"/>
    <p:sldMasterId id="2147483743" r:id="rId3"/>
  </p:sldMasterIdLst>
  <p:notesMasterIdLst>
    <p:notesMasterId r:id="rId22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theme" Target="theme/theme1.xml"/><Relationship Id="rId5" Type="http://schemas.openxmlformats.org/officeDocument/2006/relationships/theme" Target="theme/theme2.xml"/><Relationship Id="rId6" Type="http://schemas.openxmlformats.org/officeDocument/2006/relationships/theme" Target="theme/theme3.xml"/><Relationship Id="rId7" Type="http://schemas.openxmlformats.org/officeDocument/2006/relationships/theme" Target="theme/theme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 /><Relationship Id="rId24" Type="http://schemas.openxmlformats.org/officeDocument/2006/relationships/tableStyles" Target="tableStyles.xml" /><Relationship Id="rId2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110741" name="Google Shape;3;n"/>
          <p:cNvSpPr txBox="1"/>
          <p:nvPr>
            <p:ph type="hdr" idx="2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7788177" name="Google Shape;4;n"/>
          <p:cNvSpPr txBox="1"/>
          <p:nvPr>
            <p:ph type="dt" idx="10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3864579" name="Google Shape;5;n"/>
          <p:cNvSpPr/>
          <p:nvPr>
            <p:ph type="sldImg" idx="3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1046611" name="Google Shape;6;n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77858505" name="Google Shape;7;n"/>
          <p:cNvSpPr txBox="1"/>
          <p:nvPr>
            <p:ph type="ftr" idx="11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53770449" name="Google Shape;8;n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1245783" name="Google Shape;2110;p1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6371265" name="Google Shape;2111;p1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03289542" name="Google Shape;2112;p1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818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01163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5172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8309D9-C23F-64DA-E11A-96629D09A6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2050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4508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7620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164874-2674-6992-6744-ECBB3B838A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4074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92557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8358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E4768-59FA-75EC-0B76-61F36B2A53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444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5948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36140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C410DD-4FF6-4382-988A-5A37CBD897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1423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191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VIVIM — 10 Development &amp; Growth Milestones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From First Line of Code to First Dividend Check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*Each milestone is a discrete, demonstrable achievement that de-risks the business, unlocks the next phase, and builds toward the flywheel moment: the first user dividend distribution.*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MILESTONE 1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**Foundation: The Sovereign Chat Layer**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What We Build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core multi-provider chat interface with BYOK (Bring Your Own Key) integration across the initial provider set.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Unified chat UI supporting simultaneous connections to **8+ LLM providers** (OpenAI, Anthropic, Google, Mistral, Meta/Llama, xAI, Perplexity, DeepSeek)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BYOK key management system (secure key storage, rotation, validation)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Provider-agnostic message abstraction layer (the **Universal Mux Layer**)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Basic conversation storage — all chats saved locally and/or in user-controlled cloud storage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End-to-end encryption for conversation data at rest and in transit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Basic model routing: user selects provider per conversation or per message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Why It Matters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is the **table-stakes product** that earns the right to exist. Without a genuinely excellent multi-provider chat experience, nothing else matters. This milestone proves we can abstract across providers cleanly and that users prefer a unified home over juggling tabs.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Functional BYOK connections across all target providers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Sub-200ms routing overhead (provider selection → first token)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All conversations stored in user-sovereign data layer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**Private alpha with 500+ testers**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Core retention signal: **&gt;60% weekly return rate** among alpha users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|---|---|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Providers integrated | 8+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Alpha users | 500+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Weekly retention (W1) | &gt;60%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Avg. providers used per user | &gt;2.5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Avg. conversations/week/user | &gt;10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**Months 1–3**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MILESTONE 2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**Atomic Chat Units: Ownership as a Primitive**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What We Build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foundational data architecture that makes every conversation (and conversation fragment) an **owned, portable, composable object** — the Atomic Chat Unit (ACU).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ACU data schema: each unit contains message content, metadata, authorship, provider origin, timestamps, and permissions state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**Verifiable provenance ledger**: cryptographic hashing for tamper-proof ownership and attribution records (implementation-flexible: on-chain anchoring or equivalent cryptographic audit trail)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Conversation export in open, interoperable formats (JSON, Markdown, structured archives)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Import pipeline: ingest existing conversation history from major providers (ChatGPT export, Claude export, etc.)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Granular permissions model: private / shared / public / training-eligible — set at the ACU level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User-facing data dashboard: see everything you own, when it was created, where it lives, and what permissions it carries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Why It Matters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is the **technical and philosophical foundation** of VIVIM's entire value proposition. Without true, verifiable ownership at the data level, "sovereignty" is just marketing. The ACU is what makes conversations **portable, composable, attributable, and eventually monetizable.** It also creates the audit trail required for consent-verified model training — our future legal superpower.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ACU schema finalized and implemented across all stored conversations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Provenance verification functional (any ACU can be cryptographically verified for authorship and integrity)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Successful bulk import from at least 4 major provider export formats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Users can export their entire library at any time in open formats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Permissions model live: users can tag ACUs as private, shared, or training-eligible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|---|---|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ACUs created (cumulative) | 100K+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Successful imports from external providers | 5,000+ user libraries imported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Export completion rate | 100% (any user can export at any time)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Avg. ACUs per active user | &gt;50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**Months 3–5**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Milestone 1 (core chat layer must be functional)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MILESTONE 3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**Fork / Mux / Remux: Composable Intelligence**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What We Build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conversation operations layer — the ability to **branch, merge, splice, and recompose** conversations and conversation fragments across providers and contexts.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**Fork**: Branch any conversation (or ACU fragment) into a new thread — optionally switching provider mid-stream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**Mux**: Select and combine the best segments from multiple conversations into a single new thread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**Remux**: Recompose ACU fragments into entirely new artifacts — new prompts, documents, summaries, or conversation starters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Full **attribution chain**: every fork/mux/remux operation preserves the lineage of its source ACUs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Visual conversation graph: users can see the branching/merging history of any thread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Template creation: save a muxed/remuxed conversation structure as a reusable template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Why It Matters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is what separates VIVIM from every chat aggregator on the market. **No other tool treats conversations as composable objects.** Fork/mux/remux turns linear chat logs into modular building blocks — the equivalent of version control for thought. This is also the feature set that makes the social layer (Milestone 5) powerful: you can't remix what you can't compose.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Fork, mux, and remux operations functional across all supported providers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Attribution chain intact through multi-level operations (fork of a fork, mux of a remux, etc.)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Users can create and save reusable templates from composed conversations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**Feature adoption: &gt;30% of active users use at least one compose operation per week**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|---|---|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Fork operations / week | 5,000+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Mux/Remux operations / week | 2,000+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Templates created | 500+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% of users using compose features weekly | &gt;30%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Cross-provider compose rate (fork into different model) | &gt;40% of forks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**Months 5–7**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Milestone 2 (ACU architecture required for composability and attribution)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MILESTONE 4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**The Context Engine: Your Second Brain, v1**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What We Build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dynamic, persistent memory layer that transforms stored conversations into **active, retrievable, contextual intelligence** — automatically surfaced at the right moment.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**Memory Graph**: a structured, evolving knowledge graph built from user conversations — entities, topics, projects, preferences, people, decisions, and patterns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**Dynamic Context Injection**: before each conversation turn, VIVIM assembles a relevant context payload from the memory graph and injects it into the prompt — without user intervention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Context assembly logic based on **WHO / WHAT / WHEN / WHERE** dimensions: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WHO: user identity, collaborators mentioned, audience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WHAT: active projects, current domain, recent topics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WHEN: temporal relevance — deadlines, recency, project phase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WHERE: workspace context, device, application domain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User-facing memory controls: review what VIVIM "remembers," correct or delete memory entries, set memory boundaries per project or topic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**Cross-provider continuity**: context assembled from Claude conversations surfaces when talking to GPT, and vice versa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Why It Matters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is the **core retention driver** and the primary reason users stay. A working context engine means VIVIM gets meaningfully better the more you use it — creating **compounding switching costs.** It also generates the "second brain" experience that no single-provider chat tool can replicate, because it synthesizes memory *across* all providers.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Memory graph operational with automated entity/topic extraction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Context injection reduces average prompt length by &gt;25% (users explain less)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Cross-provider memory continuity demonstrated (information from Provider A surfaces in Provider B conversations)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Users report measurably better AI responses compared to native provider interfaces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**Retention uplift: users with active context engine show &gt;2x 30-day retention vs. users without**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|---|---|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Memory graph entities per active user | &gt;200 (after 30 days)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Context injection rate (% of conversations with auto-context) | &gt;70%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User-reported response quality improvement | &gt;40% report "noticeably better"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30-day retention (context engine users) | &gt;65%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30-day retention (non-context users) | baseline ~30%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Prompt length reduction (avg.) | &gt;25%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**Months 6–9**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Milestones 1–2 (requires stored ACUs with metadata for graph construction)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MILESTONE 5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**The Social Layer: Instagram for AI Conversations**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What We Build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social network layer — profiles, publishing, following, discovery, and remixing of AI conversations as **living, attributable social objects.**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**User profiles**: public identity built around the quality of your AI-augmented thinking — bio, published conversations, follower/following counts, domain tags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**Publishing**: share entire conversations or curated ACU fragments as public or semi-public posts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**Following**: follow users whose AI workflows you admire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**Discovery feed**: algorithmic and chronological feeds surfacing the most useful, novel, and popular conversation posts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**Remix (Social Fork)**: fork any public conversation into your own workspace — attribution to original author preserved and visible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**Reactions + commentary**: lightweight engagement layer (not full comments — focused on signal, not noise)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Privacy controls: granular settings per post (public / followers-only / unlisted / private)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**Trending**: surface viral prompts, reasoning chains, and conversation architectures across the network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Why It Matters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social layer is the **primary organic growth engine.** It creates network effects (every user who shares makes the platform more valuable), drives discovery (new users find VIVIM through shared conversations), and establishes **culture** (AI thinking as a publishable, followable, remixable practice). It also directly increases the pool of high-quality content available for future opt-in contribution.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Profiles, publishing, following, and remix all functional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Discovery feed operational with basic relevance ranking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**&gt;15% of active users publish at least one conversation per month**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**Viral coefficient: each published conversation generates &gt;0.3 new user signups on average**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First "power creators" emerge — users with &gt;1,000 followers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|---|---|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Monthly active publishers | &gt;15% of MAU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Avg. remixes per public post | &gt;2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Viral coefficient (per published post) | &gt;0.3 new signups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Follower graph density (avg. follows per user) | &gt;8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Users with &gt;1K followers | 50+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Organic signup rate from shared content | &gt;25% of new signups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**Months 8–11**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Milestones 2–3 (ACUs + composability required for publishing and remixing)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MILESTONE 6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**Consent &amp; Contribution Framework: The Trust Architecture**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What We Build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complete consent, privacy, and data contribution infrastructure — the legal, technical, and UX foundation that makes opt-in training contribution safe, transparent, and trustworthy.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**Consent UX**: clear, intuitive opt-in flow — users explicitly select which ACUs (conversations, fragments, projects) they want to contribute for training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**Granularity controls**: contribute at the level of individual conversation, thread segment, project folder, or domain category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**Automated PII pipeline**: multi-stage sensitive data detection and stripping — names, emails, addresses, financial data, health information, proprietary content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**Anonymization layer**: contributed data is de-identified before entering the training pipeline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**User-side review**: before final submission, users see exactly what will be shared and can edit/redact/withdraw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**Audit trail**: every contribution is logged with timestamp, consent version, scope, and revocation status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**Revocation mechanism**: users can withdraw contributed ACUs from future training runs at any time (removed from pipeline; not retroactively unlearned from already-trained models, disclosed clearly)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**Legal framework**: Terms of Contribution (separate from general ToS), clear IP assignment for training use, transparent revenue-sharing terms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**Contribution quality scoring (v1)**: initial heuristics for evaluating contribution value — depth, domain, uniqueness, conversation complexity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Why It Matters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**Trust is the entire business.** If users don't trust the contribution framework, the flywheel never spins. This milestone is about building the most transparent, user-respecting data contribution system ever created — and being able to prove it to users, regulators, and enterprise customers. The quality scoring system also begins to solve the "junk data" problem before it starts.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End-to-end contribution flow functional (select → review → consent → submit → audit)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PII detection pipeline achieves &gt;99% recall on standard PII categories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Revocation mechanism functional and verified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Legal framework reviewed and approved by external privacy counsel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User trust signal: **&gt;70% of users who view the contribution flow rate it as "clear and trustworthy" in survey**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**Initial opt-in rate: &gt;20% of eligible users contribute at least one ACU within first 30 days of framework launch**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|---|---|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Opt-in rate (within 30 days of launch) | &gt;20%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PII detection recall | &gt;99%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User trust rating (post-flow survey) | &gt;70% "clear and trustworthy"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Avg. ACUs contributed per opted-in user | &gt;25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Revocation rate (users who opt in then withdraw) | &lt;5%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Legal/compliance review | Complete, externally validated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**Months 10–13**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Milestone 2 (ACU architecture, permissions model, provenance ledger)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MILESTONE 7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**Scale: 100K Active Users &amp; Contribution Critical Mass**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What We Build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is a **growth milestone**, not a feature milestone. The goal is to reach **100,000 monthly active users** with a meaningful and growing percentage opting in to data contribution — creating a training dataset of sufficient scale and quality to train commercially viable models.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Growth Strategy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**Organic / social-first**: published conversations drive discovery and signups (Milestone 5 network effects)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**Creator partnerships**: onboard 50–100 high-profile AI creators / thought leaders who publish workflows and build audiences on VIVIM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**Community-led growth**: domain-specific communities (AI engineers, legal professionals, medical researchers, educators, writers) seeded with curated conversation libraries and templates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**Referral incentives**: users who refer contributors receive a small dividend multiplier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**Content marketing**: "best AI conversations of the week" editorial curation — shareable, linkable, indexable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**Strategic integrations**: browser extension, API connectors, and import tools that reduce onboarding friction to near-zero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Contribution Scaling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Targeted campaigns to increase opt-in rate from initial ~20% toward **30–40%**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Domain-specific contribution drives (e.g., "Legal AI Conversations Week" — higher dividend weight for expert-domain contributions during the campaign)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Contribution leaderboards and recognition (non-monetary status signals alongside financial dividend)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Why It Matters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**The dataset is the business.** Without sufficient scale and quality of contributed data, VIVIM cannot train commercially competitive models. This milestone proves that the consent-first, compensated contribution model actually works at scale — that users will share high-quality data when the incentives and trust are right.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**100K monthly active users**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**30K+ opted-in contributors** (30%+ opt-in rate)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**2M+ contributed ACUs** in the training pipeline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Domain diversity: contributions spanning &gt;20 distinct professional/creative domains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Contribution quality distribution: &gt;40% of contributed ACUs score "high quality" on internal rubric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Organic growth rate: &gt;40% of new signups from social/referral (not paid)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|---|---|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Monthly active users (MAU) | 100K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Opted-in contributors | 30K+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Contributed ACUs (cumulative) | 2M+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Opt-in rate | &gt;30%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Organic signup share | &gt;40%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Domain diversity | &gt;20 distinct domains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High-quality contribution rate | &gt;40%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30-day retention (overall) | &gt;45%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30-day retention (context engine users) | &gt;65%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**Months 12–15**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Milestones 1–6 (full product + consent framework must be live)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MILESTONE 8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**First Model Training: The Dataset Comes Alive**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What We Build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model training infrastructure and the **first VIVIM-trained proprietary model** — built exclusively on consented, contributed, provenance-verified human-AI interaction data.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**Training data pipeline**: automated flow from contributed ACU pool → cleaning → deduplication → quality filtering → formatting → training-ready dataset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**Quality filtering layer**: multi-stage curation — removes low-quality, repetitive, or potentially harmful content; weights high-value contributions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**Provenance tagging**: every training example is traceable to its contributing user(s) and consent record — creating the **clean chain of custody** that is our legal and enterprise superpower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**First model training run**: fine-tune on a strong open-weight base model (e.g., Llama, Mistral) using the VIVIM contributed dataset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**Evaluation framework**: benchmark VIVIM-trained model against base model and competitors on: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General reasoning and instruction following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Conversational depth and context handling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Domain-specific performance (in verticals with sufficient contributed data)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Human preference evaluations (blind A/B testing)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**Model card and documentation**: transparent disclosure of training data characteristics, consent methodology, and performance benchmarks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Why It Matters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is the moment VIVIM transitions from **product company** to **AI company with a unique data asset.** The quality and differentiation of this first model determines whether the licensing/API revenue stream is viable — and whether the flywheel can sustain itself. The provenance documentation also becomes a tangible sales asset for enterprise customers who need auditable, rights-cleared AI.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Training pipeline operational end-to-end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First VIVIM model trained and internally evaluated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Model demonstrates measurable improvement over base model on target benchmarks (especially conversational reasoning and domain tasks)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Human preference evaluation: **VIVIM model preferred &gt;55% of the time** vs. base model in blind testing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Full provenance documentation: every training example traceable to consented contribution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Model card published with transparent methodology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|---|---|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Training dataset size (contributed ACUs used) | 1M+ high-quality examples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Benchmark improvement over base model | &gt;5% on target evaluations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Human preference rate vs. base model | &gt;55%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Provenance coverage (% of training data with full audit trail) | 100%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Training cost efficiency | Within budget projections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Time from pipeline start to trained model | &lt;8 weeks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**Months 14–17**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Milestone 7 (sufficient contributed data at quality threshold)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MILESTONE 9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**First Model Revenue: The Flywheel Begins to Turn**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What We Build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commercialization infrastructure — and the **first paying customers** for VIVIM-trained models.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**API platform**: hosted inference API for the VIVIM-trained model — usage-based pricing, developer documentation, SDKs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**Enterprise licensing pipeline**: direct sales to enterprises that need AI models with **clean, auditable, consent-verified training data provenance**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**Vertical model pilots**: begin fine-tuning domain-specific models in 2–3 high-value verticals where contributed data is richest (likely: software engineering, legal, creative writing, or research)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**Research partnership agreements**: formalize 1–3 partnerships with academic institutions or commercial research labs for access to anonymized, consented interaction datasets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**Revenue attribution system**: infrastructure that tracks which models generate which revenue — required for accurate dividend calculation in Milestone 10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**Pricing strategy**: tiered pricing based on model capability, vertical specialization, and data provenance guarantees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Go-to-Market (Model Sales)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**Enterprise pitch**: "The only AI models with a fully auditable, consent-verified chain of custody. Zero regulatory risk on training data provenance."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**Developer pitch**: "Models trained on authentic human-AI interaction — not web scrapes. Better at conversation, reasoning, and context handling."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**Research pitch**: "Access to the world's first large-scale, consented, structured human-AI interaction dataset — with full ethical review."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Why It Matters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**Revenue proves the thesis.** This is the milestone where the entire business model either validates or doesn't. If enterprises and developers will pay a premium for consent-verified, high-quality models — and if the revenue is meaningful — then the dividend flywheel becomes economically real. This is also the milestone where VIVIM's **regulatory moat** becomes a tangible sales advantage.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API platform live with usage-based billing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**First 10+ paying API customers** (developers or small teams)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**First 3+ enterprise licensing deals** (signed or in advanced pipeline)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**First $500K+ in annualized model revenue** (API + licensing combined)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Revenue attribution system functional — every dollar traceable to model → training data → contributing users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At least 1 vertical model pilot underway with domain-specific performance data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At least 1 signed research partnership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|---|---|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API customers (paying) | 10+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Enterprise licenses (signed or pipeline) | 3+ signed, 10+ pipeline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Annualized model revenue (ARR) | $500K+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API usage growth (month-over-month) | &gt;20%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Revenue per model line (tracked) | Segmented and attributable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Research partnerships | 1+ signed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Vertical model pilots | 2–3 underway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**Months 17–20**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Milestone 8 (trained model with demonstrated quality + provenance documentation)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MILESTONE 10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**First User Dividend Distribution: The Flywheel Proves Itself**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What We Build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**dividend calculation, accounting, and distribution infrastructure** — and the execution of the **first-ever user dividend payout from AI model revenue.**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is the defining moment. The flywheel spins.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**Dividend calculation engine**: automated system that computes each contributor's share based on: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Volume of contributed ACUs used in training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Quality/uniqueness weighting of contributions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Domain value multipliers (where applicable)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Consistency bonuses for sustained contributors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Revenue attribution per model 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**Payout infrastructure**: integration with payment processors for direct deposit, digital wallet, or equivalent payout mechanism — supporting domestic and international contributors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**Dividend Dashboard (v1)**: user-facing transparency portal showing: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Total contributions and their training status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Which models their data trained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Revenue those models generated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Their individual dividend — earned, pending, and projected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Historical payout record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**First distribution event**: execute the first dividend payout cycle to all eligible contributors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**Communications campaign**: announce the first dividend publicly — press, social, community — with contributor testimonials and aggregate statistics (anonymized)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**Feedback loop**: post-distribution survey and behavioral analysis — does receiving a dividend increase contribution rate, retention, referrals?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The Moment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is the moment VIVIM proves its thesis to users, investors, and the market: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&gt; **"You shared your AI conversations. We trained models. Those models earned revenue. Here is your share."**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single event transforms the narrative from "interesting concept" to **"working economic model."** It is the proof point that the consented data flywheel is real and sustainable.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Why It Matters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**For users**: proof that their data has real financial value — and that VIVIM delivers on its core promise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**For growth**: nothing is more viral than "I got paid for my AI conversations" — this becomes the most powerful acquisition message possible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**For investors**: de-risks the entire business model — contribution rates, model quality, revenue generation, and distribution mechanics are all proven in one milestone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**For the market**: establishes a new paradigm — the first time AI users have been compensated for the value they create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**For regulation**: demonstrates a viable, consent-first alternative to the extractive data practices facing legal challenge worldwide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Dividend calculation engine operational and audited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Payout infrastructure tested and functional (domestic + international)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Dividend Dashboard live for all contributors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**First dividend distributed to all eligible contributors**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Total dividend pool: **minimum $100K+ distributed** in first payout cycle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**Post-dividend opt-in rate increases by &gt;10 percentage points** (e.g., from 30% → 40%+)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**Post-dividend referral rate increases by &gt;25%**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Press coverage and social amplification of the distribution event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Net Promoter Score among dividend recipients: **&gt;70**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|---|---|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Total dividend distributed (first cycle) | $100K+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Number of contributors paid | 10K+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Average payout per contributor | Tracked and published (transparency)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Top-decile contributor payout | Tracked and highlighted (aspirational signal)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Post-dividend opt-in rate increase | &gt;10 percentage points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Post-dividend referral rate increase | &gt;25%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Post-dividend 30-day retention (contributors) | &gt;80%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Dividend Dashboard engagement (% of contributors who check) | &gt;90%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NPS among dividend recipients | &gt;70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Press/media mentions of distribution event | 20+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**Months 20–22**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Milestone 9 (model revenue must be real and attributable)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MILESTONE SUMMARY — THE PATH TO THE FLYWHEEL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# | Milestone | Core Deliverable | Timeline | Key Proof Point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|---|---|---|---|---|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**1** | Sovereign Chat Layer | Multi-provider BYOK chat | Months 1–3 | Users prefer unified interface; &gt;60% W1 retention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**2** | Atomic Chat Units | Owned, portable, composable conversation objects | Months 3–5 | 100K+ ACUs created; full export/import functional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**3** | Fork / Mux / Remux | Composable conversation operations | Months 5–7 | &gt;30% weekly adoption of compose features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**4** | Context Engine v1 | Dynamic second brain with cross-provider memory | Months 6–9 | &gt;2x retention for context users vs. non-context users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**5** | Social Layer | Publishing, following, remixing, discovery | Months 8–11 | &gt;15% monthly publish rate; viral coefficient &gt;0.3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**6** | Consent Framework | Trust architecture for opt-in data contribution | Months 10–13 | &gt;20% initial opt-in; &gt;70% trust rating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**7** | 100K Users + Critical Mass | Growth to scale with 30K+ contributors | Months 12–15 | 2M+ contributed ACUs; &gt;30% opt-in rate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**8** | First Model Training | VIVIM-trained model with full provenance | Months 14–17 | &gt;55% human preference vs. base model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**9** | First Model Revenue | API + enterprise licensing live | Months 17–20 | $500K+ ARR; 10+ paying customers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**10** | First Dividend Distribution | Contributors get paid | Months 20–22 | **$100K+ distributed; opt-in rate jumps &gt;10pts**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THE FLYWHEEL VISUALIZATION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MILESTONE 1–5: Build the product people love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MILESTONE 6: Build the trust to share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MILESTONE 7: Scale users + contributions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MILESTONE 8: Train models on consented data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MILESTONE 9: Sell models → generate revenue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MILESTONE 10: Pay users → prove the model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┌─────────────────────────────────────┐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│         THE FLYWHEEL SPINS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│        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│  More dividends → More trust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│  → More contributions → Better data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│  → Better models → More revenue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│  → Bigger dividends → More users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│  → More contributions → 🔄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└─────────────────────────────────────┘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POST-FLYWHEEL: WHAT COMES NEXT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Once Milestone 10 is achieved, the following accelerators unlock: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**Vertical model expansion**: fine-tuned models across 10+ professional domains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**Enterprise tier**: team workspaces with shared second brains and compliance controls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**Conversation marketplace**: paid templates, expert workflows, and remixable conversation packs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**Mobile-native experience**: full VIVIM on iOS/Android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**Scaled dividend program**: quarterly distributions growing with revenue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**International expansion**: localized experience, multi-language context engine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**Research program**: formal academic partnerships leveraging the world's first consent-verified human-AI interaction dataset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**VIVIM as primary AI interface**: the default home for how humans interact with artificial intelligence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&gt; *"The path from Milestone 1 to Milestone 10 is the path from 'interesting product' to 'new economic paradigm.' Every milestone de-risks the next. And when the first dividend hits a contributor's account, the flywheel doesn't just start — it accelerates."*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**Your AI. Your Data. Your Dividend.**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/////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VIVIM — Development &amp; Growth Milestones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From Zero to First User Dividend Distribution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EXECUTIVE SUMMARY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**Timeline:** 18 months from kickoff to first dividend distribution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**Total Milestones:** 10 sequential phases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**End State:** Functioning flywheel with users earning real money from model revenue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M1 → M2 → M3 → M4 → M5 → M6 → M7 → M8 → M9 → M10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   │     │     │     │     │     │     │     │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▼     ▼     ▼     ▼     ▼     ▼     ▼     ▼     ▼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Core  Mux   Own   Store  Compose Context Social Consent Train  Pay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Infra Layer Prim. Layer  Engine  Engine Layer  System Pipeline Users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MILESTONE 1: CORE INFRASTRUCTURE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"The Foundation"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Timeline: Months 1–2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Objective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Stand up the foundational technical infrastructure that all subsequent systems will build upon — authentication, database architecture, API gateway, security framework, and deployment pipeline.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Deliverable | Description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|-------------|-------------|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**User Authentication System** | Secure auth with email, OAuth (Google, GitHub, Apple), and future wallet connection hooks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**Database Architecture** | Scalable multi-tenant data layer (PostgreSQL + vector DB for embeddings + time-series for analytics)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**API Gateway** | Rate-limited, authenticated API layer for all internal and external services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**Security Framework** | End-to-end encryption at rest and in transit, SOC 2 prep, audit logging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**CI/CD Pipeline** | Automated testing, staging, and production deployment infrastructure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**Monitoring Stack** | Observability (logging, metrics, alerting) across all services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**Admin Dashboard v0** | Internal tooling for user management, system health, and debugging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|--------|--------|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System uptime | 99.9%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Auth flow completion rate | &gt;95%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API latency (p95) | &lt;100ms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Security audit pass | Zero critical vulnerabilities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Deploy frequency | Multiple times per day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Cloud infrastructure decisions (AWS/GCP/hybrid)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Security and compliance consultant engagement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Core engineering team (minimum 3 senior engineers)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Risks &amp; Mitigations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Risk | Mitigation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|------|------------|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Over-engineering early | Time-box to 8 weeks; MVP mindset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Security gaps | External audit at week 6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Scaling unknowns | Design for 10x current needs, no more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Business Impact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Enables all subsequent development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Establishes security posture for enterprise conversations later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Sets engineering velocity baseline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Resources Required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- 3–4 engineers (infra, backend, security)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Cloud budget: ~$5K/month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Security consultant: 20 hours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Exit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User can create account, authenticate, and access empty dashboard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All services deployed and monitored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Security audit complete with zero critical findings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CI/CD running with &gt;80% test coverage on core modules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MILESTONE 2: UNIVERSAL MUX LAYER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"One Interface, Every Model"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Timeline: Months 2–4 (overlaps M1)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Objective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Build the provider-agnostic abstraction layer that allows users to connect their own API keys and interact with any supported LLM through a single, unified interface — the foundational BYOK experience.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Deliverable | Description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|-------------|-------------|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**Provider Adapter Framework** | Pluggable architecture for adding new LLM providers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**Initial Provider Integrations** | OpenAI (GPT-4/4o), Anthropic (Claude 3.5/4), Google (Gemini), Perplexity, Mistral, Groq, DeepSeek, Llama (via Replicate/Together)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**BYOK Key Management** | Secure storage and validation of user API keys (encrypted, never logged)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**Unified Chat Interface** | Single conversation UI that works identically across all providers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**Model Selector** | Easy switching between models mid-conversation or per-message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**Streaming Support** | Real-time token streaming for all supported providers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**Error Handling &amp; Fallbacks** | Graceful degradation, clear error messages, optional auto-fallback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**Usage Tracking** | Per-provider token counting and cost estimation (user-facing)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|--------|--------|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Providers integrated | ≥8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Key validation success rate | &gt;98%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Message delivery success rate | &gt;99.5%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Streaming latency overhead | &lt;50ms added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User-reported model switching friction | &lt;10% report issues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M1 complete (auth, database, API gateway)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API documentation and access for all providers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Legal review of ToS for each provider's API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Risks &amp; Mitigations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Risk | Mitigation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|------|------------|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Provider API changes | Abstract aggressively; monitor changelogs; integration tests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Rate limiting variance | Per-provider rate limit awareness; user warnings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Key security | HSM or equivalent for key storage; never log keys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Provider blocks BYOK use | Legal review; fallback providers always available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Business Impact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Core UX differentiator vs. single-provider apps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Foundation for all composability features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User lock-in begins (conversation history)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Resources Required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- 2–3 engineers (API integration specialists)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Provider API costs for testing: ~$2K/month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Legal review: 10 hours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Exit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User can add keys for 8+ providers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User can chat with any connected provider through unified UI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Model switching works mid-conversation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Streaming works for all providers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Usage/cost dashboard functional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MILESTONE 3: ATOMIC CHAT UNITS™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"The Ownership Primitive"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Timeline: Months 3–5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Objective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Define and implement the Atomic Chat Unit (ACU) — the fundamental primitive that makes every conversation fragment a discrete, owned, portable, composable, and potentially monetizable asset.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Deliverable | Description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|-------------|-------------|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**ACU Data Schema** | Canonical structure: content, metadata, ownership, permissions, provenance hash, timestamps, relationships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**ACU Generation Pipeline** | Every message automatically wrapped as an ACU on creation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**Ownership Model** | Clear user ownership with cryptographic proof of authorship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**Provenance Hash** | SHA-256 or equivalent hash of content + metadata for verifiability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**Permission System** | Granular flags: private / shared / training-eligible / public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**ACU Relationships** | Parent/child threading, fork references, remix attribution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**ACU Export** | User can export any ACU(s) in standard formats (JSON, Markdown, PDF)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**ACU API** | Programmatic access to user's own ACUs (read, update permissions, export)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ACU Schema (Simplified)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```json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{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"acu_id": "uuid",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"owner_id": "user_uuid",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"created_at": "ISO8601",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"content": {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"role": "user | assistant",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"text": "...",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"model": "gpt-4 | claude-3 | etc",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"tokens": 1234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},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"provenance": {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"hash": "sha256:...",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"parent_acu_id": "uuid | null",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"fork_source_id": "uuid | null",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"remix_attribution": ["user_uuid", ...]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},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"permissions": {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"visibility": "private | social | public",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"training_eligible": false,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"training_opted_in_at": null,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"revoked_at": null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},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"metadata": {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"tags": [],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"project_id": "uuid | null",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"context_snapshot_id": "uuid"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}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}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|--------|--------|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ACU creation latency | &lt;10ms overhead per message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Export success rate | 100%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Provenance hash collision | 0 (by design)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Permission update latency | &lt;100ms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API uptime | 99.9%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M2 complete (messages flowing through system)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Legal sign-off on ownership language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Decision on on-chain vs. off-chain provenance (can defer chain integration)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Risks &amp; Mitigations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Risk | Mitigation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|------|------------|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Schema changes later | Version schema from day 1; migration tooling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Performance overhead | Async hashing; batch writes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Legal ambiguity on ownership | Early legal review; conservative claims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Business Impact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Enables true data ownership claim (marketing + legal)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Foundation for consent/dividend system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Creates exportable, portable artifact (anti-lock-in positioning)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Resources Required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- 2 engineers (data modeling, API)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Legal counsel: 15 hours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Technical writer for ACU documentation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Exit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Every message auto-generates an ACU with full schema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Users can view, search, and export their ACU library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Permission system functional (private by default)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Provenance hashes verifiable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API documented and functional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MILESTONE 4: SOVEREIGN STORAGE LAYER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"Your Data, Your Control"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Timeline: Months 4–6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Objective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Implement the encrypted, user-controlled storage layer that guarantees data sovereignty — ensuring users truly own their data with options for self-custody, portability, and deletion.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Deliverable | Description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|-------------|-------------|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**Encrypted Storage** | AES-256 encryption at rest for all user content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**User-Controlled Encryption Keys** | Optional user-managed keys (advanced users); default: platform-managed with user-revocable access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**Full Data Export** | One-click export of all user data (conversations, ACUs, settings, context) in portable formats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**Data Deletion** | Hard delete with cryptographic verification; GDPR/CCPA compliant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**Storage Dashboard** | User-facing view of storage usage, data locations, encryption status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**Backup &amp; Recovery** | User-initiated backup; recovery flow for lost access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**Retention Policies** | User-configurable auto-delete rules (optional)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**Audit Log** | User-visible log of all data access (who, when, what)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|--------|--------|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Encryption coverage | 100% of user content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Export completion rate | 100%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Deletion verification | Cryptographic proof provided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GDPR deletion request time | &lt;72 hours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Data breach incidents | 0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M3 complete (ACU schema and storage)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Compliance/legal review (GDPR, CCPA, SOC 2 prep)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Key management infrastructure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Risks &amp; Mitigations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Risk | Mitigation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|------|------------|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Key loss (user-managed) | Clear warnings; recovery options; default to platform-managed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Compliance gaps | External compliance audit at milestone end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Performance impact of encryption | Hardware acceleration; efficient key caching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Business Impact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Core trust differentiator ("we can't read your data even if we wanted to")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Enterprise readiness signal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Regulatory compliance foundation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Resources Required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- 2 engineers (security, infrastructure)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Compliance consultant: 30 hours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Legal review: 10 hours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Exit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All user data encrypted at rest with user-revocable access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Full export functional and tested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Hard delete with verification working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Audit log visible to users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Initial compliance audit passed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MILESTONE 5: COMPOSE ENGINE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"Fork, Mux, Remux"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Timeline: Months 5–7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Objective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Build the composability engine that allows users to fork, branch, merge, splice, and remix conversations and ACUs across models and projects — turning static chat logs into dynamic, modular building blocks.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Deliverable | Description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|-------------|-------------|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**Fork** | Create a new conversation branch from any point in an existing thread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**Mux** | Combine selected segments from multiple conversations into a new composite thread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**Remux** | Restructure and reorder ACUs to create new prompts, documents, or conversation flows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**Cross-Model Forking** | Fork a Claude conversation and continue it with GPT (or any other provider)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**Visual Thread Editor** | Drag-and-drop interface for composing and rearranging ACUs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**Version History** | Non-destructive editing; full history of all forks and compositions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**Attribution Preservation** | All remix operations maintain provenance chain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**Template Save** | Save composed structures as reusable templates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User Flow Example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Original Claude conversation (ACUs 1–5)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├──→ Fork at ACU 3 → Continue with GPT (new branch)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├──→ Mux: ACU 2 + ACU from different convo → New composite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└──→ Remux: Reorder ACUs 1,3,5 → Export as document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|--------|--------|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Fork creation time | &lt;2 seconds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Cross-model fork success | &gt;99%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Mux/remux operations per active user | Track growth week-over-week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Attribution chain integrity | 100% (no orphaned provenance)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User satisfaction (compose features) | &gt;4.2/5 in survey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M3 complete (ACU system)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M2 complete (multi-provider support)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UI/UX design for visual editor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Risks &amp; Mitigations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Risk | Mitigation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|------|------------|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UI complexity | Progressive disclosure; start with simple fork, unlock advanced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Context loss on cross-model fork | Auto-inject context summary at fork point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Attribution complexity | Strict provenance chain; never allow orphans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Business Impact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Primary UX differentiator vs. all competitors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Creates "workflow lock-in" — users build valuable compositions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Enables social remixing foundation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Resources Required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- 2 backend engineers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- 1 frontend engineer (visual editor)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UX designer: 40 hours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Exit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Fork works within and across providers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Mux combines ACUs from multiple conversations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Remux reorders/restructures ACUs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Visual editor functional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Attribution chain 100% preserved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MILESTONE 6: CONTEXT ENGINE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"The Second Brain"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Timeline: Months 6–9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Objective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Build the dynamic context engine that transforms stored conversations into working memory — automatically surfacing relevant history, preferences, entities, and project context to enhance every interaction.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Deliverable | Description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|-------------|-------------|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**Vector Embedding Pipeline** | Embed all ACUs for semantic search and retrieval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**Context Retrieval System** | RAG-style retrieval of relevant ACUs based on current conversation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**Entity Extraction** | Automatically identify people, projects, topics, dates across conversations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**Entity Graph** | Relationship mapping between extracted entities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**User Preference Learning** | Infer and store preferences (communication style, domains, recurring needs)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**Context Injection** | Auto-inject relevant context into prompts (user-configurable verbosity)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**Project Workspaces** | Group conversations by project with project-specific context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**Temporal Awareness** | Understand deadlines, recency, time-based relevance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**Context Dashboard** | User-visible representation of "what VIVIM knows about you"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Context Injection Example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User prompt: "Help me draft the investor update"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VIVIM auto-injects: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Last 3 investor updates (content + structure)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Recent conversations about metrics, roadmap, challenges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Investor names and preferences from entity graph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Deadline from calendar integration (future)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|--------|--------|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Context retrieval latency | &lt;500ms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Retrieval relevance (user rating) | &gt;4.0/5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Entity extraction accuracy | &gt;90%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User engagement with context features | &gt;40% of active users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Prompt length reduction (user-reported) | 30–50%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M3 + M4 complete (ACUs stored and accessible)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Vector database (Pinecone, Weaviate, or pgvector)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Embedding model selection (OpenAI, Cohere, or open-source)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Risks &amp; Mitigations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Risk | Mitigation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|------|------------|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Retrieval quality | Continuous eval loop; user feedback; hybrid search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Cost of embeddings | Batch processing; caching; efficient models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Context overload | User controls for verbosity; smart truncation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Privacy concerns | Clear UI showing what's injected; user override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Business Impact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Massive UX improvement (the "magic" moment)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Strongest retention driver ("it knows me")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Deep switching cost (your context graph is non-portable)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Resources Required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- 2–3 ML engineers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- 1 backend engineer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Vector DB costs: ~$1K/month initially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Embedding costs: ~$2K/month initially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Exit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All ACUs embedded and searchable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Context auto-retrieved for new conversations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Entities extracted and graphed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User can view/edit their context profile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Measurable improvement in output quality (user survey)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MILESTONE 7: SOCIAL LAYER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"Instagram for AI Conversations"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Timeline: Months 8–11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Objective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Build the social network layer that transforms VIVIM from a personal tool into a platform — enabling users to share, discover, follow, and remix AI conversations and reasoning chains.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Deliverable | Description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|-------------|-------------|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**User Profiles** | Public profile with bio, avatar, shared content, follower/following counts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**Publish Flow** | Select ACUs or threads → set visibility → publish to feed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**Feed** | Personalized feed of content from followed users + discovery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**Follow System** | Follow users; see their public shares in your feed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**Remix / Fork** | Fork any public thread into your own workspace (attribution preserved)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**Reactions &amp; Comments** | Lightweight engagement (likes, bookmarks, comments)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**Discovery** | Trending, curated collections, topic-based browsing, search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**Attribution Display** | Clear provenance on remixed content ("forked from @user")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**Privacy Controls** | Granular: private / followers-only / public per-share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**Notifications** | New followers, remixes of your content, engagement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|--------|--------|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% of users who publish ≥1 share | &gt;15% (month 1) → &gt;30% (month 6)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% of users who follow ≥1 person | &gt;40%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Avg. shares per publishing user | &gt;5/month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Remix rate (forks of public content) | &gt;10% of shares get forked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Feed engagement (scrolls, clicks) | &gt;3 min avg. session on feed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M5 complete (compose engine for remixing)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M3 complete (ACU permissions system)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Content moderation strategy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Risks &amp; Mitigations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Risk | Mitigation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|------|------------|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Low initial content | Seed with curated power users; team shares; invite-only beta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Spam/abuse | Moderation system; rate limits; report flow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IP/copyright issues on remixes | Clear attribution; ToS; DMCA process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Feed algorithm complexity | Start chronological; add ranking later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Business Impact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Network effects → viral growth potential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Content library → platform value compounds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Creator audience-building → creator loyalty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Distribution for dividend flywheel (more shares → more opt-in → more training data)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Resources Required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- 2 backend engineers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- 2 frontend engineers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- 1 community/moderation hire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Content moderation tooling: ~$1K/month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Exit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Users can publish, follow, and remix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Feed functional with discovery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Attribution 100% preserved on remixes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Moderation system operational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1,000+ public shares in first month post-launch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MILESTONE 8: CONSENT &amp; CONTRIBUTION SYSTEM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"Opt-In, Granular, Revocable"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Timeline: Months 10–12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Objective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Build the consent infrastructure that enables users to opt specific ACUs into the training pool — with full granularity, transparency, auditability, and revocability — forming the foundation for the Data Dividend Protocol.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Deliverable | Description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|-------------|-------------|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**Opt-In Flow** | Simple UI to mark ACUs as training-eligible (per-ACU, per-thread, or bulk)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**Consent States** | Clear state machine: private → training-eligible → opted-in → revoked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**PII Detection** | Automated scanning for sensitive data (names, emails, addresses, etc.)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**Anonymization Pipeline** | Strip/redact identified PII before training eligibility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**User Review Step** | Pre-submission review showing exactly what will be shared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**Consent Ledger** | Immutable log of all consent actions (timestamps, ACU IDs, user actions)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**Revocation Flow** | User can revoke any ACU at any time; removed from future training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**Contribution Dashboard** | User sees: what's opted-in, what's been used, running share estimate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**Terms &amp; Policies** | Clear legal language on data contribution, rights, dividend eligibility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Consent State Machine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┌──────────────┐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│   PRIVATE    │ (default)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└──────┬───────┘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   │ user opts in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┌───────────────────────┐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│  TRAINING-ELIGIBLE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│  (PII scan + review)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└───────────┬───────────┘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   │ user confirms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┌─────────────────┐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│   OPTED-IN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│ (in training pool)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└────────┬────────┘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   │ user revokes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┌──────────────┐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│   REVOKED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│ (removed from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│ future training)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└──────────────┘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|--------|--------|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Opt-in rate (of active users) | 30–50%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Avg. ACUs opted-in per contributor | &gt;50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PII detection accuracy | &gt;95% recall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False positive rate (PII) | &lt;10%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Revocation request processing | &lt;24 hours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Consent ledger integrity | 100% auditable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M3 complete (ACU system with permissions)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M4 complete (secure storage)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Legal review of consent language and dividend terms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PII detection model (off-the-shelf or fine-tuned)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Risks &amp; Mitigations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Risk | Mitigation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|------|------------|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Low opt-in rate | Clear value prop (dividends); social proof; easy UX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PII leakage | Conservative detection; human review for edge cases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Legal challenges | External legal review; conservative consent language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Gaming/spam contributions | Quality scoring (see M9); low-value = low dividend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Business Impact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Unlocks the entire business model (no contributions = no revenue)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Trust differentiator ("we built consent right")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Regulatory advantage (GDPR/CCPA/AI Act compliant by design)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Resources Required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- 2 backend engineers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- 1 ML engineer (PII detection)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Legal counsel: 40 hours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Compliance consultant: 20 hours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Exit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Opt-in flow functional with PII detection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User review step mandatory before confirmation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Consent ledger immutable and auditable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Revocation working within 24 hours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Legal review complete; terms published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First 10,000 ACUs opted-in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MILESTONE 9: MODEL TRAINING PIPELINE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"From Data to Revenue"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Timeline: Months 11–14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Objective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Build the end-to-end pipeline that transforms opted-in, anonymized ACU data into fine-tuned proprietary models — and establishes the licensing infrastructure to generate revenue from those models.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Deliverable | Description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|-------------|-------------|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**Training Data Pipeline** | Extract, transform, and load opted-in ACUs into training-ready format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**Quality Scoring** | Score each ACU for training value (uniqueness, depth, domain signal, coherence)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**Training Infrastructure** | Compute setup for fine-tuning (cloud GPUs, training orchestration)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**Base Model Selection** | Choose base model(s) for fine-tuning (Llama, Mistral, etc.)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**Fine-Tuning Pipeline** | Automated training runs with eval, checkpointing, versioning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**Evaluation Framework** | Benchmarks to measure model improvement from VIVIM data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**Model Registry** | Version control and deployment management for trained models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**Licensing Infrastructure** | API access management, usage tracking, billing for enterprise/developer customers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**First Model Release** | Ship v0.1 of VIVIM-trained model (internal + limited external beta)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Training Data Quality Scoring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Factor | Weight | Description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|--------|--------|-------------|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**Uniqueness** | 25% | How different from existing training data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**Depth** | 25% | Multi-turn reasoning, complexity, nuance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**Domain Signal** | 20% | Expert-level domain knowledge (legal, medical, technical)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**Coherence** | 15% | Well-structured, clear, high-quality writing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**Engagement** | 15% | Social signals (if shared): remixes, likes, follows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|--------|--------|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Training data volume | &gt;100K high-quality ACUs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Quality score distribution | &gt;60% score ≥0.7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Model improvement (eval benchmarks) | Measurable lift vs. base model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Training pipeline uptime | 99%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Time from data → trained model | &lt;7 days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First licensing revenue | &gt;$0 (proof of concept)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M8 complete (opted-in data available)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Compute budget (~$50K+ for initial training runs)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ML team with fine-tuning experience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Business development for licensing conversations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Risks &amp; Mitigations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Risk | Mitigation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|------|------------|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Insufficient data volume | Incentivize early contributors; lower quality threshold for v1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Model quality issues | Extensive eval; start with narrow use cases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Compute costs | Start small; optimize; negotiate cloud credits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No licensing demand | Pre-sell before building; focus on unique data angle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Business Impact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First proof of revenue (even $1 validates the model)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Creates asset (trained models) with compounding value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Unlocks dividend calculation (revenue to distribute)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Resources Required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- 2–3 ML engineers (training, eval)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- 1 MLOps engineer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Compute: ~$50K initial training budget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Business development: 1 hire or founder time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Exit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Training pipeline functional end-to-end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Quality scoring operational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First model trained and evaluated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Model outperforms base on target benchmarks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Licensing infrastructure ready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First external customer engaged (even pilot/beta)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MILESTONE 10: DIVIDEND DISTRIBUTION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"Users Get Paid"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Timeline: Months 14–18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Objective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Build and execute the complete Data Dividend Protocol — from revenue collection through transparent calculation to actual payment distribution — proving the flywheel works by putting real money in users' hands.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Deliverable | Description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|-------------|-------------|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**Revenue Tracking System** | Accurate tracking of all model licensing revenue by source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**Contribution Accounting** | Calculate each user's share based on opted-in ACUs and quality scores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**Dividend Formula Engine** | Transparent calculation: `payout = (user_contribution_share) × (revenue) × (0.70)`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**Payout Ledger** | Immutable record of all dividend calculations and payments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**Payment Infrastructure** | Integration with payment rails (Stripe, PayPal, crypto options)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**Tax Documentation** | 1099 generation (US), tax guidance for international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**User Dividend Dashboard** | Real-time view: your contribution, your share, your earnings, payout history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**Payout Scheduling** | Monthly or quarterly distribution cycles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**Communication Campaign** | Announce first dividend; testimonials; social proof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**First Distribution Event** | Actually pay users — the flywheel proof moment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Dividend Calculation (Simplified)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Total Model Revenue (Month): $100,000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Platform Share (30%):        $30,000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User Dividend Pool (70%):    $70,000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User A Contribution Share:   2.5%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User A Payout:               $70,000 × 0.025 = $1,750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User B Contribution Share:   0.1%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User B Payout:               $70,000 × 0.001 = $70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Dividend Dashboard (User View)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                  YOUR DIVIDEND DASHBOARD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Total ACUs Contributed:          247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Average Quality Score:           0.78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Your Contribution Share:         0.34%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                              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─────────────────────────────────────────────────────────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                              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This Month's Revenue Pool:       $70,000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Your Estimated Payout:           $238.00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                              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─────────────────────────────────────────────────────────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                              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Lifetime Earnings:               $238.00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Pending Payout:                  $238.00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Next Payout Date:                March 1, 2027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                              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[View Contribution History]  [View Payout History]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[Update Payment Method]      [Tax Documents]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|--------|--------|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First distribution event | Complete by Month 18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Total distributed (first payout) | &gt;$50,000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Number of users paid | &gt;500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Average payout per contributor | &gt;$50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Payout success rate | &gt;99%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User satisfaction (post-payout survey) | &gt;4.5/5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PR/social pickup | Major tech media coverage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M9 complete (revenue flowing from model licensing)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M8 complete (contribution tracking in place)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Payment provider integrations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Legal/tax compliance review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Communications/marketing prep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Risks &amp; Mitigations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Risk | Mitigation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|------|------------|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Low revenue = low payouts | Set expectations; emphasize long-term compounding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Payment failures | Multiple payment options; retry logic; support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Tax complexity | Partner with tax provider; clear documentation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User disputes | Transparent formula; audit trail; support escalation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Securities law concerns | Legal review; "profit share from model revenue, not equity"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Business Impact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**THE PROOF MOMENT** — everything hinges on this working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Creates massive social proof and virality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Validates entire business model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Triggers flywheel acceleration (users recruit users)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Differentiates permanently from all competitors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Resources Required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- 1–2 backend engineers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- 1 finance/ops hire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Legal counsel: 30 hours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Tax/compliance consultant: 20 hours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Payment provider integration costs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Marketing/comms: $20K first distribution campaign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Exit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Revenue accurately tracked by source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Contribution shares calculated and auditable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Dividend formula transparent and published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Payment infrastructure functional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Tax documentation ready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**First distribution completed — users receive real payments**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Post-distribution survey: &gt;4.5/5 satisfaction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Media coverage achieved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Opt-in rate increases post-distribution (flywheel evidence)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MILESTONE SUMMARY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# | Milestone | Duration | Cumulative | Core Deliverable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|---|-----------|----------|------------|------------------|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**M1** | Core Infrastructure | 2 months | Month 2 | Auth, DB, security, CI/CD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**M2** | Universal Mux Layer | 2 months | Month 4 | BYOK, 8+ providers, unified chat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**M3** | Atomic Chat Units | 2 months | Month 5 | Ownership primitive, provenance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**M4** | Sovereign Storage | 2 months | Month 6 | Encryption, export, deletion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**M5** | Compose Engine | 2 months | Month 7 | Fork, mux, remux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**M6** | Context Engine | 3 months | Month 9 | Second brain, RAG, entity graph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**M7** | Social Layer | 3 months | Month 11 | Share, follow, remix, discovery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**M8** | Consent System | 2 months | Month 12 | Opt-in, PII detection, revocation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**M9** | Training Pipeline | 3 months | Month 14 | Data → model → licensing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**M10** | Dividend Distribution | 4 months | Month 18 | **Users get paid**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CRITICAL PATH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M1 ──→ M2 ──→ M3 ──→ M4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M5 ──→ M6 ──→ M7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M8 ──→ M9 ──→ M10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💰 FIRST DIVIDEND 💰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KEY DEPENDENCIES VISUALIZATION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┌─────────────────┐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│  M1: CORE INFRA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└────────┬────────┘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┌─────────────────┐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│   M2: MUX LAYER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└────────┬────────┘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┌──────────────┼──────────────┐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▼              ▼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┌────────────┐ ┌────────────┐ ┌────────────┐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│ M3: ACUs   │ │ M4: STORAGE│ │ M5: COMPOSE│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└─────┬──────┘ └─────┬──────┘ └─────┬──────┘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│              │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└──────────────┼──────────────┘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┌─────────────────┐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│ M6: CONTEXT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└────────┬────────┘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┌─────────────────┐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│ M7: SOCIAL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└────────┬────────┘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┌─────────────────┐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│ M8: CONSENT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└────────┬────────┘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┌─────────────────┐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│ M9: TRAINING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└────────┬────────┘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┌─────────────────┐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│ M10: DIVIDEND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│    💰 PAYOUT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└─────────────────┘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RESOURCE REQUIREMENTS SUMMARY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Phase | Engineering | ML | Design | Legal | Other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|-------|-------------|-----|--------|-------|-------|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M1–M2 | 4–5 | 0 | 1 | 10 hrs | —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M3–M5 | 4 | 0 | 2 | 25 hrs | —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M6 | 3 | 2–3 | 1 | 0 | —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M7 | 4 | 0 | 2 | 10 hrs | Community 1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M8 | 3 | 1 | 1 | 60 hrs | Compliance 20 hrs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M9 | 3 | 3 | 0 | 10 hrs | BD 1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M10 | 2 | 0 | 1 | 30 hrs | Finance 1, Marketing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**Total Team at Peak:** ~12–15 people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**Total Legal Hours:** ~145 hours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**Total Timeline:** 18 months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SUCCESS STATE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At the completion of Milestone 10: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Users can chat with 8+ AI providers through one interface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Every conversation is owned as an Atomic Chat Unit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Data is encrypted and sovereign (export, delete, control)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Users can fork, mux, and remux across models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Context engine makes every conversation smarter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Social layer enables sharing, following, remixing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Consent system enables granular opt-in with full transparency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Training pipeline produces revenue-generating models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**Users have received real dividend payments**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**The flywheel is spinning**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**Ready to build.**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  <p:sp>
        <p:nvSpPr>
          <p:cNvPr id="19827943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D0A01B-5A17-32FF-3625-3D2CF6AC89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195807" name="Google Shape;2661;p26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97652275" name="Google Shape;2662;p26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91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6927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898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B58C18-EBAF-C418-9B20-F8DFA6832C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120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0486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0827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EF109F-52E7-3F72-FF72-0D0ED2F944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2457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4969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57440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D92271-3503-EA08-25AD-320F590E99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727997" name="Google Shape;2442;p14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52700895" name="Google Shape;2443;p14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40767" name="Google Shape;2156;p5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62776284" name="Google Shape;2157;p5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709871" name="Google Shape;2117;p2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6611676" name="Google Shape;2118;p2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57891620" name="Google Shape;2119;p2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7185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5326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103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D1AF62-C009-181C-A73D-060195A51A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3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EFAULT" preserve="0" showMasterPhAnim="0" showMasterSp="1" userDrawn="1">
  <p:cSld name="DEFAULT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163084" name="Google Shape;17;p3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93797429" name="Google Shape;18;p3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73517434" name="Google Shape;19;p3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309362" name="Google Shape;21;p4"/>
          <p:cNvSpPr txBox="1"/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98307733" name="Google Shape;22;p4"/>
          <p:cNvSpPr txBox="1"/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364459732" name="Google Shape;23;p4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75859833" name="Google Shape;24;p4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61653766" name="Google Shape;25;p4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362668" name="Google Shape;27;p5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8778474" name="Google Shape;28;p5"/>
          <p:cNvSpPr txBox="1"/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81296399" name="Google Shape;29;p5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80307542" name="Google Shape;30;p5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58254068" name="Google Shape;31;p5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897609" name="Google Shape;33;p6"/>
          <p:cNvSpPr txBox="1"/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41647884" name="Google Shape;34;p6"/>
          <p:cNvSpPr txBox="1"/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572641997" name="Google Shape;35;p6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9723438" name="Google Shape;36;p6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99112892" name="Google Shape;37;p6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627495" name="Google Shape;39;p7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96284991" name="Google Shape;40;p7"/>
          <p:cNvSpPr txBox="1"/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46961064" name="Google Shape;41;p7"/>
          <p:cNvSpPr txBox="1"/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07744" name="Google Shape;42;p7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62469596" name="Google Shape;43;p7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97673346" name="Google Shape;44;p7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60093" name="Google Shape;46;p8"/>
          <p:cNvSpPr txBox="1"/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35459255" name="Google Shape;47;p8"/>
          <p:cNvSpPr txBox="1"/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73783838" name="Google Shape;48;p8"/>
          <p:cNvSpPr txBox="1"/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0026508" name="Google Shape;49;p8"/>
          <p:cNvSpPr txBox="1"/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80499107" name="Google Shape;50;p8"/>
          <p:cNvSpPr txBox="1"/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97885877" name="Google Shape;51;p8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95352417" name="Google Shape;52;p8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51814991" name="Google Shape;53;p8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3394024" name="Google Shape;55;p9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42602579" name="Google Shape;56;p9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3257200" name="Google Shape;57;p9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44473521" name="Google Shape;58;p9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5140562" name="Google Shape;60;p10"/>
          <p:cNvSpPr txBox="1"/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7559330" name="Google Shape;61;p10"/>
          <p:cNvSpPr txBox="1"/>
          <p:nvPr>
            <p:ph type="body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193011704" name="Google Shape;62;p10"/>
          <p:cNvSpPr txBox="1"/>
          <p:nvPr>
            <p:ph type="body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1401619428" name="Google Shape;63;p10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29288605" name="Google Shape;64;p10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06005548" name="Google Shape;65;p10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190610" name="Google Shape;67;p11"/>
          <p:cNvSpPr txBox="1"/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59875661" name="Google Shape;68;p11"/>
          <p:cNvSpPr/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53391415" name="Google Shape;69;p11"/>
          <p:cNvSpPr txBox="1"/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1835179883" name="Google Shape;70;p11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93551876" name="Google Shape;71;p11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74515558" name="Google Shape;72;p11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7221014" name="Google Shape;74;p12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93032784" name="Google Shape;75;p12"/>
          <p:cNvSpPr txBox="1"/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73820991" name="Google Shape;76;p12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8707734" name="Google Shape;77;p12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39098391" name="Google Shape;78;p12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367939" name="Google Shape;80;p13"/>
          <p:cNvSpPr txBox="1"/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5538876" name="Google Shape;81;p13"/>
          <p:cNvSpPr txBox="1"/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99171807" name="Google Shape;82;p13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53071212" name="Google Shape;83;p13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60647801" name="Google Shape;84;p13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b/Solution 3" preserve="0" showMasterPhAnim="0" showMasterSp="1" userDrawn="1">
  <p:cSld name="Prob/Solution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124360" name="Google Shape;92;p15"/>
          <p:cNvSpPr/>
          <p:nvPr>
            <p:ph type="pic" idx="2"/>
          </p:nvPr>
        </p:nvSpPr>
        <p:spPr bwMode="auto">
          <a:xfrm>
            <a:off x="0" y="0"/>
            <a:ext cx="12192000" cy="6165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258541494" name="Google Shape;93;p15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3705355" name="Google Shape;94;p15"/>
          <p:cNvSpPr txBox="1"/>
          <p:nvPr>
            <p:ph type="title"/>
          </p:nvPr>
        </p:nvSpPr>
        <p:spPr bwMode="auto">
          <a:xfrm>
            <a:off x="623888" y="692151"/>
            <a:ext cx="5472112" cy="481647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468000" tIns="1044000" rIns="46800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0221150" name="Google Shape;95;p15"/>
          <p:cNvSpPr txBox="1"/>
          <p:nvPr>
            <p:ph type="body" idx="1"/>
          </p:nvPr>
        </p:nvSpPr>
        <p:spPr bwMode="auto">
          <a:xfrm>
            <a:off x="1093139" y="3429000"/>
            <a:ext cx="3658475" cy="131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08903774" name="Google Shape;96;p15"/>
          <p:cNvSpPr txBox="1"/>
          <p:nvPr>
            <p:ph type="body" idx="3"/>
          </p:nvPr>
        </p:nvSpPr>
        <p:spPr bwMode="auto">
          <a:xfrm>
            <a:off x="1093140" y="1320085"/>
            <a:ext cx="4533608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urpose 2" preserve="0" showMasterPhAnim="0" showMasterSp="1" userDrawn="1">
  <p:cSld name="Purpos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2934346" name="Google Shape;156;p22"/>
          <p:cNvSpPr/>
          <p:nvPr/>
        </p:nvSpPr>
        <p:spPr bwMode="auto">
          <a:xfrm>
            <a:off x="2" y="1"/>
            <a:ext cx="12191999" cy="616584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2058345924" name="Google Shape;157;p22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016889" name="Google Shape;158;p22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12756191" name="Google Shape;159;p22"/>
          <p:cNvSpPr txBox="1"/>
          <p:nvPr>
            <p:ph type="title"/>
          </p:nvPr>
        </p:nvSpPr>
        <p:spPr bwMode="auto">
          <a:xfrm>
            <a:off x="623887" y="1407696"/>
            <a:ext cx="10944225" cy="3646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ontserrat ExtraLight"/>
              <a:buNone/>
              <a:defRPr sz="5400" b="0" i="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 6" preserve="0" showMasterPhAnim="0" showMasterSp="0" userDrawn="1">
  <p:cSld name="Title 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95222" name="Google Shape;185;p27"/>
          <p:cNvSpPr txBox="1"/>
          <p:nvPr>
            <p:ph type="body" idx="1"/>
          </p:nvPr>
        </p:nvSpPr>
        <p:spPr bwMode="auto">
          <a:xfrm>
            <a:off x="4060825" y="670368"/>
            <a:ext cx="407035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 b="0" i="0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9728858" name="Google Shape;186;p27"/>
          <p:cNvSpPr txBox="1"/>
          <p:nvPr>
            <p:ph type="body" idx="2"/>
          </p:nvPr>
        </p:nvSpPr>
        <p:spPr bwMode="auto">
          <a:xfrm>
            <a:off x="4060825" y="5986916"/>
            <a:ext cx="407035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 b="0" i="0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20498651" name="Google Shape;187;p27"/>
          <p:cNvSpPr txBox="1"/>
          <p:nvPr>
            <p:ph type="body" idx="3"/>
          </p:nvPr>
        </p:nvSpPr>
        <p:spPr bwMode="auto">
          <a:xfrm>
            <a:off x="4844145" y="2983118"/>
            <a:ext cx="2503712" cy="89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urpose 1" preserve="0" showMasterPhAnim="0" showMasterSp="1" userDrawn="1">
  <p:cSld name="Purpos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74309" name="Google Shape;189;p28"/>
          <p:cNvSpPr/>
          <p:nvPr>
            <p:ph type="pic" idx="2"/>
          </p:nvPr>
        </p:nvSpPr>
        <p:spPr bwMode="auto">
          <a:xfrm>
            <a:off x="0" y="0"/>
            <a:ext cx="12192000" cy="6165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74292794" name="Google Shape;190;p28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9223657" name="Google Shape;191;p28"/>
          <p:cNvSpPr txBox="1"/>
          <p:nvPr>
            <p:ph type="title"/>
          </p:nvPr>
        </p:nvSpPr>
        <p:spPr bwMode="auto">
          <a:xfrm>
            <a:off x="1463040" y="2276476"/>
            <a:ext cx="9265920" cy="19836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540000" tIns="0" rIns="54000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Light"/>
              <a:buNone/>
              <a:defRPr>
                <a:latin typeface="Montserrat Light"/>
                <a:ea typeface="Montserrat Light"/>
                <a:cs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12273352" name="Google Shape;192;p28"/>
          <p:cNvSpPr txBox="1"/>
          <p:nvPr>
            <p:ph type="body" idx="1"/>
          </p:nvPr>
        </p:nvSpPr>
        <p:spPr bwMode="auto">
          <a:xfrm>
            <a:off x="5172075" y="1944688"/>
            <a:ext cx="1847850" cy="58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b/Solution 2" preserve="0" showMasterPhAnim="0" showMasterSp="1" userDrawn="1">
  <p:cSld name="Prob/Solution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727814" name="Google Shape;194;p29"/>
          <p:cNvSpPr/>
          <p:nvPr>
            <p:ph type="pic" idx="2"/>
          </p:nvPr>
        </p:nvSpPr>
        <p:spPr bwMode="auto">
          <a:xfrm>
            <a:off x="0" y="0"/>
            <a:ext cx="6096000" cy="6165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29356784" name="Google Shape;195;p29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3501372" name="Google Shape;196;p29"/>
          <p:cNvSpPr txBox="1"/>
          <p:nvPr>
            <p:ph type="body" idx="1"/>
          </p:nvPr>
        </p:nvSpPr>
        <p:spPr bwMode="auto">
          <a:xfrm>
            <a:off x="6796088" y="605981"/>
            <a:ext cx="4772024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648652" name="Google Shape;197;p29"/>
          <p:cNvSpPr txBox="1"/>
          <p:nvPr>
            <p:ph type="body" idx="3"/>
          </p:nvPr>
        </p:nvSpPr>
        <p:spPr bwMode="auto">
          <a:xfrm>
            <a:off x="6796088" y="2767615"/>
            <a:ext cx="4637088" cy="79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40676324" name="Google Shape;198;p29"/>
          <p:cNvSpPr txBox="1"/>
          <p:nvPr>
            <p:ph type="title"/>
          </p:nvPr>
        </p:nvSpPr>
        <p:spPr bwMode="auto">
          <a:xfrm>
            <a:off x="6796088" y="939313"/>
            <a:ext cx="4772024" cy="886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3488490" name="Google Shape;199;p29"/>
          <p:cNvSpPr txBox="1"/>
          <p:nvPr>
            <p:ph type="body" idx="4"/>
          </p:nvPr>
        </p:nvSpPr>
        <p:spPr bwMode="auto">
          <a:xfrm>
            <a:off x="7379368" y="4097634"/>
            <a:ext cx="4053808" cy="53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Montserrat"/>
                <a:ea typeface="Montserrat"/>
                <a:cs typeface="Montserra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duct 7" preserve="0" showMasterPhAnim="0" showMasterSp="1" userDrawn="1">
  <p:cSld name="Product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1296550" name="Google Shape;201;p30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881908" y="1792354"/>
            <a:ext cx="2267585" cy="3513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1565270" name="Google Shape;202;p30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3079764" y="1792354"/>
            <a:ext cx="2267585" cy="3513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667688" name="Google Shape;203;p30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5277620" y="1792354"/>
            <a:ext cx="2267585" cy="3513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7980998" name="Google Shape;204;p30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7475476" y="1792354"/>
            <a:ext cx="2267585" cy="3513818"/>
          </a:xfrm>
          <a:prstGeom prst="rect">
            <a:avLst/>
          </a:prstGeom>
          <a:noFill/>
          <a:ln>
            <a:noFill/>
          </a:ln>
        </p:spPr>
      </p:pic>
      <p:sp>
        <p:nvSpPr>
          <p:cNvPr id="790834432" name="Google Shape;205;p30"/>
          <p:cNvSpPr/>
          <p:nvPr>
            <p:ph type="pic" idx="2"/>
          </p:nvPr>
        </p:nvSpPr>
        <p:spPr bwMode="auto">
          <a:xfrm>
            <a:off x="3282213" y="1877264"/>
            <a:ext cx="1246961" cy="270085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25264516" name="Google Shape;206;p30"/>
          <p:cNvSpPr/>
          <p:nvPr>
            <p:ph type="pic" idx="3"/>
          </p:nvPr>
        </p:nvSpPr>
        <p:spPr bwMode="auto">
          <a:xfrm>
            <a:off x="5480069" y="1877264"/>
            <a:ext cx="1246961" cy="270085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96192215" name="Google Shape;207;p30"/>
          <p:cNvSpPr/>
          <p:nvPr>
            <p:ph type="pic" idx="4"/>
          </p:nvPr>
        </p:nvSpPr>
        <p:spPr bwMode="auto">
          <a:xfrm>
            <a:off x="7677925" y="1877264"/>
            <a:ext cx="1246960" cy="270085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15982390" name="Google Shape;208;p30"/>
          <p:cNvSpPr/>
          <p:nvPr>
            <p:ph type="pic" idx="5"/>
          </p:nvPr>
        </p:nvSpPr>
        <p:spPr bwMode="auto">
          <a:xfrm>
            <a:off x="1084357" y="1877264"/>
            <a:ext cx="1246961" cy="270085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60232625" name="Google Shape;209;p30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2067661" name="Google Shape;210;p30"/>
          <p:cNvSpPr txBox="1"/>
          <p:nvPr>
            <p:ph type="body" idx="1"/>
          </p:nvPr>
        </p:nvSpPr>
        <p:spPr bwMode="auto">
          <a:xfrm>
            <a:off x="623888" y="605981"/>
            <a:ext cx="2929536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65882620" name="Google Shape;211;p30"/>
          <p:cNvSpPr txBox="1"/>
          <p:nvPr>
            <p:ph type="body" idx="6"/>
          </p:nvPr>
        </p:nvSpPr>
        <p:spPr bwMode="auto">
          <a:xfrm>
            <a:off x="825735" y="5021843"/>
            <a:ext cx="1764204" cy="105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4069441" name="Google Shape;212;p30"/>
          <p:cNvSpPr txBox="1"/>
          <p:nvPr>
            <p:ph type="body" idx="7"/>
          </p:nvPr>
        </p:nvSpPr>
        <p:spPr bwMode="auto">
          <a:xfrm>
            <a:off x="3023591" y="5021843"/>
            <a:ext cx="1764204" cy="105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2042939" name="Google Shape;213;p30"/>
          <p:cNvSpPr txBox="1"/>
          <p:nvPr>
            <p:ph type="body" idx="8"/>
          </p:nvPr>
        </p:nvSpPr>
        <p:spPr bwMode="auto">
          <a:xfrm>
            <a:off x="5221447" y="5021843"/>
            <a:ext cx="1764204" cy="105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62932075" name="Google Shape;214;p30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30649892" name="Google Shape;215;p30"/>
          <p:cNvSpPr txBox="1"/>
          <p:nvPr>
            <p:ph type="body" idx="9"/>
          </p:nvPr>
        </p:nvSpPr>
        <p:spPr bwMode="auto">
          <a:xfrm>
            <a:off x="7419303" y="5021843"/>
            <a:ext cx="1764204" cy="105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113389328" name="Google Shape;216;p30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9673330" y="1792354"/>
            <a:ext cx="2267585" cy="3513818"/>
          </a:xfrm>
          <a:prstGeom prst="rect">
            <a:avLst/>
          </a:prstGeom>
          <a:noFill/>
          <a:ln>
            <a:noFill/>
          </a:ln>
        </p:spPr>
      </p:pic>
      <p:sp>
        <p:nvSpPr>
          <p:cNvPr id="941210210" name="Google Shape;217;p30"/>
          <p:cNvSpPr/>
          <p:nvPr>
            <p:ph type="pic" idx="13"/>
          </p:nvPr>
        </p:nvSpPr>
        <p:spPr bwMode="auto">
          <a:xfrm>
            <a:off x="9875780" y="1877264"/>
            <a:ext cx="1246960" cy="270085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212564604" name="Google Shape;218;p30"/>
          <p:cNvSpPr txBox="1"/>
          <p:nvPr>
            <p:ph type="body" idx="14"/>
          </p:nvPr>
        </p:nvSpPr>
        <p:spPr bwMode="auto">
          <a:xfrm>
            <a:off x="9617158" y="5021843"/>
            <a:ext cx="1764204" cy="105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Revenue 3" preserve="0" showMasterPhAnim="0" showMasterSp="1" userDrawn="1">
  <p:cSld name="Revenu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818302" name="Google Shape;220;p31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2521887" name="Google Shape;221;p31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00647587" name="Google Shape;222;p31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83427644" name="Google Shape;223;p31"/>
          <p:cNvSpPr txBox="1"/>
          <p:nvPr>
            <p:ph type="body" idx="2"/>
          </p:nvPr>
        </p:nvSpPr>
        <p:spPr bwMode="auto">
          <a:xfrm>
            <a:off x="875789" y="2356782"/>
            <a:ext cx="2059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67649470" name="Google Shape;224;p31"/>
          <p:cNvSpPr txBox="1"/>
          <p:nvPr>
            <p:ph type="body" idx="3"/>
          </p:nvPr>
        </p:nvSpPr>
        <p:spPr bwMode="auto">
          <a:xfrm>
            <a:off x="875789" y="3773521"/>
            <a:ext cx="2059565" cy="22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04393289" name="Google Shape;225;p31"/>
          <p:cNvSpPr txBox="1"/>
          <p:nvPr>
            <p:ph type="body" idx="4"/>
          </p:nvPr>
        </p:nvSpPr>
        <p:spPr bwMode="auto">
          <a:xfrm>
            <a:off x="875789" y="2850317"/>
            <a:ext cx="2059565" cy="69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 b="0" i="0">
                <a:solidFill>
                  <a:schemeClr val="accen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3399688" name="Google Shape;226;p31"/>
          <p:cNvSpPr txBox="1"/>
          <p:nvPr>
            <p:ph type="body" idx="5"/>
          </p:nvPr>
        </p:nvSpPr>
        <p:spPr bwMode="auto">
          <a:xfrm>
            <a:off x="3669408" y="2356782"/>
            <a:ext cx="2059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89586838" name="Google Shape;227;p31"/>
          <p:cNvSpPr txBox="1"/>
          <p:nvPr>
            <p:ph type="body" idx="6"/>
          </p:nvPr>
        </p:nvSpPr>
        <p:spPr bwMode="auto">
          <a:xfrm>
            <a:off x="3669408" y="3773521"/>
            <a:ext cx="2059565" cy="22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31025142" name="Google Shape;228;p31"/>
          <p:cNvSpPr txBox="1"/>
          <p:nvPr>
            <p:ph type="body" idx="7"/>
          </p:nvPr>
        </p:nvSpPr>
        <p:spPr bwMode="auto">
          <a:xfrm>
            <a:off x="3669408" y="2850317"/>
            <a:ext cx="2059565" cy="69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 b="0" i="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27313932" name="Google Shape;229;p31"/>
          <p:cNvSpPr txBox="1"/>
          <p:nvPr>
            <p:ph type="body" idx="8"/>
          </p:nvPr>
        </p:nvSpPr>
        <p:spPr bwMode="auto">
          <a:xfrm>
            <a:off x="6463027" y="2356782"/>
            <a:ext cx="2059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47485365" name="Google Shape;230;p31"/>
          <p:cNvSpPr txBox="1"/>
          <p:nvPr>
            <p:ph type="body" idx="9"/>
          </p:nvPr>
        </p:nvSpPr>
        <p:spPr bwMode="auto">
          <a:xfrm>
            <a:off x="6463027" y="3773521"/>
            <a:ext cx="2059565" cy="22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03526213" name="Google Shape;231;p31"/>
          <p:cNvSpPr txBox="1"/>
          <p:nvPr>
            <p:ph type="body" idx="13"/>
          </p:nvPr>
        </p:nvSpPr>
        <p:spPr bwMode="auto">
          <a:xfrm>
            <a:off x="6463027" y="2850317"/>
            <a:ext cx="2059565" cy="69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 b="0" i="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32796395" name="Google Shape;232;p31"/>
          <p:cNvSpPr txBox="1"/>
          <p:nvPr>
            <p:ph type="body" idx="14"/>
          </p:nvPr>
        </p:nvSpPr>
        <p:spPr bwMode="auto">
          <a:xfrm>
            <a:off x="9256645" y="2356782"/>
            <a:ext cx="2059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9691199" name="Google Shape;233;p31"/>
          <p:cNvSpPr txBox="1"/>
          <p:nvPr>
            <p:ph type="body" idx="15"/>
          </p:nvPr>
        </p:nvSpPr>
        <p:spPr bwMode="auto">
          <a:xfrm>
            <a:off x="9256645" y="3773521"/>
            <a:ext cx="2059565" cy="22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5196429" name="Google Shape;234;p31"/>
          <p:cNvSpPr txBox="1"/>
          <p:nvPr>
            <p:ph type="body" idx="16"/>
          </p:nvPr>
        </p:nvSpPr>
        <p:spPr bwMode="auto">
          <a:xfrm>
            <a:off x="9256645" y="2850317"/>
            <a:ext cx="2059565" cy="69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 b="0" i="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am 1" preserve="0" showMasterPhAnim="0" showMasterSp="1" userDrawn="1">
  <p:cSld name="Team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384302" name="Google Shape;236;p32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332220" name="Google Shape;237;p32"/>
          <p:cNvSpPr txBox="1"/>
          <p:nvPr>
            <p:ph type="title"/>
          </p:nvPr>
        </p:nvSpPr>
        <p:spPr bwMode="auto">
          <a:xfrm>
            <a:off x="623887" y="2149055"/>
            <a:ext cx="3235191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57135391" name="Google Shape;238;p32"/>
          <p:cNvSpPr txBox="1"/>
          <p:nvPr>
            <p:ph type="body" idx="1"/>
          </p:nvPr>
        </p:nvSpPr>
        <p:spPr bwMode="auto">
          <a:xfrm>
            <a:off x="623888" y="605981"/>
            <a:ext cx="323519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05738273" name="Google Shape;239;p32"/>
          <p:cNvSpPr txBox="1"/>
          <p:nvPr>
            <p:ph type="body" idx="2"/>
          </p:nvPr>
        </p:nvSpPr>
        <p:spPr bwMode="auto">
          <a:xfrm>
            <a:off x="5015989" y="3909840"/>
            <a:ext cx="2160000" cy="279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91096673" name="Google Shape;240;p32"/>
          <p:cNvSpPr txBox="1"/>
          <p:nvPr>
            <p:ph type="body" idx="3"/>
          </p:nvPr>
        </p:nvSpPr>
        <p:spPr bwMode="auto">
          <a:xfrm>
            <a:off x="5015989" y="4222070"/>
            <a:ext cx="2160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07418170" name="Google Shape;241;p32"/>
          <p:cNvSpPr txBox="1"/>
          <p:nvPr>
            <p:ph type="body" idx="4"/>
          </p:nvPr>
        </p:nvSpPr>
        <p:spPr bwMode="auto">
          <a:xfrm>
            <a:off x="5015989" y="4625187"/>
            <a:ext cx="2160000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39605513" name="Google Shape;242;p32"/>
          <p:cNvSpPr txBox="1"/>
          <p:nvPr>
            <p:ph type="body" idx="5"/>
          </p:nvPr>
        </p:nvSpPr>
        <p:spPr bwMode="auto">
          <a:xfrm>
            <a:off x="8778110" y="3909840"/>
            <a:ext cx="2160000" cy="279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77593367" name="Google Shape;243;p32"/>
          <p:cNvSpPr txBox="1"/>
          <p:nvPr>
            <p:ph type="body" idx="6"/>
          </p:nvPr>
        </p:nvSpPr>
        <p:spPr bwMode="auto">
          <a:xfrm>
            <a:off x="8778110" y="4222070"/>
            <a:ext cx="2160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57492817" name="Google Shape;244;p32"/>
          <p:cNvSpPr txBox="1"/>
          <p:nvPr>
            <p:ph type="body" idx="7"/>
          </p:nvPr>
        </p:nvSpPr>
        <p:spPr bwMode="auto">
          <a:xfrm>
            <a:off x="8778110" y="4625187"/>
            <a:ext cx="2160000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8289564" name="Google Shape;245;p32"/>
          <p:cNvSpPr txBox="1"/>
          <p:nvPr>
            <p:ph type="body" idx="8"/>
          </p:nvPr>
        </p:nvSpPr>
        <p:spPr bwMode="auto">
          <a:xfrm>
            <a:off x="623888" y="3809532"/>
            <a:ext cx="2925224" cy="175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eal 1" preserve="0" showMasterPhAnim="0" showMasterSp="1" userDrawn="1">
  <p:cSld name="Deal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944559" name="Google Shape;247;p33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0019263" name="Google Shape;248;p33"/>
          <p:cNvSpPr txBox="1"/>
          <p:nvPr>
            <p:ph type="body" idx="1"/>
          </p:nvPr>
        </p:nvSpPr>
        <p:spPr bwMode="auto">
          <a:xfrm>
            <a:off x="623888" y="605981"/>
            <a:ext cx="303786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1105727" name="Google Shape;249;p33"/>
          <p:cNvSpPr txBox="1"/>
          <p:nvPr>
            <p:ph type="body" idx="2"/>
          </p:nvPr>
        </p:nvSpPr>
        <p:spPr bwMode="auto">
          <a:xfrm>
            <a:off x="623888" y="3343486"/>
            <a:ext cx="2747962" cy="175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85893412" name="Google Shape;250;p33"/>
          <p:cNvSpPr/>
          <p:nvPr/>
        </p:nvSpPr>
        <p:spPr bwMode="auto">
          <a:xfrm flipH="1">
            <a:off x="5425441" y="0"/>
            <a:ext cx="6766559" cy="6104191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1400737110" name="Google Shape;251;p33"/>
          <p:cNvSpPr txBox="1"/>
          <p:nvPr>
            <p:ph type="title"/>
          </p:nvPr>
        </p:nvSpPr>
        <p:spPr bwMode="auto">
          <a:xfrm>
            <a:off x="623887" y="939313"/>
            <a:ext cx="3037869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13008165" name="Google Shape;252;p33"/>
          <p:cNvSpPr txBox="1"/>
          <p:nvPr>
            <p:ph type="body" idx="3"/>
          </p:nvPr>
        </p:nvSpPr>
        <p:spPr bwMode="auto">
          <a:xfrm>
            <a:off x="5908672" y="2064475"/>
            <a:ext cx="4454528" cy="203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3000"/>
              <a:buNone/>
              <a:defRPr sz="13000" b="0" i="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53147054" name="Google Shape;253;p33"/>
          <p:cNvSpPr txBox="1"/>
          <p:nvPr>
            <p:ph type="body" idx="4"/>
          </p:nvPr>
        </p:nvSpPr>
        <p:spPr bwMode="auto">
          <a:xfrm>
            <a:off x="5908672" y="1814466"/>
            <a:ext cx="445452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47385854" name="Google Shape;254;p33"/>
          <p:cNvSpPr txBox="1"/>
          <p:nvPr>
            <p:ph type="body" idx="5"/>
          </p:nvPr>
        </p:nvSpPr>
        <p:spPr bwMode="auto">
          <a:xfrm>
            <a:off x="5908672" y="4182109"/>
            <a:ext cx="445452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losing 4" preserve="0" showMasterPhAnim="0" showMasterSp="0" userDrawn="1">
  <p:cSld name="Closing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620512" name="Google Shape;256;p34"/>
          <p:cNvSpPr txBox="1"/>
          <p:nvPr>
            <p:ph type="body" idx="1"/>
          </p:nvPr>
        </p:nvSpPr>
        <p:spPr bwMode="auto">
          <a:xfrm>
            <a:off x="5532667" y="677110"/>
            <a:ext cx="1126666" cy="336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21803478" name="Google Shape;257;p34"/>
          <p:cNvSpPr txBox="1"/>
          <p:nvPr>
            <p:ph type="body" idx="2"/>
          </p:nvPr>
        </p:nvSpPr>
        <p:spPr bwMode="auto">
          <a:xfrm>
            <a:off x="4060825" y="5986916"/>
            <a:ext cx="407035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 i="0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5692158" name="Google Shape;258;p34"/>
          <p:cNvSpPr txBox="1"/>
          <p:nvPr/>
        </p:nvSpPr>
        <p:spPr bwMode="auto">
          <a:xfrm>
            <a:off x="2154468" y="2947915"/>
            <a:ext cx="3402690" cy="962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/>
            </a:pPr>
            <a:r>
              <a:rPr lang="en-US" sz="4800" b="0" i="0" u="none" strike="noStrike" cap="none">
                <a:solidFill>
                  <a:schemeClr val="accent1"/>
                </a:solidFill>
                <a:latin typeface="Montserrat Light"/>
                <a:ea typeface="Montserrat Light"/>
                <a:cs typeface="Montserrat Light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70634973" name="Google Shape;259;p34"/>
          <p:cNvCxnSpPr/>
          <p:nvPr/>
        </p:nvCxnSpPr>
        <p:spPr bwMode="auto">
          <a:xfrm>
            <a:off x="6096000" y="2457246"/>
            <a:ext cx="0" cy="1943509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8911737" name="Google Shape;260;p34"/>
          <p:cNvSpPr txBox="1"/>
          <p:nvPr>
            <p:ph type="body" idx="3"/>
          </p:nvPr>
        </p:nvSpPr>
        <p:spPr bwMode="auto">
          <a:xfrm>
            <a:off x="6634841" y="2710053"/>
            <a:ext cx="4000500" cy="1437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>
                <a:solidFill>
                  <a:schemeClr val="dk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 4" preserve="0" showMasterPhAnim="0" showMasterSp="0" userDrawn="1">
  <p:cSld name="Title 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229876" name="Google Shape;262;p35"/>
          <p:cNvSpPr/>
          <p:nvPr>
            <p:ph type="pic" idx="2"/>
          </p:nvPr>
        </p:nvSpPr>
        <p:spPr bwMode="auto">
          <a:xfrm>
            <a:off x="8131174" y="0"/>
            <a:ext cx="4060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563229683" name="Google Shape;263;p35"/>
          <p:cNvGrpSpPr/>
          <p:nvPr/>
        </p:nvGrpSpPr>
        <p:grpSpPr bwMode="auto">
          <a:xfrm rot="5400000">
            <a:off x="7163449" y="5890276"/>
            <a:ext cx="967724" cy="967724"/>
            <a:chOff x="11224277" y="5890278"/>
            <a:chExt cx="967724" cy="967724"/>
          </a:xfrm>
        </p:grpSpPr>
        <p:sp>
          <p:nvSpPr>
            <p:cNvPr id="264" name="Google Shape;264;p35"/>
            <p:cNvSpPr/>
            <p:nvPr/>
          </p:nvSpPr>
          <p:spPr bwMode="auto">
            <a:xfrm>
              <a:off x="11224277" y="5890278"/>
              <a:ext cx="967724" cy="96772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defRPr/>
              </a:pPr>
              <a:endParaRPr sz="1800" b="0" i="0" u="none" strike="noStrike" cap="non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endParaRPr>
            </a:p>
          </p:txBody>
        </p:sp>
        <p:pic>
          <p:nvPicPr>
            <p:cNvPr id="265" name="Google Shape;265;p35"/>
            <p:cNvPicPr/>
            <p:nvPr/>
          </p:nvPicPr>
          <p:blipFill>
            <a:blip r:embed="rId2">
              <a:alphaModFix/>
            </a:blip>
            <a:srcRect l="0" t="0" r="0" b="0"/>
            <a:stretch/>
          </p:blipFill>
          <p:spPr bwMode="auto">
            <a:xfrm rot="5400000">
              <a:off x="11559210" y="6225212"/>
              <a:ext cx="297860" cy="2978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9600447" name="Google Shape;266;p35"/>
          <p:cNvSpPr txBox="1"/>
          <p:nvPr>
            <p:ph type="ctrTitle"/>
          </p:nvPr>
        </p:nvSpPr>
        <p:spPr bwMode="auto">
          <a:xfrm>
            <a:off x="1022898" y="1598840"/>
            <a:ext cx="6140552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99506244" name="Google Shape;267;p35"/>
          <p:cNvSpPr txBox="1"/>
          <p:nvPr>
            <p:ph type="subTitle" idx="1"/>
          </p:nvPr>
        </p:nvSpPr>
        <p:spPr bwMode="auto">
          <a:xfrm>
            <a:off x="1022898" y="4418235"/>
            <a:ext cx="6140552" cy="771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lvl="1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232615350" name="Google Shape;268;p35"/>
          <p:cNvSpPr txBox="1"/>
          <p:nvPr>
            <p:ph type="body" idx="3"/>
          </p:nvPr>
        </p:nvSpPr>
        <p:spPr bwMode="auto">
          <a:xfrm>
            <a:off x="1022899" y="835910"/>
            <a:ext cx="805901" cy="29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0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983570" name="Google Shape;270;p36"/>
          <p:cNvSpPr/>
          <p:nvPr/>
        </p:nvSpPr>
        <p:spPr bwMode="auto">
          <a:xfrm flipH="1">
            <a:off x="1" y="0"/>
            <a:ext cx="11224273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grpSp>
        <p:nvGrpSpPr>
          <p:cNvPr id="821059571" name="Google Shape;271;p36"/>
          <p:cNvGrpSpPr/>
          <p:nvPr/>
        </p:nvGrpSpPr>
        <p:grpSpPr bwMode="auto">
          <a:xfrm rot="5400000">
            <a:off x="11224276" y="5890276"/>
            <a:ext cx="967724" cy="967724"/>
            <a:chOff x="11224277" y="5890278"/>
            <a:chExt cx="967724" cy="967724"/>
          </a:xfrm>
        </p:grpSpPr>
        <p:sp>
          <p:nvSpPr>
            <p:cNvPr id="272" name="Google Shape;272;p36"/>
            <p:cNvSpPr/>
            <p:nvPr/>
          </p:nvSpPr>
          <p:spPr bwMode="auto">
            <a:xfrm>
              <a:off x="11224277" y="5890278"/>
              <a:ext cx="967724" cy="967724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defRPr/>
              </a:pPr>
              <a:endParaRPr sz="1800" b="0" i="0" u="none" strike="noStrike" cap="non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endParaRPr>
            </a:p>
          </p:txBody>
        </p:sp>
        <p:pic>
          <p:nvPicPr>
            <p:cNvPr id="273" name="Google Shape;273;p36"/>
            <p:cNvPicPr/>
            <p:nvPr/>
          </p:nvPicPr>
          <p:blipFill>
            <a:blip r:embed="rId2">
              <a:alphaModFix/>
            </a:blip>
            <a:srcRect l="0" t="0" r="0" b="0"/>
            <a:stretch/>
          </p:blipFill>
          <p:spPr bwMode="auto">
            <a:xfrm rot="5400000">
              <a:off x="11559210" y="6225212"/>
              <a:ext cx="297860" cy="2978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1839681" name="Google Shape;274;p36"/>
          <p:cNvSpPr txBox="1"/>
          <p:nvPr>
            <p:ph type="ctrTitle"/>
          </p:nvPr>
        </p:nvSpPr>
        <p:spPr bwMode="auto">
          <a:xfrm>
            <a:off x="1022899" y="2047375"/>
            <a:ext cx="8154352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Montserrat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31758417" name="Google Shape;275;p36"/>
          <p:cNvSpPr txBox="1"/>
          <p:nvPr>
            <p:ph type="subTitle" idx="1"/>
          </p:nvPr>
        </p:nvSpPr>
        <p:spPr bwMode="auto">
          <a:xfrm>
            <a:off x="1022899" y="4201973"/>
            <a:ext cx="8154352" cy="771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defRPr>
            </a:lvl1pPr>
            <a:lvl2pPr lvl="1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 2" preserve="0" showMasterPhAnim="0" showMasterSp="1" userDrawn="1">
  <p:cSld name="Title 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903218" name="Google Shape;277;p37"/>
          <p:cNvSpPr/>
          <p:nvPr>
            <p:ph type="pic" idx="2"/>
          </p:nvPr>
        </p:nvSpPr>
        <p:spPr bwMode="auto">
          <a:xfrm>
            <a:off x="0" y="0"/>
            <a:ext cx="112242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908505065" name="Google Shape;278;p37"/>
          <p:cNvGrpSpPr/>
          <p:nvPr/>
        </p:nvGrpSpPr>
        <p:grpSpPr bwMode="auto">
          <a:xfrm rot="5400000">
            <a:off x="11224276" y="5890276"/>
            <a:ext cx="967724" cy="967724"/>
            <a:chOff x="11224277" y="5890278"/>
            <a:chExt cx="967724" cy="967724"/>
          </a:xfrm>
        </p:grpSpPr>
        <p:sp>
          <p:nvSpPr>
            <p:cNvPr id="279" name="Google Shape;279;p37"/>
            <p:cNvSpPr/>
            <p:nvPr/>
          </p:nvSpPr>
          <p:spPr bwMode="auto">
            <a:xfrm>
              <a:off x="11224277" y="5890278"/>
              <a:ext cx="967724" cy="96772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defRPr/>
              </a:pPr>
              <a:endParaRPr sz="1800" b="0" i="0" u="none" strike="noStrike" cap="non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endParaRPr>
            </a:p>
          </p:txBody>
        </p:sp>
        <p:pic>
          <p:nvPicPr>
            <p:cNvPr id="280" name="Google Shape;280;p37"/>
            <p:cNvPicPr/>
            <p:nvPr/>
          </p:nvPicPr>
          <p:blipFill>
            <a:blip r:embed="rId2">
              <a:alphaModFix/>
            </a:blip>
            <a:srcRect l="0" t="0" r="0" b="0"/>
            <a:stretch/>
          </p:blipFill>
          <p:spPr bwMode="auto">
            <a:xfrm rot="5400000">
              <a:off x="11559210" y="6225212"/>
              <a:ext cx="297860" cy="2978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7378539" name="Google Shape;281;p37"/>
          <p:cNvSpPr txBox="1"/>
          <p:nvPr>
            <p:ph type="ctrTitle"/>
          </p:nvPr>
        </p:nvSpPr>
        <p:spPr bwMode="auto">
          <a:xfrm>
            <a:off x="1022899" y="2047375"/>
            <a:ext cx="8154352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Montserrat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40154331" name="Google Shape;282;p37"/>
          <p:cNvSpPr txBox="1"/>
          <p:nvPr>
            <p:ph type="subTitle" idx="1"/>
          </p:nvPr>
        </p:nvSpPr>
        <p:spPr bwMode="auto">
          <a:xfrm>
            <a:off x="1022899" y="4303939"/>
            <a:ext cx="5247271" cy="64361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 i="0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1pPr>
            <a:lvl2pPr lvl="1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531799864" name="Google Shape;283;p37"/>
          <p:cNvSpPr txBox="1"/>
          <p:nvPr>
            <p:ph type="body" idx="3"/>
          </p:nvPr>
        </p:nvSpPr>
        <p:spPr bwMode="auto">
          <a:xfrm>
            <a:off x="1022899" y="835910"/>
            <a:ext cx="805901" cy="29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 3" preserve="0" showMasterPhAnim="0" showMasterSp="1" userDrawn="1">
  <p:cSld name="Title 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623215" name="Google Shape;285;p38"/>
          <p:cNvSpPr/>
          <p:nvPr/>
        </p:nvSpPr>
        <p:spPr bwMode="auto">
          <a:xfrm flipH="1">
            <a:off x="1" y="0"/>
            <a:ext cx="11224273" cy="685800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grpSp>
        <p:nvGrpSpPr>
          <p:cNvPr id="1650303178" name="Google Shape;286;p38"/>
          <p:cNvGrpSpPr/>
          <p:nvPr/>
        </p:nvGrpSpPr>
        <p:grpSpPr bwMode="auto">
          <a:xfrm rot="5400000">
            <a:off x="11224276" y="5890276"/>
            <a:ext cx="967724" cy="967724"/>
            <a:chOff x="11224277" y="5890278"/>
            <a:chExt cx="967724" cy="967724"/>
          </a:xfrm>
        </p:grpSpPr>
        <p:sp>
          <p:nvSpPr>
            <p:cNvPr id="287" name="Google Shape;287;p38"/>
            <p:cNvSpPr/>
            <p:nvPr/>
          </p:nvSpPr>
          <p:spPr bwMode="auto">
            <a:xfrm>
              <a:off x="11224277" y="5890278"/>
              <a:ext cx="967724" cy="96772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defRPr/>
              </a:pPr>
              <a:endParaRPr sz="1800" b="0" i="0" u="none" strike="noStrike" cap="non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endParaRPr>
            </a:p>
          </p:txBody>
        </p:sp>
        <p:pic>
          <p:nvPicPr>
            <p:cNvPr id="288" name="Google Shape;288;p38"/>
            <p:cNvPicPr/>
            <p:nvPr/>
          </p:nvPicPr>
          <p:blipFill>
            <a:blip r:embed="rId2">
              <a:alphaModFix/>
            </a:blip>
            <a:srcRect l="0" t="0" r="0" b="0"/>
            <a:stretch/>
          </p:blipFill>
          <p:spPr bwMode="auto">
            <a:xfrm rot="5400000">
              <a:off x="11559210" y="6225212"/>
              <a:ext cx="297860" cy="2978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1366680" name="Google Shape;289;p38"/>
          <p:cNvSpPr txBox="1"/>
          <p:nvPr>
            <p:ph type="ctrTitle"/>
          </p:nvPr>
        </p:nvSpPr>
        <p:spPr bwMode="auto">
          <a:xfrm>
            <a:off x="1022899" y="2259652"/>
            <a:ext cx="8154352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Montserrat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87662827" name="Google Shape;290;p38"/>
          <p:cNvSpPr txBox="1"/>
          <p:nvPr>
            <p:ph type="subTitle" idx="1"/>
          </p:nvPr>
        </p:nvSpPr>
        <p:spPr bwMode="auto">
          <a:xfrm>
            <a:off x="1022899" y="4414250"/>
            <a:ext cx="8154352" cy="771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defRPr>
            </a:lvl1pPr>
            <a:lvl2pPr lvl="1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953407536" name="Google Shape;291;p38"/>
          <p:cNvSpPr txBox="1"/>
          <p:nvPr>
            <p:ph type="body" idx="2"/>
          </p:nvPr>
        </p:nvSpPr>
        <p:spPr bwMode="auto">
          <a:xfrm>
            <a:off x="1022899" y="835910"/>
            <a:ext cx="805901" cy="29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 5" preserve="0" showMasterPhAnim="0" showMasterSp="0" userDrawn="1">
  <p:cSld name="Title 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64310" name="Google Shape;293;p39"/>
          <p:cNvSpPr/>
          <p:nvPr/>
        </p:nvSpPr>
        <p:spPr bwMode="auto">
          <a:xfrm>
            <a:off x="2" y="1"/>
            <a:ext cx="12191999" cy="685799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1340095619" name="Google Shape;294;p39"/>
          <p:cNvSpPr txBox="1"/>
          <p:nvPr>
            <p:ph type="body" idx="1"/>
          </p:nvPr>
        </p:nvSpPr>
        <p:spPr bwMode="auto">
          <a:xfrm>
            <a:off x="4844145" y="2983118"/>
            <a:ext cx="2503712" cy="89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14763621" name="Google Shape;295;p39"/>
          <p:cNvSpPr txBox="1"/>
          <p:nvPr>
            <p:ph type="body" idx="2"/>
          </p:nvPr>
        </p:nvSpPr>
        <p:spPr bwMode="auto">
          <a:xfrm>
            <a:off x="4060825" y="670368"/>
            <a:ext cx="407035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46465827" name="Google Shape;296;p39"/>
          <p:cNvSpPr txBox="1"/>
          <p:nvPr>
            <p:ph type="body" idx="3"/>
          </p:nvPr>
        </p:nvSpPr>
        <p:spPr bwMode="auto">
          <a:xfrm>
            <a:off x="4060825" y="5986916"/>
            <a:ext cx="407035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urpose 3" preserve="0" showMasterPhAnim="0" showMasterSp="1" userDrawn="1">
  <p:cSld name="Purpos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317606" name="Google Shape;298;p40"/>
          <p:cNvSpPr/>
          <p:nvPr>
            <p:ph type="pic" idx="2"/>
          </p:nvPr>
        </p:nvSpPr>
        <p:spPr bwMode="auto">
          <a:xfrm>
            <a:off x="6096000" y="0"/>
            <a:ext cx="6096000" cy="6165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79696689" name="Google Shape;299;p40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2522604" name="Google Shape;300;p40"/>
          <p:cNvSpPr txBox="1"/>
          <p:nvPr>
            <p:ph type="body" idx="1"/>
          </p:nvPr>
        </p:nvSpPr>
        <p:spPr bwMode="auto">
          <a:xfrm>
            <a:off x="623888" y="605981"/>
            <a:ext cx="4637088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54093603" name="Google Shape;301;p40"/>
          <p:cNvSpPr txBox="1"/>
          <p:nvPr>
            <p:ph type="title"/>
          </p:nvPr>
        </p:nvSpPr>
        <p:spPr bwMode="auto">
          <a:xfrm>
            <a:off x="623888" y="2321004"/>
            <a:ext cx="463765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Light"/>
              <a:buNone/>
              <a:defRPr sz="3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81963167" name="Google Shape;302;p40"/>
          <p:cNvSpPr txBox="1"/>
          <p:nvPr>
            <p:ph type="body" idx="3"/>
          </p:nvPr>
        </p:nvSpPr>
        <p:spPr bwMode="auto">
          <a:xfrm>
            <a:off x="623888" y="3754165"/>
            <a:ext cx="4637088" cy="131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b/Solution 1" preserve="0" showMasterPhAnim="0" showMasterSp="1" userDrawn="1">
  <p:cSld name="Prob/Solution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633797" name="Google Shape;304;p41"/>
          <p:cNvSpPr/>
          <p:nvPr/>
        </p:nvSpPr>
        <p:spPr bwMode="auto">
          <a:xfrm>
            <a:off x="2" y="1"/>
            <a:ext cx="12191999" cy="616584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421752798" name="Google Shape;305;p41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4972635" name="Google Shape;306;p41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07658514" name="Google Shape;307;p41"/>
          <p:cNvSpPr txBox="1"/>
          <p:nvPr>
            <p:ph type="title"/>
          </p:nvPr>
        </p:nvSpPr>
        <p:spPr bwMode="auto">
          <a:xfrm>
            <a:off x="623887" y="3131142"/>
            <a:ext cx="10944225" cy="74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ontserrat"/>
              <a:buNone/>
              <a:defRPr sz="5400" b="1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36734558" name="Google Shape;308;p41"/>
          <p:cNvSpPr txBox="1"/>
          <p:nvPr>
            <p:ph type="body" idx="2"/>
          </p:nvPr>
        </p:nvSpPr>
        <p:spPr bwMode="auto">
          <a:xfrm>
            <a:off x="623890" y="4094163"/>
            <a:ext cx="7507286" cy="79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blem 5" preserve="0" showMasterPhAnim="0" showMasterSp="1" userDrawn="1">
  <p:cSld name="Problem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856781" name="Google Shape;310;p42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6744062" name="Google Shape;311;p42"/>
          <p:cNvSpPr txBox="1"/>
          <p:nvPr>
            <p:ph type="body" idx="1"/>
          </p:nvPr>
        </p:nvSpPr>
        <p:spPr bwMode="auto">
          <a:xfrm>
            <a:off x="623888" y="605981"/>
            <a:ext cx="3120230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11866975" name="Google Shape;312;p42"/>
          <p:cNvSpPr txBox="1"/>
          <p:nvPr>
            <p:ph type="body" idx="2"/>
          </p:nvPr>
        </p:nvSpPr>
        <p:spPr bwMode="auto">
          <a:xfrm>
            <a:off x="623887" y="1948720"/>
            <a:ext cx="3455988" cy="386746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chemeClr val="dk2">
                <a:alpha val="8235"/>
              </a:schemeClr>
            </a:outerShdw>
          </a:effectLst>
        </p:spPr>
        <p:txBody>
          <a:bodyPr spcFirstLastPara="1" wrap="square" lIns="576000" tIns="1475975" rIns="57600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14244819" name="Google Shape;313;p42"/>
          <p:cNvSpPr txBox="1"/>
          <p:nvPr>
            <p:ph type="body" idx="3"/>
          </p:nvPr>
        </p:nvSpPr>
        <p:spPr bwMode="auto">
          <a:xfrm>
            <a:off x="4368006" y="1948720"/>
            <a:ext cx="3455988" cy="386746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chemeClr val="dk2">
                <a:alpha val="8235"/>
              </a:schemeClr>
            </a:outerShdw>
          </a:effectLst>
        </p:spPr>
        <p:txBody>
          <a:bodyPr spcFirstLastPara="1" wrap="square" lIns="576000" tIns="1475975" rIns="57600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6656" name="Google Shape;314;p42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188738" name="Google Shape;315;p42"/>
          <p:cNvSpPr txBox="1"/>
          <p:nvPr>
            <p:ph type="body" idx="4"/>
          </p:nvPr>
        </p:nvSpPr>
        <p:spPr bwMode="auto">
          <a:xfrm>
            <a:off x="8131175" y="1948720"/>
            <a:ext cx="3455988" cy="386746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chemeClr val="dk2">
                <a:alpha val="8235"/>
              </a:schemeClr>
            </a:outerShdw>
          </a:effectLst>
        </p:spPr>
        <p:txBody>
          <a:bodyPr spcFirstLastPara="1" wrap="square" lIns="576000" tIns="1475975" rIns="57600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b/Solution 6" preserve="0" showMasterPhAnim="0" showMasterSp="1" userDrawn="1">
  <p:cSld name="Prob/Solution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178616" name="Google Shape;317;p43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2529092" name="Google Shape;318;p43"/>
          <p:cNvSpPr txBox="1"/>
          <p:nvPr>
            <p:ph type="body" idx="1"/>
          </p:nvPr>
        </p:nvSpPr>
        <p:spPr bwMode="auto">
          <a:xfrm>
            <a:off x="623888" y="605981"/>
            <a:ext cx="303786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37320308" name="Google Shape;319;p43"/>
          <p:cNvSpPr txBox="1"/>
          <p:nvPr>
            <p:ph type="body" idx="2"/>
          </p:nvPr>
        </p:nvSpPr>
        <p:spPr bwMode="auto">
          <a:xfrm>
            <a:off x="623888" y="3343486"/>
            <a:ext cx="2747962" cy="175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135895" name="Google Shape;320;p43"/>
          <p:cNvSpPr/>
          <p:nvPr/>
        </p:nvSpPr>
        <p:spPr bwMode="auto">
          <a:xfrm flipH="1">
            <a:off x="4079874" y="1"/>
            <a:ext cx="8112125" cy="616584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cxnSp>
        <p:nvCxnSpPr>
          <p:cNvPr id="1090091081" name="Google Shape;321;p43"/>
          <p:cNvCxnSpPr/>
          <p:nvPr/>
        </p:nvCxnSpPr>
        <p:spPr bwMode="auto">
          <a:xfrm>
            <a:off x="7958643" y="803977"/>
            <a:ext cx="0" cy="1943509"/>
          </a:xfrm>
          <a:prstGeom prst="straightConnector1">
            <a:avLst/>
          </a:prstGeom>
          <a:noFill/>
          <a:ln w="12700" cap="flat" cmpd="sng">
            <a:solidFill>
              <a:srgbClr val="FBFBFC">
                <a:alpha val="2823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0601801" name="Google Shape;322;p43"/>
          <p:cNvCxnSpPr/>
          <p:nvPr/>
        </p:nvCxnSpPr>
        <p:spPr bwMode="auto">
          <a:xfrm rot="10800000">
            <a:off x="4915882" y="3090326"/>
            <a:ext cx="6440109" cy="0"/>
          </a:xfrm>
          <a:prstGeom prst="straightConnector1">
            <a:avLst/>
          </a:prstGeom>
          <a:noFill/>
          <a:ln w="12700" cap="flat" cmpd="sng">
            <a:solidFill>
              <a:srgbClr val="FBFBFC">
                <a:alpha val="2823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39648176" name="Google Shape;323;p43"/>
          <p:cNvCxnSpPr/>
          <p:nvPr/>
        </p:nvCxnSpPr>
        <p:spPr bwMode="auto">
          <a:xfrm>
            <a:off x="7958643" y="3433164"/>
            <a:ext cx="0" cy="1943509"/>
          </a:xfrm>
          <a:prstGeom prst="straightConnector1">
            <a:avLst/>
          </a:prstGeom>
          <a:noFill/>
          <a:ln w="12700" cap="flat" cmpd="sng">
            <a:solidFill>
              <a:srgbClr val="FBFBFC">
                <a:alpha val="2823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69955375" name="Google Shape;324;p43"/>
          <p:cNvSpPr txBox="1"/>
          <p:nvPr>
            <p:ph type="title"/>
          </p:nvPr>
        </p:nvSpPr>
        <p:spPr bwMode="auto">
          <a:xfrm>
            <a:off x="623887" y="939313"/>
            <a:ext cx="3037869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92237771" name="Google Shape;325;p43"/>
          <p:cNvSpPr txBox="1"/>
          <p:nvPr>
            <p:ph type="body" idx="3"/>
          </p:nvPr>
        </p:nvSpPr>
        <p:spPr bwMode="auto">
          <a:xfrm>
            <a:off x="5308769" y="1622039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41081277" name="Google Shape;326;p43"/>
          <p:cNvSpPr txBox="1"/>
          <p:nvPr>
            <p:ph type="body" idx="4"/>
          </p:nvPr>
        </p:nvSpPr>
        <p:spPr bwMode="auto">
          <a:xfrm>
            <a:off x="8564727" y="1622039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479202" name="Google Shape;327;p43"/>
          <p:cNvSpPr txBox="1"/>
          <p:nvPr>
            <p:ph type="body" idx="5"/>
          </p:nvPr>
        </p:nvSpPr>
        <p:spPr bwMode="auto">
          <a:xfrm>
            <a:off x="5308769" y="4234369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28159510" name="Google Shape;328;p43"/>
          <p:cNvSpPr txBox="1"/>
          <p:nvPr>
            <p:ph type="body" idx="6"/>
          </p:nvPr>
        </p:nvSpPr>
        <p:spPr bwMode="auto">
          <a:xfrm>
            <a:off x="8564727" y="4234369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rket 3" preserve="0" showMasterPhAnim="0" showMasterSp="1" userDrawn="1">
  <p:cSld name="Market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4539457" name="Google Shape;343;p45"/>
          <p:cNvSpPr txBox="1"/>
          <p:nvPr>
            <p:ph type="body" idx="1"/>
          </p:nvPr>
        </p:nvSpPr>
        <p:spPr bwMode="auto">
          <a:xfrm>
            <a:off x="8041709" y="2712648"/>
            <a:ext cx="2496648" cy="1194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 b="0" i="0" cap="none">
                <a:solidFill>
                  <a:schemeClr val="accen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63497103" name="Google Shape;344;p45"/>
          <p:cNvSpPr txBox="1"/>
          <p:nvPr>
            <p:ph type="body" idx="2"/>
          </p:nvPr>
        </p:nvSpPr>
        <p:spPr bwMode="auto">
          <a:xfrm>
            <a:off x="4847677" y="2712648"/>
            <a:ext cx="2496648" cy="1194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 b="0" i="0" cap="none">
                <a:solidFill>
                  <a:schemeClr val="accen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2642279" name="Google Shape;345;p45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4218863" name="Google Shape;346;p45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6850695" name="Google Shape;347;p45"/>
          <p:cNvSpPr txBox="1"/>
          <p:nvPr>
            <p:ph type="body" idx="3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09988493" name="Google Shape;348;p45"/>
          <p:cNvSpPr txBox="1"/>
          <p:nvPr>
            <p:ph type="body" idx="4"/>
          </p:nvPr>
        </p:nvSpPr>
        <p:spPr bwMode="auto">
          <a:xfrm>
            <a:off x="1653644" y="2712648"/>
            <a:ext cx="2496648" cy="1194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 b="0" i="0" cap="none">
                <a:solidFill>
                  <a:schemeClr val="accen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74899197" name="Google Shape;349;p45"/>
          <p:cNvSpPr txBox="1"/>
          <p:nvPr>
            <p:ph type="body" idx="5"/>
          </p:nvPr>
        </p:nvSpPr>
        <p:spPr bwMode="auto">
          <a:xfrm>
            <a:off x="8039958" y="4015960"/>
            <a:ext cx="2498400" cy="869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49264272" name="Google Shape;350;p45"/>
          <p:cNvSpPr txBox="1"/>
          <p:nvPr>
            <p:ph type="body" idx="6"/>
          </p:nvPr>
        </p:nvSpPr>
        <p:spPr bwMode="auto">
          <a:xfrm>
            <a:off x="4846186" y="4015960"/>
            <a:ext cx="2499630" cy="869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38524912" name="Google Shape;351;p45"/>
          <p:cNvSpPr txBox="1"/>
          <p:nvPr>
            <p:ph type="body" idx="7"/>
          </p:nvPr>
        </p:nvSpPr>
        <p:spPr bwMode="auto">
          <a:xfrm>
            <a:off x="1653645" y="4015960"/>
            <a:ext cx="2498400" cy="869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etition 2" preserve="0" showMasterPhAnim="0" showMasterSp="1" userDrawn="1">
  <p:cSld name="Competition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339994" name="Google Shape;353;p46"/>
          <p:cNvSpPr txBox="1"/>
          <p:nvPr>
            <p:ph type="body" idx="1"/>
          </p:nvPr>
        </p:nvSpPr>
        <p:spPr bwMode="auto">
          <a:xfrm>
            <a:off x="623888" y="3343486"/>
            <a:ext cx="2747962" cy="175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3734573" name="Google Shape;354;p46"/>
          <p:cNvSpPr/>
          <p:nvPr/>
        </p:nvSpPr>
        <p:spPr bwMode="auto">
          <a:xfrm flipH="1">
            <a:off x="4079874" y="1"/>
            <a:ext cx="8112125" cy="616584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1062334706" name="Google Shape;355;p46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5593380" name="Google Shape;356;p46"/>
          <p:cNvSpPr txBox="1"/>
          <p:nvPr>
            <p:ph type="title"/>
          </p:nvPr>
        </p:nvSpPr>
        <p:spPr bwMode="auto">
          <a:xfrm>
            <a:off x="623888" y="939312"/>
            <a:ext cx="3037868" cy="128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4067454" name="Google Shape;357;p46"/>
          <p:cNvSpPr txBox="1"/>
          <p:nvPr>
            <p:ph type="body" idx="2"/>
          </p:nvPr>
        </p:nvSpPr>
        <p:spPr bwMode="auto">
          <a:xfrm>
            <a:off x="623888" y="605981"/>
            <a:ext cx="303786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2580171" name="Google Shape;358;p46"/>
          <p:cNvSpPr txBox="1"/>
          <p:nvPr>
            <p:ph type="body" idx="3"/>
          </p:nvPr>
        </p:nvSpPr>
        <p:spPr bwMode="auto">
          <a:xfrm>
            <a:off x="7407880" y="678699"/>
            <a:ext cx="145611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99521220" name="Google Shape;359;p46"/>
          <p:cNvSpPr txBox="1"/>
          <p:nvPr>
            <p:ph type="body" idx="4"/>
          </p:nvPr>
        </p:nvSpPr>
        <p:spPr bwMode="auto">
          <a:xfrm>
            <a:off x="7407880" y="5293252"/>
            <a:ext cx="145611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98591112" name="Google Shape;360;p46"/>
          <p:cNvSpPr txBox="1"/>
          <p:nvPr>
            <p:ph type="body" idx="5"/>
          </p:nvPr>
        </p:nvSpPr>
        <p:spPr bwMode="auto">
          <a:xfrm>
            <a:off x="5014512" y="2771086"/>
            <a:ext cx="14601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42728182" name="Google Shape;361;p46"/>
          <p:cNvSpPr txBox="1"/>
          <p:nvPr>
            <p:ph type="body" idx="6"/>
          </p:nvPr>
        </p:nvSpPr>
        <p:spPr bwMode="auto">
          <a:xfrm>
            <a:off x="9797147" y="2771086"/>
            <a:ext cx="146021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grpSp>
        <p:nvGrpSpPr>
          <p:cNvPr id="784325596" name="Google Shape;362;p46"/>
          <p:cNvGrpSpPr/>
          <p:nvPr/>
        </p:nvGrpSpPr>
        <p:grpSpPr bwMode="auto">
          <a:xfrm>
            <a:off x="4838598" y="1017974"/>
            <a:ext cx="6594674" cy="4129903"/>
            <a:chOff x="4817816" y="1012226"/>
            <a:chExt cx="6594674" cy="4129903"/>
          </a:xfrm>
        </p:grpSpPr>
        <p:cxnSp>
          <p:nvCxnSpPr>
            <p:cNvPr id="363" name="Google Shape;363;p46"/>
            <p:cNvCxnSpPr/>
            <p:nvPr/>
          </p:nvCxnSpPr>
          <p:spPr bwMode="auto">
            <a:xfrm>
              <a:off x="8115154" y="1012226"/>
              <a:ext cx="0" cy="4129903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  <p:cxnSp>
          <p:nvCxnSpPr>
            <p:cNvPr id="364" name="Google Shape;364;p46"/>
            <p:cNvCxnSpPr/>
            <p:nvPr/>
          </p:nvCxnSpPr>
          <p:spPr bwMode="auto">
            <a:xfrm rot="10800000">
              <a:off x="4817816" y="3077178"/>
              <a:ext cx="6594674" cy="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etition 3" preserve="0" showMasterPhAnim="0" showMasterSp="1" userDrawn="1">
  <p:cSld name="Competition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911648" name="Google Shape;366;p47"/>
          <p:cNvSpPr txBox="1"/>
          <p:nvPr>
            <p:ph type="body" idx="1"/>
          </p:nvPr>
        </p:nvSpPr>
        <p:spPr bwMode="auto">
          <a:xfrm>
            <a:off x="623888" y="3343486"/>
            <a:ext cx="2747962" cy="175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11779549" name="Google Shape;367;p47"/>
          <p:cNvSpPr/>
          <p:nvPr/>
        </p:nvSpPr>
        <p:spPr bwMode="auto">
          <a:xfrm flipH="1">
            <a:off x="4079874" y="1"/>
            <a:ext cx="8112125" cy="616584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766230629" name="Google Shape;368;p47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8521331" name="Google Shape;369;p47"/>
          <p:cNvSpPr txBox="1"/>
          <p:nvPr>
            <p:ph type="title"/>
          </p:nvPr>
        </p:nvSpPr>
        <p:spPr bwMode="auto">
          <a:xfrm>
            <a:off x="623888" y="939312"/>
            <a:ext cx="3037868" cy="128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36713844" name="Google Shape;370;p47"/>
          <p:cNvSpPr txBox="1"/>
          <p:nvPr>
            <p:ph type="body" idx="2"/>
          </p:nvPr>
        </p:nvSpPr>
        <p:spPr bwMode="auto">
          <a:xfrm>
            <a:off x="623888" y="605981"/>
            <a:ext cx="303786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63915840" name="Google Shape;371;p47"/>
          <p:cNvSpPr txBox="1"/>
          <p:nvPr>
            <p:ph type="body" idx="3"/>
          </p:nvPr>
        </p:nvSpPr>
        <p:spPr bwMode="auto">
          <a:xfrm>
            <a:off x="7137080" y="5161433"/>
            <a:ext cx="236642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26138742" name="Google Shape;372;p47"/>
          <p:cNvSpPr txBox="1"/>
          <p:nvPr>
            <p:ph type="body" idx="4"/>
          </p:nvPr>
        </p:nvSpPr>
        <p:spPr bwMode="auto">
          <a:xfrm rot="-5400000">
            <a:off x="3887800" y="2767748"/>
            <a:ext cx="210897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1665161136" name="Google Shape;373;p47"/>
          <p:cNvCxnSpPr/>
          <p:nvPr/>
        </p:nvCxnSpPr>
        <p:spPr bwMode="auto">
          <a:xfrm>
            <a:off x="5203279" y="810518"/>
            <a:ext cx="0" cy="4129903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stealth" w="med" len="med"/>
            <a:tailEnd type="none" w="sm" len="sm"/>
          </a:ln>
        </p:spPr>
      </p:cxnSp>
      <p:cxnSp>
        <p:nvCxnSpPr>
          <p:cNvPr id="1391728409" name="Google Shape;374;p47"/>
          <p:cNvCxnSpPr/>
          <p:nvPr/>
        </p:nvCxnSpPr>
        <p:spPr bwMode="auto">
          <a:xfrm rot="10800000">
            <a:off x="5203279" y="4940421"/>
            <a:ext cx="623403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stealth" w="med" len="med"/>
            <a:tailEnd type="none" w="sm" len="sm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duct 5" preserve="0" showMasterPhAnim="0" showMasterSp="1" userDrawn="1">
  <p:cSld name="Product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503658" name="Google Shape;376;p48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3974402" y="605981"/>
            <a:ext cx="3249358" cy="5035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7437823" name="Google Shape;377;p48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6556933" y="605981"/>
            <a:ext cx="3249358" cy="5035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780716" name="Google Shape;378;p48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9139464" y="605981"/>
            <a:ext cx="3249358" cy="5035160"/>
          </a:xfrm>
          <a:prstGeom prst="rect">
            <a:avLst/>
          </a:prstGeom>
          <a:noFill/>
          <a:ln>
            <a:noFill/>
          </a:ln>
        </p:spPr>
      </p:pic>
      <p:sp>
        <p:nvSpPr>
          <p:cNvPr id="228820127" name="Google Shape;379;p48"/>
          <p:cNvSpPr/>
          <p:nvPr>
            <p:ph type="pic" idx="2"/>
          </p:nvPr>
        </p:nvSpPr>
        <p:spPr bwMode="auto">
          <a:xfrm>
            <a:off x="4264504" y="727654"/>
            <a:ext cx="1786845" cy="387021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1221625" name="Google Shape;380;p48"/>
          <p:cNvSpPr/>
          <p:nvPr>
            <p:ph type="pic" idx="3"/>
          </p:nvPr>
        </p:nvSpPr>
        <p:spPr bwMode="auto">
          <a:xfrm>
            <a:off x="6847034" y="727654"/>
            <a:ext cx="1786844" cy="387021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93965173" name="Google Shape;381;p48"/>
          <p:cNvSpPr/>
          <p:nvPr>
            <p:ph type="pic" idx="4"/>
          </p:nvPr>
        </p:nvSpPr>
        <p:spPr bwMode="auto">
          <a:xfrm>
            <a:off x="9429565" y="727654"/>
            <a:ext cx="1786844" cy="387021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00369787" name="Google Shape;382;p48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8747887" name="Google Shape;383;p48"/>
          <p:cNvSpPr txBox="1"/>
          <p:nvPr>
            <p:ph type="title"/>
          </p:nvPr>
        </p:nvSpPr>
        <p:spPr bwMode="auto">
          <a:xfrm>
            <a:off x="623887" y="2639771"/>
            <a:ext cx="2929537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29781905" name="Google Shape;384;p48"/>
          <p:cNvSpPr txBox="1"/>
          <p:nvPr>
            <p:ph type="body" idx="1"/>
          </p:nvPr>
        </p:nvSpPr>
        <p:spPr bwMode="auto">
          <a:xfrm>
            <a:off x="623888" y="605981"/>
            <a:ext cx="2929536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10315926" name="Google Shape;385;p48"/>
          <p:cNvSpPr txBox="1"/>
          <p:nvPr>
            <p:ph type="body" idx="5"/>
          </p:nvPr>
        </p:nvSpPr>
        <p:spPr bwMode="auto">
          <a:xfrm>
            <a:off x="4042050" y="5021843"/>
            <a:ext cx="2231754" cy="894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89494018" name="Google Shape;386;p48"/>
          <p:cNvSpPr txBox="1"/>
          <p:nvPr>
            <p:ph type="body" idx="6"/>
          </p:nvPr>
        </p:nvSpPr>
        <p:spPr bwMode="auto">
          <a:xfrm>
            <a:off x="6624580" y="5021843"/>
            <a:ext cx="2231754" cy="894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73133012" name="Google Shape;387;p48"/>
          <p:cNvSpPr txBox="1"/>
          <p:nvPr>
            <p:ph type="body" idx="7"/>
          </p:nvPr>
        </p:nvSpPr>
        <p:spPr bwMode="auto">
          <a:xfrm>
            <a:off x="9207111" y="5021843"/>
            <a:ext cx="2231754" cy="894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duct 8" preserve="0" showMasterPhAnim="0" showMasterSp="1" userDrawn="1">
  <p:cSld name="Product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025200" name="Google Shape;389;p49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3931965" name="Google Shape;390;p49"/>
          <p:cNvSpPr txBox="1"/>
          <p:nvPr>
            <p:ph type="body" idx="1"/>
          </p:nvPr>
        </p:nvSpPr>
        <p:spPr bwMode="auto">
          <a:xfrm>
            <a:off x="623888" y="605981"/>
            <a:ext cx="194421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645074810" name="Google Shape;391;p49"/>
          <p:cNvPicPr/>
          <p:nvPr/>
        </p:nvPicPr>
        <p:blipFill>
          <a:blip r:embed="rId2">
            <a:alphaModFix/>
          </a:blip>
          <a:srcRect l="20464" t="13399" r="19018" b="18224"/>
          <a:stretch/>
        </p:blipFill>
        <p:spPr bwMode="auto">
          <a:xfrm>
            <a:off x="2031998" y="423332"/>
            <a:ext cx="8219564" cy="5957642"/>
          </a:xfrm>
          <a:prstGeom prst="rect">
            <a:avLst/>
          </a:prstGeom>
          <a:noFill/>
          <a:ln>
            <a:noFill/>
          </a:ln>
        </p:spPr>
      </p:pic>
      <p:sp>
        <p:nvSpPr>
          <p:cNvPr id="1060606047" name="Google Shape;392;p49"/>
          <p:cNvSpPr/>
          <p:nvPr>
            <p:ph type="pic" idx="2"/>
          </p:nvPr>
        </p:nvSpPr>
        <p:spPr bwMode="auto">
          <a:xfrm>
            <a:off x="3063590" y="907224"/>
            <a:ext cx="6160778" cy="346550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duct 9" preserve="0" showMasterPhAnim="0" showMasterSp="1" userDrawn="1">
  <p:cSld name="Product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968812" name="Google Shape;394;p50"/>
          <p:cNvSpPr/>
          <p:nvPr/>
        </p:nvSpPr>
        <p:spPr bwMode="auto">
          <a:xfrm flipH="1">
            <a:off x="8244113" y="1"/>
            <a:ext cx="3947883" cy="616584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609896638" name="Google Shape;395;p50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7929482" name="Google Shape;396;p50"/>
          <p:cNvSpPr txBox="1"/>
          <p:nvPr>
            <p:ph type="body" idx="1"/>
          </p:nvPr>
        </p:nvSpPr>
        <p:spPr bwMode="auto">
          <a:xfrm>
            <a:off x="623888" y="605981"/>
            <a:ext cx="194421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254884776" name="Google Shape;397;p50"/>
          <p:cNvPicPr/>
          <p:nvPr/>
        </p:nvPicPr>
        <p:blipFill>
          <a:blip r:embed="rId2">
            <a:alphaModFix/>
          </a:blip>
          <a:srcRect l="20464" t="13399" r="19018" b="18224"/>
          <a:stretch/>
        </p:blipFill>
        <p:spPr bwMode="auto">
          <a:xfrm>
            <a:off x="4133395" y="423332"/>
            <a:ext cx="8219567" cy="5957641"/>
          </a:xfrm>
          <a:prstGeom prst="rect">
            <a:avLst/>
          </a:prstGeom>
          <a:noFill/>
          <a:ln>
            <a:noFill/>
          </a:ln>
        </p:spPr>
      </p:pic>
      <p:sp>
        <p:nvSpPr>
          <p:cNvPr id="1046619935" name="Google Shape;398;p50"/>
          <p:cNvSpPr/>
          <p:nvPr>
            <p:ph type="pic" idx="2"/>
          </p:nvPr>
        </p:nvSpPr>
        <p:spPr bwMode="auto">
          <a:xfrm>
            <a:off x="5162789" y="907224"/>
            <a:ext cx="6160778" cy="346550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73203108" name="Google Shape;399;p50"/>
          <p:cNvSpPr txBox="1"/>
          <p:nvPr>
            <p:ph type="body" idx="3"/>
          </p:nvPr>
        </p:nvSpPr>
        <p:spPr bwMode="auto">
          <a:xfrm>
            <a:off x="623887" y="3343486"/>
            <a:ext cx="3744912" cy="148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50743946" name="Google Shape;400;p50"/>
          <p:cNvSpPr txBox="1"/>
          <p:nvPr>
            <p:ph type="title"/>
          </p:nvPr>
        </p:nvSpPr>
        <p:spPr bwMode="auto">
          <a:xfrm>
            <a:off x="623888" y="939312"/>
            <a:ext cx="3744912" cy="118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duct 10" preserve="0" showMasterPhAnim="0" showMasterSp="1" userDrawn="1">
  <p:cSld name="Product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2077292" name="Google Shape;402;p51"/>
          <p:cNvPicPr/>
          <p:nvPr/>
        </p:nvPicPr>
        <p:blipFill>
          <a:blip r:embed="rId2">
            <a:alphaModFix/>
          </a:blip>
          <a:srcRect l="13763" t="13805" r="13760" b="13805"/>
          <a:stretch/>
        </p:blipFill>
        <p:spPr bwMode="auto">
          <a:xfrm>
            <a:off x="1690184" y="555182"/>
            <a:ext cx="8811635" cy="5646038"/>
          </a:xfrm>
          <a:prstGeom prst="rect">
            <a:avLst/>
          </a:prstGeom>
          <a:noFill/>
          <a:ln>
            <a:noFill/>
          </a:ln>
        </p:spPr>
      </p:pic>
      <p:sp>
        <p:nvSpPr>
          <p:cNvPr id="839599609" name="Google Shape;403;p51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744949" name="Google Shape;404;p51"/>
          <p:cNvSpPr txBox="1"/>
          <p:nvPr>
            <p:ph type="body" idx="1"/>
          </p:nvPr>
        </p:nvSpPr>
        <p:spPr bwMode="auto">
          <a:xfrm>
            <a:off x="623888" y="605981"/>
            <a:ext cx="194421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08439405" name="Google Shape;405;p51"/>
          <p:cNvSpPr/>
          <p:nvPr>
            <p:ph type="pic" idx="2"/>
          </p:nvPr>
        </p:nvSpPr>
        <p:spPr bwMode="auto">
          <a:xfrm>
            <a:off x="3122448" y="1503830"/>
            <a:ext cx="5919088" cy="368892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duct 11" preserve="0" showMasterPhAnim="0" showMasterSp="1" userDrawn="1">
  <p:cSld name="Product 1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469382" name="Google Shape;407;p52"/>
          <p:cNvSpPr/>
          <p:nvPr/>
        </p:nvSpPr>
        <p:spPr bwMode="auto">
          <a:xfrm flipH="1">
            <a:off x="9143999" y="1"/>
            <a:ext cx="3048001" cy="616584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pic>
        <p:nvPicPr>
          <p:cNvPr id="1682297049" name="Google Shape;408;p52"/>
          <p:cNvPicPr/>
          <p:nvPr/>
        </p:nvPicPr>
        <p:blipFill>
          <a:blip r:embed="rId2">
            <a:alphaModFix/>
          </a:blip>
          <a:srcRect l="13763" t="13805" r="13760" b="13805"/>
          <a:stretch/>
        </p:blipFill>
        <p:spPr bwMode="auto">
          <a:xfrm>
            <a:off x="4292636" y="179753"/>
            <a:ext cx="9678094" cy="6201220"/>
          </a:xfrm>
          <a:prstGeom prst="rect">
            <a:avLst/>
          </a:prstGeom>
          <a:noFill/>
          <a:ln>
            <a:noFill/>
          </a:ln>
        </p:spPr>
      </p:pic>
      <p:sp>
        <p:nvSpPr>
          <p:cNvPr id="2024188570" name="Google Shape;409;p52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6696138" name="Google Shape;410;p52"/>
          <p:cNvSpPr txBox="1"/>
          <p:nvPr>
            <p:ph type="body" idx="1"/>
          </p:nvPr>
        </p:nvSpPr>
        <p:spPr bwMode="auto">
          <a:xfrm>
            <a:off x="623888" y="605981"/>
            <a:ext cx="194421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53066668" name="Google Shape;411;p52"/>
          <p:cNvSpPr txBox="1"/>
          <p:nvPr>
            <p:ph type="body" idx="2"/>
          </p:nvPr>
        </p:nvSpPr>
        <p:spPr bwMode="auto">
          <a:xfrm>
            <a:off x="623887" y="3343486"/>
            <a:ext cx="3744912" cy="148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0782533" name="Google Shape;412;p52"/>
          <p:cNvSpPr txBox="1"/>
          <p:nvPr>
            <p:ph type="title"/>
          </p:nvPr>
        </p:nvSpPr>
        <p:spPr bwMode="auto">
          <a:xfrm>
            <a:off x="623888" y="939312"/>
            <a:ext cx="3744912" cy="118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Revenue 1" preserve="0" showMasterPhAnim="0" showMasterSp="1" userDrawn="1">
  <p:cSld name="Revenu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158675" name="Google Shape;414;p53"/>
          <p:cNvSpPr/>
          <p:nvPr>
            <p:ph type="pic" idx="2"/>
          </p:nvPr>
        </p:nvSpPr>
        <p:spPr bwMode="auto">
          <a:xfrm>
            <a:off x="0" y="0"/>
            <a:ext cx="12192000" cy="6165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20830150" name="Google Shape;415;p53"/>
          <p:cNvSpPr txBox="1"/>
          <p:nvPr>
            <p:ph type="body" idx="1"/>
          </p:nvPr>
        </p:nvSpPr>
        <p:spPr bwMode="auto">
          <a:xfrm>
            <a:off x="4368007" y="941696"/>
            <a:ext cx="3455986" cy="4282451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381000" algn="ctr" rotWithShape="0">
              <a:schemeClr val="dk2">
                <a:alpha val="8235"/>
              </a:schemeClr>
            </a:outerShdw>
          </a:effectLst>
        </p:spPr>
        <p:txBody>
          <a:bodyPr spcFirstLastPara="1" wrap="square" lIns="0" tIns="324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1182784" name="Google Shape;416;p53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4735087" name="Google Shape;417;p53"/>
          <p:cNvSpPr txBox="1"/>
          <p:nvPr>
            <p:ph type="title"/>
          </p:nvPr>
        </p:nvSpPr>
        <p:spPr bwMode="auto">
          <a:xfrm>
            <a:off x="623887" y="2418129"/>
            <a:ext cx="3120231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31554958" name="Google Shape;418;p53"/>
          <p:cNvSpPr txBox="1"/>
          <p:nvPr>
            <p:ph type="body" idx="3"/>
          </p:nvPr>
        </p:nvSpPr>
        <p:spPr bwMode="auto">
          <a:xfrm>
            <a:off x="623888" y="605981"/>
            <a:ext cx="312023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5048219" name="Google Shape;419;p53"/>
          <p:cNvSpPr txBox="1"/>
          <p:nvPr>
            <p:ph type="body" idx="4"/>
          </p:nvPr>
        </p:nvSpPr>
        <p:spPr bwMode="auto">
          <a:xfrm>
            <a:off x="4980122" y="3448696"/>
            <a:ext cx="2231756" cy="22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81468796" name="Google Shape;420;p53"/>
          <p:cNvSpPr txBox="1"/>
          <p:nvPr>
            <p:ph type="body" idx="5"/>
          </p:nvPr>
        </p:nvSpPr>
        <p:spPr bwMode="auto">
          <a:xfrm>
            <a:off x="4980122" y="2150923"/>
            <a:ext cx="2231756" cy="95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 b="0" i="0">
                <a:solidFill>
                  <a:schemeClr val="accen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39240318" name="Google Shape;421;p53"/>
          <p:cNvSpPr txBox="1"/>
          <p:nvPr>
            <p:ph type="body" idx="6"/>
          </p:nvPr>
        </p:nvSpPr>
        <p:spPr bwMode="auto">
          <a:xfrm>
            <a:off x="8112132" y="941696"/>
            <a:ext cx="3455986" cy="4282451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324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66209152" name="Google Shape;422;p53"/>
          <p:cNvSpPr txBox="1"/>
          <p:nvPr>
            <p:ph type="body" idx="7"/>
          </p:nvPr>
        </p:nvSpPr>
        <p:spPr bwMode="auto">
          <a:xfrm>
            <a:off x="8724247" y="3448696"/>
            <a:ext cx="2231756" cy="22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41776686" name="Google Shape;423;p53"/>
          <p:cNvSpPr txBox="1"/>
          <p:nvPr>
            <p:ph type="body" idx="8"/>
          </p:nvPr>
        </p:nvSpPr>
        <p:spPr bwMode="auto">
          <a:xfrm>
            <a:off x="8724247" y="2150923"/>
            <a:ext cx="2231756" cy="95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0" i="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Revenue 2" preserve="0" showMasterPhAnim="0" showMasterSp="1" userDrawn="1">
  <p:cSld name="Revenu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672313" name="Google Shape;425;p54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0702590" name="Google Shape;426;p54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04255383" name="Google Shape;427;p54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3149771" name="Google Shape;428;p54"/>
          <p:cNvSpPr/>
          <p:nvPr/>
        </p:nvSpPr>
        <p:spPr bwMode="auto">
          <a:xfrm>
            <a:off x="1514003" y="1948722"/>
            <a:ext cx="2777681" cy="386746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chemeClr val="dk2">
                <a:alpha val="8235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2"/>
              </a:solidFill>
              <a:latin typeface="Montserrat ExtraLight"/>
              <a:ea typeface="Montserrat ExtraLight"/>
              <a:cs typeface="Montserrat ExtraLight"/>
            </a:endParaRPr>
          </a:p>
        </p:txBody>
      </p:sp>
      <p:sp>
        <p:nvSpPr>
          <p:cNvPr id="983934002" name="Google Shape;429;p54"/>
          <p:cNvSpPr/>
          <p:nvPr/>
        </p:nvSpPr>
        <p:spPr bwMode="auto">
          <a:xfrm>
            <a:off x="4707159" y="1948722"/>
            <a:ext cx="2777681" cy="386746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0" algn="ctr" rotWithShape="0">
              <a:schemeClr val="dk2">
                <a:alpha val="8235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2"/>
              </a:solidFill>
              <a:latin typeface="Montserrat ExtraLight"/>
              <a:ea typeface="Montserrat ExtraLight"/>
              <a:cs typeface="Montserrat ExtraLight"/>
            </a:endParaRPr>
          </a:p>
        </p:txBody>
      </p:sp>
      <p:sp>
        <p:nvSpPr>
          <p:cNvPr id="1891995711" name="Google Shape;430;p54"/>
          <p:cNvSpPr/>
          <p:nvPr/>
        </p:nvSpPr>
        <p:spPr bwMode="auto">
          <a:xfrm>
            <a:off x="7900317" y="1948722"/>
            <a:ext cx="2777681" cy="3867462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381000" algn="ctr" rotWithShape="0">
              <a:schemeClr val="dk2">
                <a:alpha val="8235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2"/>
              </a:solidFill>
              <a:latin typeface="Montserrat ExtraLight"/>
              <a:ea typeface="Montserrat ExtraLight"/>
              <a:cs typeface="Montserrat ExtraLight"/>
            </a:endParaRPr>
          </a:p>
        </p:txBody>
      </p:sp>
      <p:sp>
        <p:nvSpPr>
          <p:cNvPr id="180203719" name="Google Shape;431;p54"/>
          <p:cNvSpPr txBox="1"/>
          <p:nvPr>
            <p:ph type="body" idx="2"/>
          </p:nvPr>
        </p:nvSpPr>
        <p:spPr bwMode="auto">
          <a:xfrm>
            <a:off x="1786965" y="2356782"/>
            <a:ext cx="22317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8664735" name="Google Shape;432;p54"/>
          <p:cNvSpPr txBox="1"/>
          <p:nvPr>
            <p:ph type="body" idx="3"/>
          </p:nvPr>
        </p:nvSpPr>
        <p:spPr bwMode="auto">
          <a:xfrm>
            <a:off x="1786965" y="3773521"/>
            <a:ext cx="2231756" cy="22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66692180" name="Google Shape;433;p54"/>
          <p:cNvSpPr txBox="1"/>
          <p:nvPr>
            <p:ph type="body" idx="4"/>
          </p:nvPr>
        </p:nvSpPr>
        <p:spPr bwMode="auto">
          <a:xfrm>
            <a:off x="1786965" y="2850317"/>
            <a:ext cx="2231756" cy="69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 b="0" i="0">
                <a:solidFill>
                  <a:schemeClr val="accen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47458814" name="Google Shape;434;p54"/>
          <p:cNvSpPr txBox="1"/>
          <p:nvPr>
            <p:ph type="body" idx="5"/>
          </p:nvPr>
        </p:nvSpPr>
        <p:spPr bwMode="auto">
          <a:xfrm>
            <a:off x="4980122" y="2356782"/>
            <a:ext cx="22317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29129358" name="Google Shape;435;p54"/>
          <p:cNvSpPr txBox="1"/>
          <p:nvPr>
            <p:ph type="body" idx="6"/>
          </p:nvPr>
        </p:nvSpPr>
        <p:spPr bwMode="auto">
          <a:xfrm>
            <a:off x="4980122" y="3773521"/>
            <a:ext cx="2231756" cy="22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71090029" name="Google Shape;436;p54"/>
          <p:cNvSpPr txBox="1"/>
          <p:nvPr>
            <p:ph type="body" idx="7"/>
          </p:nvPr>
        </p:nvSpPr>
        <p:spPr bwMode="auto">
          <a:xfrm>
            <a:off x="4980122" y="2850317"/>
            <a:ext cx="2231756" cy="69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 b="0" i="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8061265" name="Google Shape;437;p54"/>
          <p:cNvSpPr txBox="1"/>
          <p:nvPr>
            <p:ph type="body" idx="8"/>
          </p:nvPr>
        </p:nvSpPr>
        <p:spPr bwMode="auto">
          <a:xfrm>
            <a:off x="8173279" y="2356782"/>
            <a:ext cx="22317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0822972" name="Google Shape;438;p54"/>
          <p:cNvSpPr txBox="1"/>
          <p:nvPr>
            <p:ph type="body" idx="9"/>
          </p:nvPr>
        </p:nvSpPr>
        <p:spPr bwMode="auto">
          <a:xfrm>
            <a:off x="8173279" y="3773521"/>
            <a:ext cx="2231756" cy="22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8377775" name="Google Shape;439;p54"/>
          <p:cNvSpPr txBox="1"/>
          <p:nvPr>
            <p:ph type="body" idx="13"/>
          </p:nvPr>
        </p:nvSpPr>
        <p:spPr bwMode="auto">
          <a:xfrm>
            <a:off x="8173279" y="2850317"/>
            <a:ext cx="2231756" cy="69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 b="0" i="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Revenue 5" preserve="0" showMasterPhAnim="0" showMasterSp="1" userDrawn="1">
  <p:cSld name="Revenu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627831" name="Google Shape;441;p55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3172405" name="Google Shape;442;p55"/>
          <p:cNvSpPr txBox="1"/>
          <p:nvPr>
            <p:ph type="body" idx="1"/>
          </p:nvPr>
        </p:nvSpPr>
        <p:spPr bwMode="auto">
          <a:xfrm>
            <a:off x="623888" y="605981"/>
            <a:ext cx="303786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1734800" name="Google Shape;443;p55"/>
          <p:cNvSpPr txBox="1"/>
          <p:nvPr>
            <p:ph type="body" idx="2"/>
          </p:nvPr>
        </p:nvSpPr>
        <p:spPr bwMode="auto">
          <a:xfrm>
            <a:off x="623888" y="3343486"/>
            <a:ext cx="2747962" cy="175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17529224" name="Google Shape;444;p55"/>
          <p:cNvSpPr/>
          <p:nvPr/>
        </p:nvSpPr>
        <p:spPr bwMode="auto">
          <a:xfrm flipH="1">
            <a:off x="4079874" y="1"/>
            <a:ext cx="8112125" cy="616584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cxnSp>
        <p:nvCxnSpPr>
          <p:cNvPr id="353263112" name="Google Shape;445;p55"/>
          <p:cNvCxnSpPr/>
          <p:nvPr/>
        </p:nvCxnSpPr>
        <p:spPr bwMode="auto">
          <a:xfrm>
            <a:off x="7958643" y="803977"/>
            <a:ext cx="0" cy="1943509"/>
          </a:xfrm>
          <a:prstGeom prst="straightConnector1">
            <a:avLst/>
          </a:prstGeom>
          <a:noFill/>
          <a:ln w="12700" cap="flat" cmpd="sng">
            <a:solidFill>
              <a:srgbClr val="FBFBFC">
                <a:alpha val="2823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1864173" name="Google Shape;446;p55"/>
          <p:cNvCxnSpPr/>
          <p:nvPr/>
        </p:nvCxnSpPr>
        <p:spPr bwMode="auto">
          <a:xfrm rot="10800000">
            <a:off x="4915882" y="3090326"/>
            <a:ext cx="6440109" cy="0"/>
          </a:xfrm>
          <a:prstGeom prst="straightConnector1">
            <a:avLst/>
          </a:prstGeom>
          <a:noFill/>
          <a:ln w="12700" cap="flat" cmpd="sng">
            <a:solidFill>
              <a:srgbClr val="FBFBFC">
                <a:alpha val="2823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67476335" name="Google Shape;447;p55"/>
          <p:cNvCxnSpPr/>
          <p:nvPr/>
        </p:nvCxnSpPr>
        <p:spPr bwMode="auto">
          <a:xfrm>
            <a:off x="7958643" y="3433164"/>
            <a:ext cx="0" cy="1943509"/>
          </a:xfrm>
          <a:prstGeom prst="straightConnector1">
            <a:avLst/>
          </a:prstGeom>
          <a:noFill/>
          <a:ln w="12700" cap="flat" cmpd="sng">
            <a:solidFill>
              <a:srgbClr val="FBFBFC">
                <a:alpha val="2823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81798870" name="Google Shape;448;p55"/>
          <p:cNvSpPr txBox="1"/>
          <p:nvPr>
            <p:ph type="title"/>
          </p:nvPr>
        </p:nvSpPr>
        <p:spPr bwMode="auto">
          <a:xfrm>
            <a:off x="623887" y="939313"/>
            <a:ext cx="3037869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20745310" name="Google Shape;449;p55"/>
          <p:cNvSpPr txBox="1"/>
          <p:nvPr>
            <p:ph type="body" idx="3"/>
          </p:nvPr>
        </p:nvSpPr>
        <p:spPr bwMode="auto">
          <a:xfrm>
            <a:off x="5308769" y="1622039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6011638" name="Google Shape;450;p55"/>
          <p:cNvSpPr txBox="1"/>
          <p:nvPr>
            <p:ph type="body" idx="4"/>
          </p:nvPr>
        </p:nvSpPr>
        <p:spPr bwMode="auto">
          <a:xfrm>
            <a:off x="8564727" y="1622039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29188824" name="Google Shape;451;p55"/>
          <p:cNvSpPr txBox="1"/>
          <p:nvPr>
            <p:ph type="body" idx="5"/>
          </p:nvPr>
        </p:nvSpPr>
        <p:spPr bwMode="auto">
          <a:xfrm>
            <a:off x="5308769" y="4234369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22615649" name="Google Shape;452;p55"/>
          <p:cNvSpPr txBox="1"/>
          <p:nvPr>
            <p:ph type="body" idx="6"/>
          </p:nvPr>
        </p:nvSpPr>
        <p:spPr bwMode="auto">
          <a:xfrm>
            <a:off x="8564727" y="4234369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Revenue 6" preserve="0" showMasterPhAnim="0" showMasterSp="1" userDrawn="1">
  <p:cSld name="Revenu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102" name="Google Shape;454;p56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0324337" name="Google Shape;455;p56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35325229" name="Google Shape;456;p56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134853608" name="Google Shape;457;p56"/>
          <p:cNvCxnSpPr/>
          <p:nvPr/>
        </p:nvCxnSpPr>
        <p:spPr bwMode="auto">
          <a:xfrm rot="10800000">
            <a:off x="1338843" y="3788040"/>
            <a:ext cx="9514313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3807781" name="Google Shape;458;p56"/>
          <p:cNvCxnSpPr/>
          <p:nvPr/>
        </p:nvCxnSpPr>
        <p:spPr bwMode="auto">
          <a:xfrm>
            <a:off x="7754155" y="1714503"/>
            <a:ext cx="0" cy="1826982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09553941" name="Google Shape;459;p56"/>
          <p:cNvCxnSpPr/>
          <p:nvPr/>
        </p:nvCxnSpPr>
        <p:spPr bwMode="auto">
          <a:xfrm>
            <a:off x="4437845" y="1714503"/>
            <a:ext cx="0" cy="1826982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25525599" name="Google Shape;460;p56"/>
          <p:cNvCxnSpPr/>
          <p:nvPr/>
        </p:nvCxnSpPr>
        <p:spPr bwMode="auto">
          <a:xfrm>
            <a:off x="7754155" y="4060352"/>
            <a:ext cx="0" cy="1826982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51639487" name="Google Shape;461;p56"/>
          <p:cNvCxnSpPr/>
          <p:nvPr/>
        </p:nvCxnSpPr>
        <p:spPr bwMode="auto">
          <a:xfrm>
            <a:off x="4437845" y="4060352"/>
            <a:ext cx="0" cy="1826982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96857796" name="Google Shape;462;p56"/>
          <p:cNvSpPr txBox="1"/>
          <p:nvPr>
            <p:ph type="body" idx="2"/>
          </p:nvPr>
        </p:nvSpPr>
        <p:spPr bwMode="auto">
          <a:xfrm>
            <a:off x="1663814" y="2414667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63386857" name="Google Shape;463;p56"/>
          <p:cNvSpPr txBox="1"/>
          <p:nvPr>
            <p:ph type="body" idx="3"/>
          </p:nvPr>
        </p:nvSpPr>
        <p:spPr bwMode="auto">
          <a:xfrm>
            <a:off x="4980123" y="2414667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88913428" name="Google Shape;464;p56"/>
          <p:cNvSpPr txBox="1"/>
          <p:nvPr>
            <p:ph type="body" idx="4"/>
          </p:nvPr>
        </p:nvSpPr>
        <p:spPr bwMode="auto">
          <a:xfrm>
            <a:off x="8296432" y="2414667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6571717" name="Google Shape;465;p56"/>
          <p:cNvSpPr txBox="1"/>
          <p:nvPr>
            <p:ph type="body" idx="5"/>
          </p:nvPr>
        </p:nvSpPr>
        <p:spPr bwMode="auto">
          <a:xfrm>
            <a:off x="1663814" y="4743659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55619185" name="Google Shape;466;p56"/>
          <p:cNvSpPr txBox="1"/>
          <p:nvPr>
            <p:ph type="body" idx="6"/>
          </p:nvPr>
        </p:nvSpPr>
        <p:spPr bwMode="auto">
          <a:xfrm>
            <a:off x="4980123" y="4743659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60801681" name="Google Shape;467;p56"/>
          <p:cNvSpPr txBox="1"/>
          <p:nvPr>
            <p:ph type="body" idx="7"/>
          </p:nvPr>
        </p:nvSpPr>
        <p:spPr bwMode="auto">
          <a:xfrm>
            <a:off x="8296432" y="4743659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raction 1" preserve="0" showMasterPhAnim="0" showMasterSp="1" userDrawn="1">
  <p:cSld name="Traction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367324" name="Google Shape;469;p57"/>
          <p:cNvSpPr txBox="1"/>
          <p:nvPr>
            <p:ph type="body" idx="1"/>
          </p:nvPr>
        </p:nvSpPr>
        <p:spPr bwMode="auto">
          <a:xfrm>
            <a:off x="623888" y="2065557"/>
            <a:ext cx="7653836" cy="370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grpSp>
        <p:nvGrpSpPr>
          <p:cNvPr id="1449021223" name="Google Shape;470;p57"/>
          <p:cNvGrpSpPr/>
          <p:nvPr/>
        </p:nvGrpSpPr>
        <p:grpSpPr bwMode="auto">
          <a:xfrm>
            <a:off x="8766178" y="3781877"/>
            <a:ext cx="2749844" cy="1892372"/>
            <a:chOff x="8583746" y="3881893"/>
            <a:chExt cx="2749844" cy="1677846"/>
          </a:xfrm>
        </p:grpSpPr>
        <p:cxnSp>
          <p:nvCxnSpPr>
            <p:cNvPr id="471" name="Google Shape;471;p57"/>
            <p:cNvCxnSpPr/>
            <p:nvPr/>
          </p:nvCxnSpPr>
          <p:spPr bwMode="auto">
            <a:xfrm>
              <a:off x="9958668" y="3881893"/>
              <a:ext cx="0" cy="1677846"/>
            </a:xfrm>
            <a:prstGeom prst="straightConnector1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72" name="Google Shape;472;p57"/>
            <p:cNvCxnSpPr/>
            <p:nvPr/>
          </p:nvCxnSpPr>
          <p:spPr bwMode="auto">
            <a:xfrm rot="10800000">
              <a:off x="8583746" y="4720816"/>
              <a:ext cx="2749844" cy="0"/>
            </a:xfrm>
            <a:prstGeom prst="straightConnector1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904589339" name="Google Shape;473;p57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8349997" name="Google Shape;474;p57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0582553" name="Google Shape;475;p57"/>
          <p:cNvSpPr txBox="1"/>
          <p:nvPr>
            <p:ph type="body" idx="2"/>
          </p:nvPr>
        </p:nvSpPr>
        <p:spPr bwMode="auto">
          <a:xfrm>
            <a:off x="623888" y="605981"/>
            <a:ext cx="5472112" cy="196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25530438" name="Google Shape;476;p57"/>
          <p:cNvSpPr txBox="1"/>
          <p:nvPr>
            <p:ph type="body" idx="3"/>
          </p:nvPr>
        </p:nvSpPr>
        <p:spPr bwMode="auto">
          <a:xfrm>
            <a:off x="8734734" y="2067264"/>
            <a:ext cx="1358908" cy="1357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58182861" name="Google Shape;477;p57"/>
          <p:cNvSpPr txBox="1"/>
          <p:nvPr>
            <p:ph type="body" idx="4"/>
          </p:nvPr>
        </p:nvSpPr>
        <p:spPr bwMode="auto">
          <a:xfrm>
            <a:off x="10209204" y="2067264"/>
            <a:ext cx="1358908" cy="1357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6257469" name="Google Shape;478;p57"/>
          <p:cNvSpPr txBox="1"/>
          <p:nvPr>
            <p:ph type="body" idx="5"/>
          </p:nvPr>
        </p:nvSpPr>
        <p:spPr bwMode="auto">
          <a:xfrm>
            <a:off x="8844404" y="4004942"/>
            <a:ext cx="1139568" cy="502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0787689" name="Google Shape;479;p57"/>
          <p:cNvSpPr txBox="1"/>
          <p:nvPr>
            <p:ph type="body" idx="6"/>
          </p:nvPr>
        </p:nvSpPr>
        <p:spPr bwMode="auto">
          <a:xfrm>
            <a:off x="10318874" y="4004942"/>
            <a:ext cx="1139568" cy="502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21215119" name="Google Shape;480;p57"/>
          <p:cNvSpPr txBox="1"/>
          <p:nvPr>
            <p:ph type="body" idx="7"/>
          </p:nvPr>
        </p:nvSpPr>
        <p:spPr bwMode="auto">
          <a:xfrm>
            <a:off x="8844404" y="4948541"/>
            <a:ext cx="1139568" cy="502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24214475" name="Google Shape;481;p57"/>
          <p:cNvSpPr txBox="1"/>
          <p:nvPr>
            <p:ph type="body" idx="8"/>
          </p:nvPr>
        </p:nvSpPr>
        <p:spPr bwMode="auto">
          <a:xfrm>
            <a:off x="10318874" y="4948541"/>
            <a:ext cx="1139568" cy="502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raction 2" preserve="0" showMasterPhAnim="0" showMasterSp="1" userDrawn="1">
  <p:cSld name="Traction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569130" name="Google Shape;483;p58"/>
          <p:cNvSpPr txBox="1"/>
          <p:nvPr>
            <p:ph type="body" idx="1"/>
          </p:nvPr>
        </p:nvSpPr>
        <p:spPr bwMode="auto">
          <a:xfrm>
            <a:off x="623888" y="2065557"/>
            <a:ext cx="7653836" cy="370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86083715" name="Google Shape;484;p58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9130667" name="Google Shape;485;p58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68796687" name="Google Shape;486;p58"/>
          <p:cNvSpPr txBox="1"/>
          <p:nvPr>
            <p:ph type="body" idx="2"/>
          </p:nvPr>
        </p:nvSpPr>
        <p:spPr bwMode="auto">
          <a:xfrm>
            <a:off x="623888" y="605981"/>
            <a:ext cx="5472112" cy="196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30802132" name="Google Shape;487;p58"/>
          <p:cNvSpPr txBox="1"/>
          <p:nvPr>
            <p:ph type="body" idx="3"/>
          </p:nvPr>
        </p:nvSpPr>
        <p:spPr bwMode="auto">
          <a:xfrm>
            <a:off x="8644128" y="4013178"/>
            <a:ext cx="2923984" cy="176108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 b="0" i="0">
                <a:solidFill>
                  <a:schemeClr val="accen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45074374" name="Google Shape;488;p58"/>
          <p:cNvSpPr txBox="1"/>
          <p:nvPr>
            <p:ph type="body" idx="4"/>
          </p:nvPr>
        </p:nvSpPr>
        <p:spPr bwMode="auto">
          <a:xfrm>
            <a:off x="8644128" y="2065556"/>
            <a:ext cx="2923984" cy="176108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0" i="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raction 3" preserve="0" showMasterPhAnim="0" showMasterSp="1" userDrawn="1">
  <p:cSld name="Traction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089412" name="Google Shape;490;p59"/>
          <p:cNvSpPr txBox="1"/>
          <p:nvPr>
            <p:ph type="body" idx="1"/>
          </p:nvPr>
        </p:nvSpPr>
        <p:spPr bwMode="auto">
          <a:xfrm>
            <a:off x="623887" y="1825625"/>
            <a:ext cx="5181600" cy="3979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25478782" name="Google Shape;491;p59"/>
          <p:cNvSpPr txBox="1"/>
          <p:nvPr>
            <p:ph type="body" idx="2"/>
          </p:nvPr>
        </p:nvSpPr>
        <p:spPr bwMode="auto">
          <a:xfrm>
            <a:off x="6386512" y="1825625"/>
            <a:ext cx="5181600" cy="3979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24456062" name="Google Shape;492;p59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7102135" name="Google Shape;493;p59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08921221" name="Google Shape;494;p59"/>
          <p:cNvSpPr txBox="1"/>
          <p:nvPr>
            <p:ph type="body" idx="3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16613829" name="Google Shape;495;p59"/>
          <p:cNvCxnSpPr/>
          <p:nvPr/>
        </p:nvCxnSpPr>
        <p:spPr bwMode="auto">
          <a:xfrm>
            <a:off x="6096000" y="1825625"/>
            <a:ext cx="0" cy="3942129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raction 4" preserve="0" showMasterPhAnim="0" showMasterSp="1" userDrawn="1">
  <p:cSld name="Traction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3185180" name="Google Shape;497;p60"/>
          <p:cNvSpPr txBox="1"/>
          <p:nvPr>
            <p:ph type="body" idx="1"/>
          </p:nvPr>
        </p:nvSpPr>
        <p:spPr bwMode="auto">
          <a:xfrm>
            <a:off x="623887" y="1825625"/>
            <a:ext cx="3276000" cy="3979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4469306" name="Google Shape;498;p60"/>
          <p:cNvSpPr txBox="1"/>
          <p:nvPr>
            <p:ph type="body" idx="2"/>
          </p:nvPr>
        </p:nvSpPr>
        <p:spPr bwMode="auto">
          <a:xfrm>
            <a:off x="4457999" y="1825625"/>
            <a:ext cx="3276000" cy="3979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0190436" name="Google Shape;499;p60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6152539" name="Google Shape;500;p60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99945599" name="Google Shape;501;p60"/>
          <p:cNvSpPr txBox="1"/>
          <p:nvPr>
            <p:ph type="body" idx="3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1718445916" name="Google Shape;502;p60"/>
          <p:cNvCxnSpPr/>
          <p:nvPr/>
        </p:nvCxnSpPr>
        <p:spPr bwMode="auto">
          <a:xfrm>
            <a:off x="4178943" y="1825625"/>
            <a:ext cx="0" cy="3942129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97046802" name="Google Shape;503;p60"/>
          <p:cNvSpPr txBox="1"/>
          <p:nvPr>
            <p:ph type="body" idx="4"/>
          </p:nvPr>
        </p:nvSpPr>
        <p:spPr bwMode="auto">
          <a:xfrm>
            <a:off x="8292112" y="1825625"/>
            <a:ext cx="3276000" cy="3979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201376829" name="Google Shape;504;p60"/>
          <p:cNvCxnSpPr/>
          <p:nvPr/>
        </p:nvCxnSpPr>
        <p:spPr bwMode="auto">
          <a:xfrm>
            <a:off x="8013055" y="1825625"/>
            <a:ext cx="0" cy="3942129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raction 5" preserve="0" showMasterPhAnim="0" showMasterSp="1" userDrawn="1">
  <p:cSld name="Traction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783870" name="Google Shape;506;p61"/>
          <p:cNvSpPr txBox="1"/>
          <p:nvPr>
            <p:ph type="body" idx="1"/>
          </p:nvPr>
        </p:nvSpPr>
        <p:spPr bwMode="auto">
          <a:xfrm>
            <a:off x="623887" y="1825625"/>
            <a:ext cx="5181600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7314655" name="Google Shape;507;p61"/>
          <p:cNvSpPr txBox="1"/>
          <p:nvPr>
            <p:ph type="body" idx="2"/>
          </p:nvPr>
        </p:nvSpPr>
        <p:spPr bwMode="auto">
          <a:xfrm>
            <a:off x="6386512" y="1825625"/>
            <a:ext cx="5181600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290741" name="Google Shape;508;p61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3860020" name="Google Shape;509;p61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75504860" name="Google Shape;510;p61"/>
          <p:cNvSpPr txBox="1"/>
          <p:nvPr>
            <p:ph type="body" idx="3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1307222279" name="Google Shape;511;p61"/>
          <p:cNvCxnSpPr/>
          <p:nvPr/>
        </p:nvCxnSpPr>
        <p:spPr bwMode="auto">
          <a:xfrm>
            <a:off x="6096000" y="1825625"/>
            <a:ext cx="0" cy="3942129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30936816" name="Google Shape;512;p61"/>
          <p:cNvSpPr txBox="1"/>
          <p:nvPr>
            <p:ph type="body" idx="4"/>
          </p:nvPr>
        </p:nvSpPr>
        <p:spPr bwMode="auto">
          <a:xfrm>
            <a:off x="623887" y="4039754"/>
            <a:ext cx="5181600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83806790" name="Google Shape;513;p61"/>
          <p:cNvSpPr txBox="1"/>
          <p:nvPr>
            <p:ph type="body" idx="5"/>
          </p:nvPr>
        </p:nvSpPr>
        <p:spPr bwMode="auto">
          <a:xfrm>
            <a:off x="6386512" y="4039754"/>
            <a:ext cx="5181600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1329228097" name="Google Shape;514;p61"/>
          <p:cNvCxnSpPr/>
          <p:nvPr/>
        </p:nvCxnSpPr>
        <p:spPr bwMode="auto">
          <a:xfrm rot="10800000">
            <a:off x="623886" y="3796689"/>
            <a:ext cx="10944225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raction 6" preserve="0" showMasterPhAnim="0" showMasterSp="1" userDrawn="1">
  <p:cSld name="Traction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428093" name="Google Shape;516;p62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9645603" name="Google Shape;517;p62"/>
          <p:cNvSpPr txBox="1"/>
          <p:nvPr>
            <p:ph type="title"/>
          </p:nvPr>
        </p:nvSpPr>
        <p:spPr bwMode="auto">
          <a:xfrm>
            <a:off x="623887" y="2764203"/>
            <a:ext cx="3089697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11555646" name="Google Shape;518;p62"/>
          <p:cNvSpPr txBox="1"/>
          <p:nvPr>
            <p:ph type="body" idx="1"/>
          </p:nvPr>
        </p:nvSpPr>
        <p:spPr bwMode="auto">
          <a:xfrm>
            <a:off x="623888" y="605981"/>
            <a:ext cx="5472112" cy="196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5353789" name="Google Shape;519;p62"/>
          <p:cNvSpPr txBox="1"/>
          <p:nvPr>
            <p:ph type="body" idx="2"/>
          </p:nvPr>
        </p:nvSpPr>
        <p:spPr bwMode="auto">
          <a:xfrm>
            <a:off x="4079874" y="1737140"/>
            <a:ext cx="1708463" cy="15870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44297330" name="Google Shape;520;p62"/>
          <p:cNvSpPr txBox="1"/>
          <p:nvPr>
            <p:ph type="body" idx="3"/>
          </p:nvPr>
        </p:nvSpPr>
        <p:spPr bwMode="auto">
          <a:xfrm>
            <a:off x="6006467" y="1737140"/>
            <a:ext cx="1708463" cy="15870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06226520" name="Google Shape;521;p62"/>
          <p:cNvSpPr txBox="1"/>
          <p:nvPr>
            <p:ph type="body" idx="4"/>
          </p:nvPr>
        </p:nvSpPr>
        <p:spPr bwMode="auto">
          <a:xfrm>
            <a:off x="7933059" y="1737140"/>
            <a:ext cx="1708463" cy="15870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24138025" name="Google Shape;522;p62"/>
          <p:cNvSpPr txBox="1"/>
          <p:nvPr>
            <p:ph type="body" idx="5"/>
          </p:nvPr>
        </p:nvSpPr>
        <p:spPr bwMode="auto">
          <a:xfrm>
            <a:off x="9859650" y="1737140"/>
            <a:ext cx="1708463" cy="15870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7739885" name="Google Shape;523;p62"/>
          <p:cNvSpPr txBox="1"/>
          <p:nvPr>
            <p:ph type="body" idx="6"/>
          </p:nvPr>
        </p:nvSpPr>
        <p:spPr bwMode="auto">
          <a:xfrm>
            <a:off x="4079874" y="3533833"/>
            <a:ext cx="1708463" cy="15870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39130220" name="Google Shape;524;p62"/>
          <p:cNvSpPr txBox="1"/>
          <p:nvPr>
            <p:ph type="body" idx="7"/>
          </p:nvPr>
        </p:nvSpPr>
        <p:spPr bwMode="auto">
          <a:xfrm>
            <a:off x="6006467" y="3533833"/>
            <a:ext cx="1708463" cy="15870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9655345" name="Google Shape;525;p62"/>
          <p:cNvSpPr txBox="1"/>
          <p:nvPr>
            <p:ph type="body" idx="8"/>
          </p:nvPr>
        </p:nvSpPr>
        <p:spPr bwMode="auto">
          <a:xfrm>
            <a:off x="7933059" y="3533833"/>
            <a:ext cx="1708463" cy="15870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31044214" name="Google Shape;526;p62"/>
          <p:cNvSpPr txBox="1"/>
          <p:nvPr>
            <p:ph type="body" idx="9"/>
          </p:nvPr>
        </p:nvSpPr>
        <p:spPr bwMode="auto">
          <a:xfrm>
            <a:off x="9859650" y="3533833"/>
            <a:ext cx="1708463" cy="15870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raction 7" preserve="0" showMasterPhAnim="0" showMasterSp="1" userDrawn="1">
  <p:cSld name="Traction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207878" name="Google Shape;528;p63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6825893" name="Google Shape;529;p63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54314848" name="Google Shape;530;p63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5234470" name="Google Shape;531;p63"/>
          <p:cNvSpPr txBox="1"/>
          <p:nvPr>
            <p:ph type="body" idx="2"/>
          </p:nvPr>
        </p:nvSpPr>
        <p:spPr bwMode="auto">
          <a:xfrm>
            <a:off x="623891" y="1948720"/>
            <a:ext cx="3455986" cy="3867463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381000" algn="ctr" rotWithShape="0">
              <a:schemeClr val="dk2">
                <a:alpha val="8235"/>
              </a:schemeClr>
            </a:outerShdw>
          </a:effectLst>
        </p:spPr>
        <p:txBody>
          <a:bodyPr spcFirstLastPara="1" wrap="square" lIns="0" tIns="46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 i="0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2504876" name="Google Shape;532;p63"/>
          <p:cNvSpPr txBox="1"/>
          <p:nvPr>
            <p:ph type="body" idx="3"/>
          </p:nvPr>
        </p:nvSpPr>
        <p:spPr bwMode="auto">
          <a:xfrm>
            <a:off x="4368007" y="1948720"/>
            <a:ext cx="3455986" cy="3867463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381000" algn="ctr" rotWithShape="0">
              <a:schemeClr val="dk2">
                <a:alpha val="8235"/>
              </a:schemeClr>
            </a:outerShdw>
          </a:effectLst>
        </p:spPr>
        <p:txBody>
          <a:bodyPr spcFirstLastPara="1" wrap="square" lIns="0" tIns="46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 i="0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6984724" name="Google Shape;533;p63"/>
          <p:cNvSpPr txBox="1"/>
          <p:nvPr>
            <p:ph type="body" idx="4"/>
          </p:nvPr>
        </p:nvSpPr>
        <p:spPr bwMode="auto">
          <a:xfrm>
            <a:off x="8112125" y="1948720"/>
            <a:ext cx="3455986" cy="3867463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381000" algn="ctr" rotWithShape="0">
              <a:schemeClr val="dk2">
                <a:alpha val="8235"/>
              </a:schemeClr>
            </a:outerShdw>
          </a:effectLst>
        </p:spPr>
        <p:txBody>
          <a:bodyPr spcFirstLastPara="1" wrap="square" lIns="0" tIns="46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 i="0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01950623" name="Google Shape;534;p63"/>
          <p:cNvSpPr txBox="1"/>
          <p:nvPr>
            <p:ph type="body" idx="5"/>
          </p:nvPr>
        </p:nvSpPr>
        <p:spPr bwMode="auto">
          <a:xfrm>
            <a:off x="1109231" y="3068024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134499" name="Google Shape;535;p63"/>
          <p:cNvSpPr txBox="1"/>
          <p:nvPr>
            <p:ph type="body" idx="6"/>
          </p:nvPr>
        </p:nvSpPr>
        <p:spPr bwMode="auto">
          <a:xfrm>
            <a:off x="2438160" y="3068024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65529809" name="Google Shape;536;p63"/>
          <p:cNvSpPr txBox="1"/>
          <p:nvPr>
            <p:ph type="body" idx="7"/>
          </p:nvPr>
        </p:nvSpPr>
        <p:spPr bwMode="auto">
          <a:xfrm>
            <a:off x="1109231" y="3888828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50994550" name="Google Shape;537;p63"/>
          <p:cNvSpPr txBox="1"/>
          <p:nvPr>
            <p:ph type="body" idx="8"/>
          </p:nvPr>
        </p:nvSpPr>
        <p:spPr bwMode="auto">
          <a:xfrm>
            <a:off x="2438160" y="3888828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7605014" name="Google Shape;538;p63"/>
          <p:cNvSpPr txBox="1"/>
          <p:nvPr>
            <p:ph type="body" idx="9"/>
          </p:nvPr>
        </p:nvSpPr>
        <p:spPr bwMode="auto">
          <a:xfrm>
            <a:off x="1109231" y="4709632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42384225" name="Google Shape;539;p63"/>
          <p:cNvSpPr txBox="1"/>
          <p:nvPr>
            <p:ph type="body" idx="13"/>
          </p:nvPr>
        </p:nvSpPr>
        <p:spPr bwMode="auto">
          <a:xfrm>
            <a:off x="2438160" y="4709632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34781511" name="Google Shape;540;p63"/>
          <p:cNvSpPr txBox="1"/>
          <p:nvPr>
            <p:ph type="body" idx="14"/>
          </p:nvPr>
        </p:nvSpPr>
        <p:spPr bwMode="auto">
          <a:xfrm>
            <a:off x="4853346" y="3068024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55943399" name="Google Shape;541;p63"/>
          <p:cNvSpPr txBox="1"/>
          <p:nvPr>
            <p:ph type="body" idx="15"/>
          </p:nvPr>
        </p:nvSpPr>
        <p:spPr bwMode="auto">
          <a:xfrm>
            <a:off x="6182275" y="3068024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197176" name="Google Shape;542;p63"/>
          <p:cNvSpPr txBox="1"/>
          <p:nvPr>
            <p:ph type="body" idx="16"/>
          </p:nvPr>
        </p:nvSpPr>
        <p:spPr bwMode="auto">
          <a:xfrm>
            <a:off x="4853346" y="3888828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14910522" name="Google Shape;543;p63"/>
          <p:cNvSpPr txBox="1"/>
          <p:nvPr>
            <p:ph type="body" idx="17"/>
          </p:nvPr>
        </p:nvSpPr>
        <p:spPr bwMode="auto">
          <a:xfrm>
            <a:off x="6182275" y="3888828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46233445" name="Google Shape;544;p63"/>
          <p:cNvSpPr txBox="1"/>
          <p:nvPr>
            <p:ph type="body" idx="18"/>
          </p:nvPr>
        </p:nvSpPr>
        <p:spPr bwMode="auto">
          <a:xfrm>
            <a:off x="4853346" y="4709632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88410947" name="Google Shape;545;p63"/>
          <p:cNvSpPr txBox="1"/>
          <p:nvPr>
            <p:ph type="body" idx="19"/>
          </p:nvPr>
        </p:nvSpPr>
        <p:spPr bwMode="auto">
          <a:xfrm>
            <a:off x="6182275" y="4709632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94303804" name="Google Shape;546;p63"/>
          <p:cNvSpPr txBox="1"/>
          <p:nvPr>
            <p:ph type="body" idx="20"/>
          </p:nvPr>
        </p:nvSpPr>
        <p:spPr bwMode="auto">
          <a:xfrm>
            <a:off x="8597464" y="3068024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69848449" name="Google Shape;547;p63"/>
          <p:cNvSpPr txBox="1"/>
          <p:nvPr>
            <p:ph type="body" idx="21"/>
          </p:nvPr>
        </p:nvSpPr>
        <p:spPr bwMode="auto">
          <a:xfrm>
            <a:off x="9926393" y="3068024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21276435" name="Google Shape;548;p63"/>
          <p:cNvSpPr txBox="1"/>
          <p:nvPr>
            <p:ph type="body" idx="22"/>
          </p:nvPr>
        </p:nvSpPr>
        <p:spPr bwMode="auto">
          <a:xfrm>
            <a:off x="8597464" y="3888828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6869845" name="Google Shape;549;p63"/>
          <p:cNvSpPr txBox="1"/>
          <p:nvPr>
            <p:ph type="body" idx="23"/>
          </p:nvPr>
        </p:nvSpPr>
        <p:spPr bwMode="auto">
          <a:xfrm>
            <a:off x="9926393" y="3888828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22383974" name="Google Shape;550;p63"/>
          <p:cNvSpPr txBox="1"/>
          <p:nvPr>
            <p:ph type="body" idx="24"/>
          </p:nvPr>
        </p:nvSpPr>
        <p:spPr bwMode="auto">
          <a:xfrm>
            <a:off x="8597464" y="4709632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03408573" name="Google Shape;551;p63"/>
          <p:cNvSpPr txBox="1"/>
          <p:nvPr>
            <p:ph type="body" idx="25"/>
          </p:nvPr>
        </p:nvSpPr>
        <p:spPr bwMode="auto">
          <a:xfrm>
            <a:off x="9926393" y="4709632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am 2" preserve="0" showMasterPhAnim="0" showMasterSp="1" userDrawn="1">
  <p:cSld name="Team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929477" name="Google Shape;553;p64"/>
          <p:cNvSpPr/>
          <p:nvPr>
            <p:ph type="pic" idx="2"/>
          </p:nvPr>
        </p:nvSpPr>
        <p:spPr bwMode="auto">
          <a:xfrm>
            <a:off x="2161844" y="1839401"/>
            <a:ext cx="1436990" cy="1436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957456528" name="Google Shape;554;p64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1138096" name="Google Shape;555;p64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69440404" name="Google Shape;556;p64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00231802" name="Google Shape;557;p64"/>
          <p:cNvSpPr txBox="1"/>
          <p:nvPr>
            <p:ph type="body" idx="3"/>
          </p:nvPr>
        </p:nvSpPr>
        <p:spPr bwMode="auto">
          <a:xfrm>
            <a:off x="1501098" y="3503228"/>
            <a:ext cx="2758482" cy="279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38415763" name="Google Shape;558;p64"/>
          <p:cNvSpPr txBox="1"/>
          <p:nvPr>
            <p:ph type="body" idx="4"/>
          </p:nvPr>
        </p:nvSpPr>
        <p:spPr bwMode="auto">
          <a:xfrm>
            <a:off x="1501098" y="3821994"/>
            <a:ext cx="275848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01033580" name="Google Shape;559;p64"/>
          <p:cNvSpPr txBox="1"/>
          <p:nvPr>
            <p:ph type="body" idx="5"/>
          </p:nvPr>
        </p:nvSpPr>
        <p:spPr bwMode="auto">
          <a:xfrm>
            <a:off x="1501098" y="4189855"/>
            <a:ext cx="2758482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54939441" name="Google Shape;560;p64"/>
          <p:cNvSpPr txBox="1"/>
          <p:nvPr>
            <p:ph type="body" idx="6"/>
          </p:nvPr>
        </p:nvSpPr>
        <p:spPr bwMode="auto">
          <a:xfrm>
            <a:off x="2112791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2074889" name="Google Shape;561;p64"/>
          <p:cNvSpPr txBox="1"/>
          <p:nvPr>
            <p:ph type="body" idx="7"/>
          </p:nvPr>
        </p:nvSpPr>
        <p:spPr bwMode="auto">
          <a:xfrm>
            <a:off x="2927711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213638" name="Google Shape;562;p64"/>
          <p:cNvSpPr txBox="1"/>
          <p:nvPr>
            <p:ph type="body" idx="8"/>
          </p:nvPr>
        </p:nvSpPr>
        <p:spPr bwMode="auto">
          <a:xfrm>
            <a:off x="2112791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55749042" name="Google Shape;563;p64"/>
          <p:cNvSpPr txBox="1"/>
          <p:nvPr>
            <p:ph type="body" idx="9"/>
          </p:nvPr>
        </p:nvSpPr>
        <p:spPr bwMode="auto">
          <a:xfrm>
            <a:off x="2927711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40216518" name="Google Shape;564;p64"/>
          <p:cNvSpPr/>
          <p:nvPr>
            <p:ph type="pic" idx="13"/>
          </p:nvPr>
        </p:nvSpPr>
        <p:spPr bwMode="auto">
          <a:xfrm>
            <a:off x="5377505" y="1839401"/>
            <a:ext cx="1436990" cy="1436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6707877" name="Google Shape;565;p64"/>
          <p:cNvSpPr txBox="1"/>
          <p:nvPr>
            <p:ph type="body" idx="14"/>
          </p:nvPr>
        </p:nvSpPr>
        <p:spPr bwMode="auto">
          <a:xfrm>
            <a:off x="4716759" y="3503228"/>
            <a:ext cx="2758482" cy="279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90603255" name="Google Shape;566;p64"/>
          <p:cNvSpPr txBox="1"/>
          <p:nvPr>
            <p:ph type="body" idx="15"/>
          </p:nvPr>
        </p:nvSpPr>
        <p:spPr bwMode="auto">
          <a:xfrm>
            <a:off x="4716759" y="3821994"/>
            <a:ext cx="275848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14095351" name="Google Shape;567;p64"/>
          <p:cNvSpPr txBox="1"/>
          <p:nvPr>
            <p:ph type="body" idx="16"/>
          </p:nvPr>
        </p:nvSpPr>
        <p:spPr bwMode="auto">
          <a:xfrm>
            <a:off x="4716759" y="4189855"/>
            <a:ext cx="2758482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5594139" name="Google Shape;568;p64"/>
          <p:cNvSpPr txBox="1"/>
          <p:nvPr>
            <p:ph type="body" idx="17"/>
          </p:nvPr>
        </p:nvSpPr>
        <p:spPr bwMode="auto">
          <a:xfrm>
            <a:off x="5328452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50992861" name="Google Shape;569;p64"/>
          <p:cNvSpPr txBox="1"/>
          <p:nvPr>
            <p:ph type="body" idx="18"/>
          </p:nvPr>
        </p:nvSpPr>
        <p:spPr bwMode="auto">
          <a:xfrm>
            <a:off x="6143372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7434227" name="Google Shape;570;p64"/>
          <p:cNvSpPr txBox="1"/>
          <p:nvPr>
            <p:ph type="body" idx="19"/>
          </p:nvPr>
        </p:nvSpPr>
        <p:spPr bwMode="auto">
          <a:xfrm>
            <a:off x="5328452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14315357" name="Google Shape;571;p64"/>
          <p:cNvSpPr txBox="1"/>
          <p:nvPr>
            <p:ph type="body" idx="20"/>
          </p:nvPr>
        </p:nvSpPr>
        <p:spPr bwMode="auto">
          <a:xfrm>
            <a:off x="6143372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68125124" name="Google Shape;572;p64"/>
          <p:cNvSpPr/>
          <p:nvPr>
            <p:ph type="pic" idx="21"/>
          </p:nvPr>
        </p:nvSpPr>
        <p:spPr bwMode="auto">
          <a:xfrm>
            <a:off x="8578418" y="1839401"/>
            <a:ext cx="1436990" cy="1436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602956136" name="Google Shape;573;p64"/>
          <p:cNvSpPr txBox="1"/>
          <p:nvPr>
            <p:ph type="body" idx="22"/>
          </p:nvPr>
        </p:nvSpPr>
        <p:spPr bwMode="auto">
          <a:xfrm>
            <a:off x="7917672" y="3503228"/>
            <a:ext cx="2758482" cy="279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7771393" name="Google Shape;574;p64"/>
          <p:cNvSpPr txBox="1"/>
          <p:nvPr>
            <p:ph type="body" idx="23"/>
          </p:nvPr>
        </p:nvSpPr>
        <p:spPr bwMode="auto">
          <a:xfrm>
            <a:off x="7917672" y="3821994"/>
            <a:ext cx="275848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9754492" name="Google Shape;575;p64"/>
          <p:cNvSpPr txBox="1"/>
          <p:nvPr>
            <p:ph type="body" idx="24"/>
          </p:nvPr>
        </p:nvSpPr>
        <p:spPr bwMode="auto">
          <a:xfrm>
            <a:off x="7917672" y="4189855"/>
            <a:ext cx="2758482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76360402" name="Google Shape;576;p64"/>
          <p:cNvSpPr txBox="1"/>
          <p:nvPr>
            <p:ph type="body" idx="25"/>
          </p:nvPr>
        </p:nvSpPr>
        <p:spPr bwMode="auto">
          <a:xfrm>
            <a:off x="8529365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43790048" name="Google Shape;577;p64"/>
          <p:cNvSpPr txBox="1"/>
          <p:nvPr>
            <p:ph type="body" idx="26"/>
          </p:nvPr>
        </p:nvSpPr>
        <p:spPr bwMode="auto">
          <a:xfrm>
            <a:off x="9344285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89033063" name="Google Shape;578;p64"/>
          <p:cNvSpPr txBox="1"/>
          <p:nvPr>
            <p:ph type="body" idx="27"/>
          </p:nvPr>
        </p:nvSpPr>
        <p:spPr bwMode="auto">
          <a:xfrm>
            <a:off x="8529365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75310578" name="Google Shape;579;p64"/>
          <p:cNvSpPr txBox="1"/>
          <p:nvPr>
            <p:ph type="body" idx="28"/>
          </p:nvPr>
        </p:nvSpPr>
        <p:spPr bwMode="auto">
          <a:xfrm>
            <a:off x="9344285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am 3" preserve="0" showMasterPhAnim="0" showMasterSp="1" userDrawn="1">
  <p:cSld name="Team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993002" name="Google Shape;581;p65"/>
          <p:cNvSpPr/>
          <p:nvPr>
            <p:ph type="pic" idx="2"/>
          </p:nvPr>
        </p:nvSpPr>
        <p:spPr bwMode="auto">
          <a:xfrm>
            <a:off x="1409910" y="1839401"/>
            <a:ext cx="1436990" cy="1436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06478962" name="Google Shape;582;p65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4075146" name="Google Shape;583;p65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86552357" name="Google Shape;584;p65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26188077" name="Google Shape;585;p65"/>
          <p:cNvSpPr txBox="1"/>
          <p:nvPr>
            <p:ph type="body" idx="3"/>
          </p:nvPr>
        </p:nvSpPr>
        <p:spPr bwMode="auto">
          <a:xfrm>
            <a:off x="1036193" y="3503228"/>
            <a:ext cx="2184424" cy="279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61617901" name="Google Shape;586;p65"/>
          <p:cNvSpPr txBox="1"/>
          <p:nvPr>
            <p:ph type="body" idx="4"/>
          </p:nvPr>
        </p:nvSpPr>
        <p:spPr bwMode="auto">
          <a:xfrm>
            <a:off x="1036193" y="3821994"/>
            <a:ext cx="218442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730191" name="Google Shape;587;p65"/>
          <p:cNvSpPr txBox="1"/>
          <p:nvPr>
            <p:ph type="body" idx="5"/>
          </p:nvPr>
        </p:nvSpPr>
        <p:spPr bwMode="auto">
          <a:xfrm>
            <a:off x="1036193" y="4189855"/>
            <a:ext cx="2184424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29264684" name="Google Shape;588;p65"/>
          <p:cNvSpPr txBox="1"/>
          <p:nvPr>
            <p:ph type="body" idx="6"/>
          </p:nvPr>
        </p:nvSpPr>
        <p:spPr bwMode="auto">
          <a:xfrm>
            <a:off x="1360857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67180390" name="Google Shape;589;p65"/>
          <p:cNvSpPr txBox="1"/>
          <p:nvPr>
            <p:ph type="body" idx="7"/>
          </p:nvPr>
        </p:nvSpPr>
        <p:spPr bwMode="auto">
          <a:xfrm>
            <a:off x="2175777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80234989" name="Google Shape;590;p65"/>
          <p:cNvSpPr txBox="1"/>
          <p:nvPr>
            <p:ph type="body" idx="8"/>
          </p:nvPr>
        </p:nvSpPr>
        <p:spPr bwMode="auto">
          <a:xfrm>
            <a:off x="1360857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80719814" name="Google Shape;591;p65"/>
          <p:cNvSpPr txBox="1"/>
          <p:nvPr>
            <p:ph type="body" idx="9"/>
          </p:nvPr>
        </p:nvSpPr>
        <p:spPr bwMode="auto">
          <a:xfrm>
            <a:off x="2175777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1144100" name="Google Shape;592;p65"/>
          <p:cNvSpPr/>
          <p:nvPr>
            <p:ph type="pic" idx="13"/>
          </p:nvPr>
        </p:nvSpPr>
        <p:spPr bwMode="auto">
          <a:xfrm>
            <a:off x="4054973" y="1839401"/>
            <a:ext cx="1436990" cy="1436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22327821" name="Google Shape;593;p65"/>
          <p:cNvSpPr txBox="1"/>
          <p:nvPr>
            <p:ph type="body" idx="14"/>
          </p:nvPr>
        </p:nvSpPr>
        <p:spPr bwMode="auto">
          <a:xfrm>
            <a:off x="3681256" y="3503228"/>
            <a:ext cx="2184424" cy="279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51881035" name="Google Shape;594;p65"/>
          <p:cNvSpPr txBox="1"/>
          <p:nvPr>
            <p:ph type="body" idx="15"/>
          </p:nvPr>
        </p:nvSpPr>
        <p:spPr bwMode="auto">
          <a:xfrm>
            <a:off x="3681256" y="3821994"/>
            <a:ext cx="218442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30132365" name="Google Shape;595;p65"/>
          <p:cNvSpPr txBox="1"/>
          <p:nvPr>
            <p:ph type="body" idx="16"/>
          </p:nvPr>
        </p:nvSpPr>
        <p:spPr bwMode="auto">
          <a:xfrm>
            <a:off x="3681256" y="4189855"/>
            <a:ext cx="2184424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45216685" name="Google Shape;596;p65"/>
          <p:cNvSpPr txBox="1"/>
          <p:nvPr>
            <p:ph type="body" idx="17"/>
          </p:nvPr>
        </p:nvSpPr>
        <p:spPr bwMode="auto">
          <a:xfrm>
            <a:off x="4005920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1374790" name="Google Shape;597;p65"/>
          <p:cNvSpPr txBox="1"/>
          <p:nvPr>
            <p:ph type="body" idx="18"/>
          </p:nvPr>
        </p:nvSpPr>
        <p:spPr bwMode="auto">
          <a:xfrm>
            <a:off x="4820840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93100702" name="Google Shape;598;p65"/>
          <p:cNvSpPr txBox="1"/>
          <p:nvPr>
            <p:ph type="body" idx="19"/>
          </p:nvPr>
        </p:nvSpPr>
        <p:spPr bwMode="auto">
          <a:xfrm>
            <a:off x="4005920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03006847" name="Google Shape;599;p65"/>
          <p:cNvSpPr txBox="1"/>
          <p:nvPr>
            <p:ph type="body" idx="20"/>
          </p:nvPr>
        </p:nvSpPr>
        <p:spPr bwMode="auto">
          <a:xfrm>
            <a:off x="4820840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81135391" name="Google Shape;600;p65"/>
          <p:cNvSpPr/>
          <p:nvPr>
            <p:ph type="pic" idx="21"/>
          </p:nvPr>
        </p:nvSpPr>
        <p:spPr bwMode="auto">
          <a:xfrm>
            <a:off x="6700036" y="1839401"/>
            <a:ext cx="1436990" cy="1436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4251229" name="Google Shape;601;p65"/>
          <p:cNvSpPr txBox="1"/>
          <p:nvPr>
            <p:ph type="body" idx="22"/>
          </p:nvPr>
        </p:nvSpPr>
        <p:spPr bwMode="auto">
          <a:xfrm>
            <a:off x="6326319" y="3503228"/>
            <a:ext cx="2184424" cy="279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07441164" name="Google Shape;602;p65"/>
          <p:cNvSpPr txBox="1"/>
          <p:nvPr>
            <p:ph type="body" idx="23"/>
          </p:nvPr>
        </p:nvSpPr>
        <p:spPr bwMode="auto">
          <a:xfrm>
            <a:off x="6326319" y="3821994"/>
            <a:ext cx="218442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21240295" name="Google Shape;603;p65"/>
          <p:cNvSpPr txBox="1"/>
          <p:nvPr>
            <p:ph type="body" idx="24"/>
          </p:nvPr>
        </p:nvSpPr>
        <p:spPr bwMode="auto">
          <a:xfrm>
            <a:off x="6326319" y="4189855"/>
            <a:ext cx="2184424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9520604" name="Google Shape;604;p65"/>
          <p:cNvSpPr txBox="1"/>
          <p:nvPr>
            <p:ph type="body" idx="25"/>
          </p:nvPr>
        </p:nvSpPr>
        <p:spPr bwMode="auto">
          <a:xfrm>
            <a:off x="6650983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85901319" name="Google Shape;605;p65"/>
          <p:cNvSpPr txBox="1"/>
          <p:nvPr>
            <p:ph type="body" idx="26"/>
          </p:nvPr>
        </p:nvSpPr>
        <p:spPr bwMode="auto">
          <a:xfrm>
            <a:off x="7465903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29168738" name="Google Shape;606;p65"/>
          <p:cNvSpPr txBox="1"/>
          <p:nvPr>
            <p:ph type="body" idx="27"/>
          </p:nvPr>
        </p:nvSpPr>
        <p:spPr bwMode="auto">
          <a:xfrm>
            <a:off x="6650983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66027771" name="Google Shape;607;p65"/>
          <p:cNvSpPr txBox="1"/>
          <p:nvPr>
            <p:ph type="body" idx="28"/>
          </p:nvPr>
        </p:nvSpPr>
        <p:spPr bwMode="auto">
          <a:xfrm>
            <a:off x="7465903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1604763" name="Google Shape;608;p65"/>
          <p:cNvSpPr/>
          <p:nvPr>
            <p:ph type="pic" idx="29"/>
          </p:nvPr>
        </p:nvSpPr>
        <p:spPr bwMode="auto">
          <a:xfrm>
            <a:off x="9345098" y="1839401"/>
            <a:ext cx="1436990" cy="1436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80842314" name="Google Shape;609;p65"/>
          <p:cNvSpPr txBox="1"/>
          <p:nvPr>
            <p:ph type="body" idx="30"/>
          </p:nvPr>
        </p:nvSpPr>
        <p:spPr bwMode="auto">
          <a:xfrm>
            <a:off x="8971382" y="3503228"/>
            <a:ext cx="2184424" cy="279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62200142" name="Google Shape;610;p65"/>
          <p:cNvSpPr txBox="1"/>
          <p:nvPr>
            <p:ph type="body" idx="31"/>
          </p:nvPr>
        </p:nvSpPr>
        <p:spPr bwMode="auto">
          <a:xfrm>
            <a:off x="8971382" y="3821994"/>
            <a:ext cx="218442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87255779" name="Google Shape;611;p65"/>
          <p:cNvSpPr txBox="1"/>
          <p:nvPr>
            <p:ph type="body" idx="32"/>
          </p:nvPr>
        </p:nvSpPr>
        <p:spPr bwMode="auto">
          <a:xfrm>
            <a:off x="8971382" y="4189855"/>
            <a:ext cx="2184424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09769497" name="Google Shape;612;p65"/>
          <p:cNvSpPr txBox="1"/>
          <p:nvPr>
            <p:ph type="body" idx="33"/>
          </p:nvPr>
        </p:nvSpPr>
        <p:spPr bwMode="auto">
          <a:xfrm>
            <a:off x="9296046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77895834" name="Google Shape;613;p65"/>
          <p:cNvSpPr txBox="1"/>
          <p:nvPr>
            <p:ph type="body" idx="34"/>
          </p:nvPr>
        </p:nvSpPr>
        <p:spPr bwMode="auto">
          <a:xfrm>
            <a:off x="10110966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8812829" name="Google Shape;614;p65"/>
          <p:cNvSpPr txBox="1"/>
          <p:nvPr>
            <p:ph type="body" idx="35"/>
          </p:nvPr>
        </p:nvSpPr>
        <p:spPr bwMode="auto">
          <a:xfrm>
            <a:off x="9296046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92448773" name="Google Shape;615;p65"/>
          <p:cNvSpPr txBox="1"/>
          <p:nvPr>
            <p:ph type="body" idx="36"/>
          </p:nvPr>
        </p:nvSpPr>
        <p:spPr bwMode="auto">
          <a:xfrm>
            <a:off x="10110966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am 4" preserve="0" showMasterPhAnim="0" showMasterSp="1" userDrawn="1">
  <p:cSld name="Team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93614" name="Google Shape;617;p66"/>
          <p:cNvSpPr/>
          <p:nvPr>
            <p:ph type="pic" idx="2"/>
          </p:nvPr>
        </p:nvSpPr>
        <p:spPr bwMode="auto">
          <a:xfrm>
            <a:off x="915547" y="1839401"/>
            <a:ext cx="1436990" cy="1436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7148868" name="Google Shape;618;p66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1450586" name="Google Shape;619;p66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74919615" name="Google Shape;620;p66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07685228" name="Google Shape;621;p66"/>
          <p:cNvSpPr txBox="1"/>
          <p:nvPr>
            <p:ph type="body" idx="3"/>
          </p:nvPr>
        </p:nvSpPr>
        <p:spPr bwMode="auto">
          <a:xfrm>
            <a:off x="712651" y="3503228"/>
            <a:ext cx="184278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13129223" name="Google Shape;622;p66"/>
          <p:cNvSpPr txBox="1"/>
          <p:nvPr>
            <p:ph type="body" idx="4"/>
          </p:nvPr>
        </p:nvSpPr>
        <p:spPr bwMode="auto">
          <a:xfrm>
            <a:off x="712651" y="3806496"/>
            <a:ext cx="1842782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20969697" name="Google Shape;623;p66"/>
          <p:cNvSpPr txBox="1"/>
          <p:nvPr>
            <p:ph type="body" idx="5"/>
          </p:nvPr>
        </p:nvSpPr>
        <p:spPr bwMode="auto">
          <a:xfrm>
            <a:off x="712651" y="4189855"/>
            <a:ext cx="1842782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61132191" name="Google Shape;624;p66"/>
          <p:cNvSpPr txBox="1"/>
          <p:nvPr>
            <p:ph type="body" idx="6"/>
          </p:nvPr>
        </p:nvSpPr>
        <p:spPr bwMode="auto">
          <a:xfrm>
            <a:off x="866494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94180695" name="Google Shape;625;p66"/>
          <p:cNvSpPr txBox="1"/>
          <p:nvPr>
            <p:ph type="body" idx="7"/>
          </p:nvPr>
        </p:nvSpPr>
        <p:spPr bwMode="auto">
          <a:xfrm>
            <a:off x="1681413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78335298" name="Google Shape;626;p66"/>
          <p:cNvSpPr txBox="1"/>
          <p:nvPr>
            <p:ph type="body" idx="8"/>
          </p:nvPr>
        </p:nvSpPr>
        <p:spPr bwMode="auto">
          <a:xfrm>
            <a:off x="866494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27431338" name="Google Shape;627;p66"/>
          <p:cNvSpPr txBox="1"/>
          <p:nvPr>
            <p:ph type="body" idx="9"/>
          </p:nvPr>
        </p:nvSpPr>
        <p:spPr bwMode="auto">
          <a:xfrm>
            <a:off x="1681413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14527628" name="Google Shape;628;p66"/>
          <p:cNvSpPr/>
          <p:nvPr>
            <p:ph type="pic" idx="13"/>
          </p:nvPr>
        </p:nvSpPr>
        <p:spPr bwMode="auto">
          <a:xfrm>
            <a:off x="3189077" y="1839401"/>
            <a:ext cx="1436990" cy="1436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95524090" name="Google Shape;629;p66"/>
          <p:cNvSpPr txBox="1"/>
          <p:nvPr>
            <p:ph type="body" idx="14"/>
          </p:nvPr>
        </p:nvSpPr>
        <p:spPr bwMode="auto">
          <a:xfrm>
            <a:off x="2943630" y="3503228"/>
            <a:ext cx="184278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45215123" name="Google Shape;630;p66"/>
          <p:cNvSpPr txBox="1"/>
          <p:nvPr>
            <p:ph type="body" idx="15"/>
          </p:nvPr>
        </p:nvSpPr>
        <p:spPr bwMode="auto">
          <a:xfrm>
            <a:off x="2943630" y="3806496"/>
            <a:ext cx="1842782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32276161" name="Google Shape;631;p66"/>
          <p:cNvSpPr txBox="1"/>
          <p:nvPr>
            <p:ph type="body" idx="16"/>
          </p:nvPr>
        </p:nvSpPr>
        <p:spPr bwMode="auto">
          <a:xfrm>
            <a:off x="2943630" y="4189855"/>
            <a:ext cx="1842782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98561707" name="Google Shape;632;p66"/>
          <p:cNvSpPr txBox="1"/>
          <p:nvPr>
            <p:ph type="body" idx="17"/>
          </p:nvPr>
        </p:nvSpPr>
        <p:spPr bwMode="auto">
          <a:xfrm>
            <a:off x="3140406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19798573" name="Google Shape;633;p66"/>
          <p:cNvSpPr txBox="1"/>
          <p:nvPr>
            <p:ph type="body" idx="18"/>
          </p:nvPr>
        </p:nvSpPr>
        <p:spPr bwMode="auto">
          <a:xfrm>
            <a:off x="3955326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98639808" name="Google Shape;634;p66"/>
          <p:cNvSpPr txBox="1"/>
          <p:nvPr>
            <p:ph type="body" idx="19"/>
          </p:nvPr>
        </p:nvSpPr>
        <p:spPr bwMode="auto">
          <a:xfrm>
            <a:off x="3140406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13263961" name="Google Shape;635;p66"/>
          <p:cNvSpPr txBox="1"/>
          <p:nvPr>
            <p:ph type="body" idx="20"/>
          </p:nvPr>
        </p:nvSpPr>
        <p:spPr bwMode="auto">
          <a:xfrm>
            <a:off x="3955326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7847854" name="Google Shape;636;p66"/>
          <p:cNvSpPr/>
          <p:nvPr>
            <p:ph type="pic" idx="21"/>
          </p:nvPr>
        </p:nvSpPr>
        <p:spPr bwMode="auto">
          <a:xfrm>
            <a:off x="5377505" y="1839401"/>
            <a:ext cx="1436990" cy="1436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65212499" name="Google Shape;637;p66"/>
          <p:cNvSpPr txBox="1"/>
          <p:nvPr>
            <p:ph type="body" idx="22"/>
          </p:nvPr>
        </p:nvSpPr>
        <p:spPr bwMode="auto">
          <a:xfrm>
            <a:off x="5174609" y="3503228"/>
            <a:ext cx="184278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13860415" name="Google Shape;638;p66"/>
          <p:cNvSpPr txBox="1"/>
          <p:nvPr>
            <p:ph type="body" idx="23"/>
          </p:nvPr>
        </p:nvSpPr>
        <p:spPr bwMode="auto">
          <a:xfrm>
            <a:off x="5174609" y="3806496"/>
            <a:ext cx="1842782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44636801" name="Google Shape;639;p66"/>
          <p:cNvSpPr txBox="1"/>
          <p:nvPr>
            <p:ph type="body" idx="24"/>
          </p:nvPr>
        </p:nvSpPr>
        <p:spPr bwMode="auto">
          <a:xfrm>
            <a:off x="5174609" y="4189855"/>
            <a:ext cx="1842782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9961395" name="Google Shape;640;p66"/>
          <p:cNvSpPr txBox="1"/>
          <p:nvPr>
            <p:ph type="body" idx="25"/>
          </p:nvPr>
        </p:nvSpPr>
        <p:spPr bwMode="auto">
          <a:xfrm>
            <a:off x="5327161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10501773" name="Google Shape;641;p66"/>
          <p:cNvSpPr txBox="1"/>
          <p:nvPr>
            <p:ph type="body" idx="26"/>
          </p:nvPr>
        </p:nvSpPr>
        <p:spPr bwMode="auto">
          <a:xfrm>
            <a:off x="6142081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39748320" name="Google Shape;642;p66"/>
          <p:cNvSpPr txBox="1"/>
          <p:nvPr>
            <p:ph type="body" idx="27"/>
          </p:nvPr>
        </p:nvSpPr>
        <p:spPr bwMode="auto">
          <a:xfrm>
            <a:off x="5327161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84203118" name="Google Shape;643;p66"/>
          <p:cNvSpPr txBox="1"/>
          <p:nvPr>
            <p:ph type="body" idx="28"/>
          </p:nvPr>
        </p:nvSpPr>
        <p:spPr bwMode="auto">
          <a:xfrm>
            <a:off x="6142081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96267947" name="Google Shape;644;p66"/>
          <p:cNvSpPr/>
          <p:nvPr>
            <p:ph type="pic" idx="29"/>
          </p:nvPr>
        </p:nvSpPr>
        <p:spPr bwMode="auto">
          <a:xfrm>
            <a:off x="7608484" y="1839401"/>
            <a:ext cx="1436990" cy="1436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91843455" name="Google Shape;645;p66"/>
          <p:cNvSpPr txBox="1"/>
          <p:nvPr>
            <p:ph type="body" idx="30"/>
          </p:nvPr>
        </p:nvSpPr>
        <p:spPr bwMode="auto">
          <a:xfrm>
            <a:off x="7405587" y="3503228"/>
            <a:ext cx="184278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93291769" name="Google Shape;646;p66"/>
          <p:cNvSpPr txBox="1"/>
          <p:nvPr>
            <p:ph type="body" idx="31"/>
          </p:nvPr>
        </p:nvSpPr>
        <p:spPr bwMode="auto">
          <a:xfrm>
            <a:off x="7405587" y="3806496"/>
            <a:ext cx="1842782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5774172" name="Google Shape;647;p66"/>
          <p:cNvSpPr txBox="1"/>
          <p:nvPr>
            <p:ph type="body" idx="32"/>
          </p:nvPr>
        </p:nvSpPr>
        <p:spPr bwMode="auto">
          <a:xfrm>
            <a:off x="7405587" y="4189855"/>
            <a:ext cx="1842782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56574976" name="Google Shape;648;p66"/>
          <p:cNvSpPr txBox="1"/>
          <p:nvPr>
            <p:ph type="body" idx="33"/>
          </p:nvPr>
        </p:nvSpPr>
        <p:spPr bwMode="auto">
          <a:xfrm>
            <a:off x="7562403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0053540" name="Google Shape;649;p66"/>
          <p:cNvSpPr txBox="1"/>
          <p:nvPr>
            <p:ph type="body" idx="34"/>
          </p:nvPr>
        </p:nvSpPr>
        <p:spPr bwMode="auto">
          <a:xfrm>
            <a:off x="8377323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90388729" name="Google Shape;650;p66"/>
          <p:cNvSpPr txBox="1"/>
          <p:nvPr>
            <p:ph type="body" idx="35"/>
          </p:nvPr>
        </p:nvSpPr>
        <p:spPr bwMode="auto">
          <a:xfrm>
            <a:off x="7562403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8448354" name="Google Shape;651;p66"/>
          <p:cNvSpPr txBox="1"/>
          <p:nvPr>
            <p:ph type="body" idx="36"/>
          </p:nvPr>
        </p:nvSpPr>
        <p:spPr bwMode="auto">
          <a:xfrm>
            <a:off x="8377323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62457036" name="Google Shape;652;p66"/>
          <p:cNvSpPr/>
          <p:nvPr>
            <p:ph type="pic" idx="37"/>
          </p:nvPr>
        </p:nvSpPr>
        <p:spPr bwMode="auto">
          <a:xfrm>
            <a:off x="9839462" y="1839401"/>
            <a:ext cx="1436990" cy="1436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96147332" name="Google Shape;653;p66"/>
          <p:cNvSpPr txBox="1"/>
          <p:nvPr>
            <p:ph type="body" idx="38"/>
          </p:nvPr>
        </p:nvSpPr>
        <p:spPr bwMode="auto">
          <a:xfrm>
            <a:off x="9636566" y="3503228"/>
            <a:ext cx="184278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75856508" name="Google Shape;654;p66"/>
          <p:cNvSpPr txBox="1"/>
          <p:nvPr>
            <p:ph type="body" idx="39"/>
          </p:nvPr>
        </p:nvSpPr>
        <p:spPr bwMode="auto">
          <a:xfrm>
            <a:off x="9636566" y="3806496"/>
            <a:ext cx="1842782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42557984" name="Google Shape;655;p66"/>
          <p:cNvSpPr txBox="1"/>
          <p:nvPr>
            <p:ph type="body" idx="40"/>
          </p:nvPr>
        </p:nvSpPr>
        <p:spPr bwMode="auto">
          <a:xfrm>
            <a:off x="9636566" y="4189855"/>
            <a:ext cx="1842782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66045104" name="Google Shape;656;p66"/>
          <p:cNvSpPr txBox="1"/>
          <p:nvPr>
            <p:ph type="body" idx="41"/>
          </p:nvPr>
        </p:nvSpPr>
        <p:spPr bwMode="auto">
          <a:xfrm>
            <a:off x="9790409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09035216" name="Google Shape;657;p66"/>
          <p:cNvSpPr txBox="1"/>
          <p:nvPr>
            <p:ph type="body" idx="42"/>
          </p:nvPr>
        </p:nvSpPr>
        <p:spPr bwMode="auto">
          <a:xfrm>
            <a:off x="10605329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1240453" name="Google Shape;658;p66"/>
          <p:cNvSpPr txBox="1"/>
          <p:nvPr>
            <p:ph type="body" idx="43"/>
          </p:nvPr>
        </p:nvSpPr>
        <p:spPr bwMode="auto">
          <a:xfrm>
            <a:off x="9790409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54781004" name="Google Shape;659;p66"/>
          <p:cNvSpPr txBox="1"/>
          <p:nvPr>
            <p:ph type="body" idx="44"/>
          </p:nvPr>
        </p:nvSpPr>
        <p:spPr bwMode="auto">
          <a:xfrm>
            <a:off x="10605329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am 5" preserve="0" showMasterPhAnim="0" showMasterSp="1" userDrawn="1">
  <p:cSld name="Team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193037" name="Google Shape;661;p67"/>
          <p:cNvSpPr/>
          <p:nvPr>
            <p:ph type="pic" idx="2"/>
          </p:nvPr>
        </p:nvSpPr>
        <p:spPr bwMode="auto">
          <a:xfrm>
            <a:off x="3445048" y="1891110"/>
            <a:ext cx="1152000" cy="11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96227209" name="Google Shape;662;p67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7896782" name="Google Shape;663;p67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72002043" name="Google Shape;664;p67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36315696" name="Google Shape;665;p67"/>
          <p:cNvSpPr txBox="1"/>
          <p:nvPr>
            <p:ph type="body" idx="3"/>
          </p:nvPr>
        </p:nvSpPr>
        <p:spPr bwMode="auto">
          <a:xfrm>
            <a:off x="3442897" y="3237917"/>
            <a:ext cx="192459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05852501" name="Google Shape;666;p67"/>
          <p:cNvSpPr txBox="1"/>
          <p:nvPr>
            <p:ph type="body" idx="4"/>
          </p:nvPr>
        </p:nvSpPr>
        <p:spPr bwMode="auto">
          <a:xfrm>
            <a:off x="3442897" y="3719462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25565479" name="Google Shape;667;p67"/>
          <p:cNvSpPr txBox="1"/>
          <p:nvPr>
            <p:ph type="body" idx="5"/>
          </p:nvPr>
        </p:nvSpPr>
        <p:spPr bwMode="auto">
          <a:xfrm>
            <a:off x="3448750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11899224" name="Google Shape;668;p67"/>
          <p:cNvSpPr txBox="1"/>
          <p:nvPr>
            <p:ph type="body" idx="6"/>
          </p:nvPr>
        </p:nvSpPr>
        <p:spPr bwMode="auto">
          <a:xfrm>
            <a:off x="4263670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56658667" name="Google Shape;669;p67"/>
          <p:cNvSpPr/>
          <p:nvPr>
            <p:ph type="pic" idx="7"/>
          </p:nvPr>
        </p:nvSpPr>
        <p:spPr bwMode="auto">
          <a:xfrm>
            <a:off x="5921219" y="1891110"/>
            <a:ext cx="1152000" cy="11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87074243" name="Google Shape;670;p67"/>
          <p:cNvSpPr txBox="1"/>
          <p:nvPr>
            <p:ph type="body" idx="8"/>
          </p:nvPr>
        </p:nvSpPr>
        <p:spPr bwMode="auto">
          <a:xfrm>
            <a:off x="5921219" y="3237917"/>
            <a:ext cx="192459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53431209" name="Google Shape;671;p67"/>
          <p:cNvSpPr txBox="1"/>
          <p:nvPr>
            <p:ph type="body" idx="9"/>
          </p:nvPr>
        </p:nvSpPr>
        <p:spPr bwMode="auto">
          <a:xfrm>
            <a:off x="5921219" y="3719462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51806730" name="Google Shape;672;p67"/>
          <p:cNvSpPr txBox="1"/>
          <p:nvPr>
            <p:ph type="body" idx="13"/>
          </p:nvPr>
        </p:nvSpPr>
        <p:spPr bwMode="auto">
          <a:xfrm>
            <a:off x="5919785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06778061" name="Google Shape;673;p67"/>
          <p:cNvSpPr txBox="1"/>
          <p:nvPr>
            <p:ph type="body" idx="14"/>
          </p:nvPr>
        </p:nvSpPr>
        <p:spPr bwMode="auto">
          <a:xfrm>
            <a:off x="6734705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11906120" name="Google Shape;674;p67"/>
          <p:cNvSpPr/>
          <p:nvPr>
            <p:ph type="pic" idx="15"/>
          </p:nvPr>
        </p:nvSpPr>
        <p:spPr bwMode="auto">
          <a:xfrm>
            <a:off x="8397390" y="1891110"/>
            <a:ext cx="1152000" cy="11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563419092" name="Google Shape;675;p67"/>
          <p:cNvSpPr txBox="1"/>
          <p:nvPr>
            <p:ph type="body" idx="16"/>
          </p:nvPr>
        </p:nvSpPr>
        <p:spPr bwMode="auto">
          <a:xfrm>
            <a:off x="8397390" y="3237917"/>
            <a:ext cx="192459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88157675" name="Google Shape;676;p67"/>
          <p:cNvSpPr txBox="1"/>
          <p:nvPr>
            <p:ph type="body" idx="17"/>
          </p:nvPr>
        </p:nvSpPr>
        <p:spPr bwMode="auto">
          <a:xfrm>
            <a:off x="8397390" y="3719462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09295836" name="Google Shape;677;p67"/>
          <p:cNvSpPr txBox="1"/>
          <p:nvPr>
            <p:ph type="body" idx="18"/>
          </p:nvPr>
        </p:nvSpPr>
        <p:spPr bwMode="auto">
          <a:xfrm>
            <a:off x="8391016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3960516" name="Google Shape;678;p67"/>
          <p:cNvSpPr txBox="1"/>
          <p:nvPr>
            <p:ph type="body" idx="19"/>
          </p:nvPr>
        </p:nvSpPr>
        <p:spPr bwMode="auto">
          <a:xfrm>
            <a:off x="9205936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33306506" name="Google Shape;679;p67"/>
          <p:cNvSpPr txBox="1"/>
          <p:nvPr>
            <p:ph type="body" idx="20"/>
          </p:nvPr>
        </p:nvSpPr>
        <p:spPr bwMode="auto">
          <a:xfrm>
            <a:off x="3442897" y="5323574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64910" name="Google Shape;680;p67"/>
          <p:cNvSpPr txBox="1"/>
          <p:nvPr>
            <p:ph type="body" idx="21"/>
          </p:nvPr>
        </p:nvSpPr>
        <p:spPr bwMode="auto">
          <a:xfrm>
            <a:off x="5921219" y="5323574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07743500" name="Google Shape;681;p67"/>
          <p:cNvSpPr txBox="1"/>
          <p:nvPr>
            <p:ph type="body" idx="22"/>
          </p:nvPr>
        </p:nvSpPr>
        <p:spPr bwMode="auto">
          <a:xfrm>
            <a:off x="8397390" y="5323574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96138492" name="Google Shape;682;p67"/>
          <p:cNvSpPr txBox="1"/>
          <p:nvPr>
            <p:ph type="body" idx="23"/>
          </p:nvPr>
        </p:nvSpPr>
        <p:spPr bwMode="auto">
          <a:xfrm>
            <a:off x="1870011" y="3719462"/>
            <a:ext cx="111782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3442652" name="Google Shape;683;p67"/>
          <p:cNvSpPr txBox="1"/>
          <p:nvPr>
            <p:ph type="body" idx="24"/>
          </p:nvPr>
        </p:nvSpPr>
        <p:spPr bwMode="auto">
          <a:xfrm>
            <a:off x="1870011" y="4671936"/>
            <a:ext cx="111782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9389439" name="Google Shape;684;p67"/>
          <p:cNvSpPr txBox="1"/>
          <p:nvPr>
            <p:ph type="body" idx="25"/>
          </p:nvPr>
        </p:nvSpPr>
        <p:spPr bwMode="auto">
          <a:xfrm>
            <a:off x="1870011" y="5323574"/>
            <a:ext cx="111782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am 6" preserve="0" showMasterPhAnim="0" showMasterSp="1" userDrawn="1">
  <p:cSld name="Team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076099" name="Google Shape;686;p68"/>
          <p:cNvSpPr/>
          <p:nvPr>
            <p:ph type="pic" idx="2"/>
          </p:nvPr>
        </p:nvSpPr>
        <p:spPr bwMode="auto">
          <a:xfrm>
            <a:off x="2198924" y="1891110"/>
            <a:ext cx="1152000" cy="11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6814871" name="Google Shape;687;p68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0825646" name="Google Shape;688;p68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9617288" name="Google Shape;689;p68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6269629" name="Google Shape;690;p68"/>
          <p:cNvSpPr txBox="1"/>
          <p:nvPr>
            <p:ph type="body" idx="3"/>
          </p:nvPr>
        </p:nvSpPr>
        <p:spPr bwMode="auto">
          <a:xfrm>
            <a:off x="2196773" y="3237917"/>
            <a:ext cx="192459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6535275" name="Google Shape;691;p68"/>
          <p:cNvSpPr txBox="1"/>
          <p:nvPr>
            <p:ph type="body" idx="4"/>
          </p:nvPr>
        </p:nvSpPr>
        <p:spPr bwMode="auto">
          <a:xfrm>
            <a:off x="2196773" y="3719462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27939805" name="Google Shape;692;p68"/>
          <p:cNvSpPr txBox="1"/>
          <p:nvPr>
            <p:ph type="body" idx="5"/>
          </p:nvPr>
        </p:nvSpPr>
        <p:spPr bwMode="auto">
          <a:xfrm>
            <a:off x="2202626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11225725" name="Google Shape;693;p68"/>
          <p:cNvSpPr txBox="1"/>
          <p:nvPr>
            <p:ph type="body" idx="6"/>
          </p:nvPr>
        </p:nvSpPr>
        <p:spPr bwMode="auto">
          <a:xfrm>
            <a:off x="3017545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4503215" name="Google Shape;694;p68"/>
          <p:cNvSpPr/>
          <p:nvPr>
            <p:ph type="pic" idx="7"/>
          </p:nvPr>
        </p:nvSpPr>
        <p:spPr bwMode="auto">
          <a:xfrm>
            <a:off x="4675095" y="1891110"/>
            <a:ext cx="1152000" cy="11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9546493" name="Google Shape;695;p68"/>
          <p:cNvSpPr txBox="1"/>
          <p:nvPr>
            <p:ph type="body" idx="8"/>
          </p:nvPr>
        </p:nvSpPr>
        <p:spPr bwMode="auto">
          <a:xfrm>
            <a:off x="4675095" y="3237917"/>
            <a:ext cx="192459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79441684" name="Google Shape;696;p68"/>
          <p:cNvSpPr txBox="1"/>
          <p:nvPr>
            <p:ph type="body" idx="9"/>
          </p:nvPr>
        </p:nvSpPr>
        <p:spPr bwMode="auto">
          <a:xfrm>
            <a:off x="4675095" y="3719462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50357812" name="Google Shape;697;p68"/>
          <p:cNvSpPr txBox="1"/>
          <p:nvPr>
            <p:ph type="body" idx="13"/>
          </p:nvPr>
        </p:nvSpPr>
        <p:spPr bwMode="auto">
          <a:xfrm>
            <a:off x="4673661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8713728" name="Google Shape;698;p68"/>
          <p:cNvSpPr txBox="1"/>
          <p:nvPr>
            <p:ph type="body" idx="14"/>
          </p:nvPr>
        </p:nvSpPr>
        <p:spPr bwMode="auto">
          <a:xfrm>
            <a:off x="5488581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69411325" name="Google Shape;699;p68"/>
          <p:cNvSpPr/>
          <p:nvPr>
            <p:ph type="pic" idx="15"/>
          </p:nvPr>
        </p:nvSpPr>
        <p:spPr bwMode="auto">
          <a:xfrm>
            <a:off x="7151266" y="1891110"/>
            <a:ext cx="1152000" cy="11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04005212" name="Google Shape;700;p68"/>
          <p:cNvSpPr txBox="1"/>
          <p:nvPr>
            <p:ph type="body" idx="16"/>
          </p:nvPr>
        </p:nvSpPr>
        <p:spPr bwMode="auto">
          <a:xfrm>
            <a:off x="7151266" y="3237917"/>
            <a:ext cx="192459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70919224" name="Google Shape;701;p68"/>
          <p:cNvSpPr txBox="1"/>
          <p:nvPr>
            <p:ph type="body" idx="17"/>
          </p:nvPr>
        </p:nvSpPr>
        <p:spPr bwMode="auto">
          <a:xfrm>
            <a:off x="7151266" y="3719462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37451054" name="Google Shape;702;p68"/>
          <p:cNvSpPr txBox="1"/>
          <p:nvPr>
            <p:ph type="body" idx="18"/>
          </p:nvPr>
        </p:nvSpPr>
        <p:spPr bwMode="auto">
          <a:xfrm>
            <a:off x="7144892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21037335" name="Google Shape;703;p68"/>
          <p:cNvSpPr txBox="1"/>
          <p:nvPr>
            <p:ph type="body" idx="19"/>
          </p:nvPr>
        </p:nvSpPr>
        <p:spPr bwMode="auto">
          <a:xfrm>
            <a:off x="7959812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16419323" name="Google Shape;704;p68"/>
          <p:cNvSpPr/>
          <p:nvPr>
            <p:ph type="pic" idx="20"/>
          </p:nvPr>
        </p:nvSpPr>
        <p:spPr bwMode="auto">
          <a:xfrm>
            <a:off x="9627436" y="1891110"/>
            <a:ext cx="1152000" cy="11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07045115" name="Google Shape;705;p68"/>
          <p:cNvSpPr txBox="1"/>
          <p:nvPr>
            <p:ph type="body" idx="21"/>
          </p:nvPr>
        </p:nvSpPr>
        <p:spPr bwMode="auto">
          <a:xfrm>
            <a:off x="9627436" y="3237917"/>
            <a:ext cx="192459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63164089" name="Google Shape;706;p68"/>
          <p:cNvSpPr txBox="1"/>
          <p:nvPr>
            <p:ph type="body" idx="22"/>
          </p:nvPr>
        </p:nvSpPr>
        <p:spPr bwMode="auto">
          <a:xfrm>
            <a:off x="9627436" y="3719462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07026522" name="Google Shape;707;p68"/>
          <p:cNvSpPr txBox="1"/>
          <p:nvPr>
            <p:ph type="body" idx="23"/>
          </p:nvPr>
        </p:nvSpPr>
        <p:spPr bwMode="auto">
          <a:xfrm>
            <a:off x="9627436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39166795" name="Google Shape;708;p68"/>
          <p:cNvSpPr txBox="1"/>
          <p:nvPr>
            <p:ph type="body" idx="24"/>
          </p:nvPr>
        </p:nvSpPr>
        <p:spPr bwMode="auto">
          <a:xfrm>
            <a:off x="10442357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47801" name="Google Shape;709;p68"/>
          <p:cNvSpPr txBox="1"/>
          <p:nvPr>
            <p:ph type="body" idx="25"/>
          </p:nvPr>
        </p:nvSpPr>
        <p:spPr bwMode="auto">
          <a:xfrm>
            <a:off x="623887" y="3719462"/>
            <a:ext cx="111782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96376488" name="Google Shape;710;p68"/>
          <p:cNvSpPr txBox="1"/>
          <p:nvPr>
            <p:ph type="body" idx="26"/>
          </p:nvPr>
        </p:nvSpPr>
        <p:spPr bwMode="auto">
          <a:xfrm>
            <a:off x="623887" y="4671936"/>
            <a:ext cx="111782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75880350" name="Google Shape;711;p68"/>
          <p:cNvSpPr txBox="1"/>
          <p:nvPr>
            <p:ph type="body" idx="27"/>
          </p:nvPr>
        </p:nvSpPr>
        <p:spPr bwMode="auto">
          <a:xfrm>
            <a:off x="623887" y="5323574"/>
            <a:ext cx="111782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03834281" name="Google Shape;712;p68"/>
          <p:cNvSpPr txBox="1"/>
          <p:nvPr>
            <p:ph type="body" idx="28"/>
          </p:nvPr>
        </p:nvSpPr>
        <p:spPr bwMode="auto">
          <a:xfrm>
            <a:off x="2196773" y="5323574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6390798" name="Google Shape;713;p68"/>
          <p:cNvSpPr txBox="1"/>
          <p:nvPr>
            <p:ph type="body" idx="29"/>
          </p:nvPr>
        </p:nvSpPr>
        <p:spPr bwMode="auto">
          <a:xfrm>
            <a:off x="4675095" y="5323574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6353521" name="Google Shape;714;p68"/>
          <p:cNvSpPr txBox="1"/>
          <p:nvPr>
            <p:ph type="body" idx="30"/>
          </p:nvPr>
        </p:nvSpPr>
        <p:spPr bwMode="auto">
          <a:xfrm>
            <a:off x="7151266" y="5323574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22995936" name="Google Shape;715;p68"/>
          <p:cNvSpPr txBox="1"/>
          <p:nvPr>
            <p:ph type="body" idx="31"/>
          </p:nvPr>
        </p:nvSpPr>
        <p:spPr bwMode="auto">
          <a:xfrm>
            <a:off x="9627436" y="5323574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am 7" preserve="0" showMasterPhAnim="0" showMasterSp="1" userDrawn="1">
  <p:cSld name="Team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0346841" name="Google Shape;717;p69"/>
          <p:cNvSpPr/>
          <p:nvPr>
            <p:ph type="pic" idx="2"/>
          </p:nvPr>
        </p:nvSpPr>
        <p:spPr bwMode="auto">
          <a:xfrm>
            <a:off x="1950956" y="1997734"/>
            <a:ext cx="1045375" cy="104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40933739" name="Google Shape;718;p69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2193773" name="Google Shape;719;p69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11071726" name="Google Shape;720;p69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81630053" name="Google Shape;721;p69"/>
          <p:cNvSpPr txBox="1"/>
          <p:nvPr>
            <p:ph type="body" idx="3"/>
          </p:nvPr>
        </p:nvSpPr>
        <p:spPr bwMode="auto">
          <a:xfrm>
            <a:off x="1948806" y="3237917"/>
            <a:ext cx="165679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128998" name="Google Shape;722;p69"/>
          <p:cNvSpPr txBox="1"/>
          <p:nvPr>
            <p:ph type="body" idx="4"/>
          </p:nvPr>
        </p:nvSpPr>
        <p:spPr bwMode="auto">
          <a:xfrm>
            <a:off x="1948806" y="3719462"/>
            <a:ext cx="1656794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69761964" name="Google Shape;723;p69"/>
          <p:cNvSpPr txBox="1"/>
          <p:nvPr>
            <p:ph type="body" idx="5"/>
          </p:nvPr>
        </p:nvSpPr>
        <p:spPr bwMode="auto">
          <a:xfrm>
            <a:off x="1954658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27205010" name="Google Shape;724;p69"/>
          <p:cNvSpPr txBox="1"/>
          <p:nvPr>
            <p:ph type="body" idx="6"/>
          </p:nvPr>
        </p:nvSpPr>
        <p:spPr bwMode="auto">
          <a:xfrm>
            <a:off x="2769578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73605023" name="Google Shape;725;p69"/>
          <p:cNvSpPr/>
          <p:nvPr>
            <p:ph type="pic" idx="7"/>
          </p:nvPr>
        </p:nvSpPr>
        <p:spPr bwMode="auto">
          <a:xfrm>
            <a:off x="3941046" y="1997734"/>
            <a:ext cx="1045375" cy="104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69264394" name="Google Shape;726;p69"/>
          <p:cNvSpPr txBox="1"/>
          <p:nvPr>
            <p:ph type="body" idx="8"/>
          </p:nvPr>
        </p:nvSpPr>
        <p:spPr bwMode="auto">
          <a:xfrm>
            <a:off x="3937930" y="3237917"/>
            <a:ext cx="165679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67601265" name="Google Shape;727;p69"/>
          <p:cNvSpPr txBox="1"/>
          <p:nvPr>
            <p:ph type="body" idx="9"/>
          </p:nvPr>
        </p:nvSpPr>
        <p:spPr bwMode="auto">
          <a:xfrm>
            <a:off x="3937930" y="3719462"/>
            <a:ext cx="1656794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37714692" name="Google Shape;728;p69"/>
          <p:cNvSpPr txBox="1"/>
          <p:nvPr>
            <p:ph type="body" idx="13"/>
          </p:nvPr>
        </p:nvSpPr>
        <p:spPr bwMode="auto">
          <a:xfrm>
            <a:off x="3936495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48063937" name="Google Shape;729;p69"/>
          <p:cNvSpPr txBox="1"/>
          <p:nvPr>
            <p:ph type="body" idx="14"/>
          </p:nvPr>
        </p:nvSpPr>
        <p:spPr bwMode="auto">
          <a:xfrm>
            <a:off x="4751414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59980854" name="Google Shape;730;p69"/>
          <p:cNvSpPr/>
          <p:nvPr>
            <p:ph type="pic" idx="15"/>
          </p:nvPr>
        </p:nvSpPr>
        <p:spPr bwMode="auto">
          <a:xfrm>
            <a:off x="5931136" y="1997734"/>
            <a:ext cx="1045375" cy="104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970936958" name="Google Shape;731;p69"/>
          <p:cNvSpPr txBox="1"/>
          <p:nvPr>
            <p:ph type="body" idx="16"/>
          </p:nvPr>
        </p:nvSpPr>
        <p:spPr bwMode="auto">
          <a:xfrm>
            <a:off x="5934397" y="3237917"/>
            <a:ext cx="165679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4035611" name="Google Shape;732;p69"/>
          <p:cNvSpPr txBox="1"/>
          <p:nvPr>
            <p:ph type="body" idx="17"/>
          </p:nvPr>
        </p:nvSpPr>
        <p:spPr bwMode="auto">
          <a:xfrm>
            <a:off x="5934397" y="3719462"/>
            <a:ext cx="1656794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65476298" name="Google Shape;733;p69"/>
          <p:cNvSpPr txBox="1"/>
          <p:nvPr>
            <p:ph type="body" idx="18"/>
          </p:nvPr>
        </p:nvSpPr>
        <p:spPr bwMode="auto">
          <a:xfrm>
            <a:off x="5928022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8149679" name="Google Shape;734;p69"/>
          <p:cNvSpPr txBox="1"/>
          <p:nvPr>
            <p:ph type="body" idx="19"/>
          </p:nvPr>
        </p:nvSpPr>
        <p:spPr bwMode="auto">
          <a:xfrm>
            <a:off x="6742942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3034950" name="Google Shape;735;p69"/>
          <p:cNvSpPr/>
          <p:nvPr>
            <p:ph type="pic" idx="20"/>
          </p:nvPr>
        </p:nvSpPr>
        <p:spPr bwMode="auto">
          <a:xfrm>
            <a:off x="7921226" y="1997734"/>
            <a:ext cx="1045375" cy="104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273511515" name="Google Shape;736;p69"/>
          <p:cNvSpPr txBox="1"/>
          <p:nvPr>
            <p:ph type="body" idx="21"/>
          </p:nvPr>
        </p:nvSpPr>
        <p:spPr bwMode="auto">
          <a:xfrm>
            <a:off x="7921226" y="3237917"/>
            <a:ext cx="165679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06026983" name="Google Shape;737;p69"/>
          <p:cNvSpPr txBox="1"/>
          <p:nvPr>
            <p:ph type="body" idx="22"/>
          </p:nvPr>
        </p:nvSpPr>
        <p:spPr bwMode="auto">
          <a:xfrm>
            <a:off x="7921226" y="3719462"/>
            <a:ext cx="1656794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33767969" name="Google Shape;738;p69"/>
          <p:cNvSpPr txBox="1"/>
          <p:nvPr>
            <p:ph type="body" idx="23"/>
          </p:nvPr>
        </p:nvSpPr>
        <p:spPr bwMode="auto">
          <a:xfrm>
            <a:off x="7921225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53694176" name="Google Shape;739;p69"/>
          <p:cNvSpPr txBox="1"/>
          <p:nvPr>
            <p:ph type="body" idx="24"/>
          </p:nvPr>
        </p:nvSpPr>
        <p:spPr bwMode="auto">
          <a:xfrm>
            <a:off x="8736145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34680926" name="Google Shape;740;p69"/>
          <p:cNvSpPr txBox="1"/>
          <p:nvPr>
            <p:ph type="body" idx="25"/>
          </p:nvPr>
        </p:nvSpPr>
        <p:spPr bwMode="auto">
          <a:xfrm>
            <a:off x="1948806" y="5323574"/>
            <a:ext cx="1656794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03192837" name="Google Shape;741;p69"/>
          <p:cNvSpPr txBox="1"/>
          <p:nvPr>
            <p:ph type="body" idx="26"/>
          </p:nvPr>
        </p:nvSpPr>
        <p:spPr bwMode="auto">
          <a:xfrm>
            <a:off x="3937930" y="5323574"/>
            <a:ext cx="1656794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4027772" name="Google Shape;742;p69"/>
          <p:cNvSpPr txBox="1"/>
          <p:nvPr>
            <p:ph type="body" idx="27"/>
          </p:nvPr>
        </p:nvSpPr>
        <p:spPr bwMode="auto">
          <a:xfrm>
            <a:off x="5934397" y="5323574"/>
            <a:ext cx="1656794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97559138" name="Google Shape;743;p69"/>
          <p:cNvSpPr txBox="1"/>
          <p:nvPr>
            <p:ph type="body" idx="28"/>
          </p:nvPr>
        </p:nvSpPr>
        <p:spPr bwMode="auto">
          <a:xfrm>
            <a:off x="7921226" y="5323574"/>
            <a:ext cx="1656794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1483168" name="Google Shape;744;p69"/>
          <p:cNvSpPr/>
          <p:nvPr>
            <p:ph type="pic" idx="29"/>
          </p:nvPr>
        </p:nvSpPr>
        <p:spPr bwMode="auto">
          <a:xfrm>
            <a:off x="9911317" y="1997734"/>
            <a:ext cx="1045375" cy="104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20341817" name="Google Shape;745;p69"/>
          <p:cNvSpPr txBox="1"/>
          <p:nvPr>
            <p:ph type="body" idx="30"/>
          </p:nvPr>
        </p:nvSpPr>
        <p:spPr bwMode="auto">
          <a:xfrm>
            <a:off x="9911318" y="3237917"/>
            <a:ext cx="165679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73243479" name="Google Shape;746;p69"/>
          <p:cNvSpPr txBox="1"/>
          <p:nvPr>
            <p:ph type="body" idx="31"/>
          </p:nvPr>
        </p:nvSpPr>
        <p:spPr bwMode="auto">
          <a:xfrm>
            <a:off x="9911318" y="3719462"/>
            <a:ext cx="1656794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21400329" name="Google Shape;747;p69"/>
          <p:cNvSpPr txBox="1"/>
          <p:nvPr>
            <p:ph type="body" idx="32"/>
          </p:nvPr>
        </p:nvSpPr>
        <p:spPr bwMode="auto">
          <a:xfrm>
            <a:off x="9911317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26616291" name="Google Shape;748;p69"/>
          <p:cNvSpPr txBox="1"/>
          <p:nvPr>
            <p:ph type="body" idx="33"/>
          </p:nvPr>
        </p:nvSpPr>
        <p:spPr bwMode="auto">
          <a:xfrm>
            <a:off x="10726237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44270831" name="Google Shape;749;p69"/>
          <p:cNvSpPr txBox="1"/>
          <p:nvPr>
            <p:ph type="body" idx="34"/>
          </p:nvPr>
        </p:nvSpPr>
        <p:spPr bwMode="auto">
          <a:xfrm>
            <a:off x="9911318" y="5323574"/>
            <a:ext cx="1656794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9680258" name="Google Shape;750;p69"/>
          <p:cNvSpPr txBox="1"/>
          <p:nvPr>
            <p:ph type="body" idx="35"/>
          </p:nvPr>
        </p:nvSpPr>
        <p:spPr bwMode="auto">
          <a:xfrm>
            <a:off x="623887" y="3719462"/>
            <a:ext cx="1117827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12530311" name="Google Shape;751;p69"/>
          <p:cNvSpPr txBox="1"/>
          <p:nvPr>
            <p:ph type="body" idx="36"/>
          </p:nvPr>
        </p:nvSpPr>
        <p:spPr bwMode="auto">
          <a:xfrm>
            <a:off x="623887" y="4679630"/>
            <a:ext cx="1117827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56409062" name="Google Shape;752;p69"/>
          <p:cNvSpPr txBox="1"/>
          <p:nvPr>
            <p:ph type="body" idx="37"/>
          </p:nvPr>
        </p:nvSpPr>
        <p:spPr bwMode="auto">
          <a:xfrm>
            <a:off x="623887" y="5323574"/>
            <a:ext cx="1117827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am 8" preserve="0" showMasterPhAnim="0" showMasterSp="1" userDrawn="1">
  <p:cSld name="Team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823392" name="Google Shape;754;p70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8764595" name="Google Shape;755;p70"/>
          <p:cNvSpPr txBox="1"/>
          <p:nvPr>
            <p:ph type="title"/>
          </p:nvPr>
        </p:nvSpPr>
        <p:spPr bwMode="auto">
          <a:xfrm>
            <a:off x="623887" y="2149055"/>
            <a:ext cx="3235191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6795258" name="Google Shape;756;p70"/>
          <p:cNvSpPr txBox="1"/>
          <p:nvPr>
            <p:ph type="body" idx="1"/>
          </p:nvPr>
        </p:nvSpPr>
        <p:spPr bwMode="auto">
          <a:xfrm>
            <a:off x="623888" y="605981"/>
            <a:ext cx="323519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40858334" name="Google Shape;757;p70"/>
          <p:cNvSpPr txBox="1"/>
          <p:nvPr>
            <p:ph type="body" idx="2"/>
          </p:nvPr>
        </p:nvSpPr>
        <p:spPr bwMode="auto">
          <a:xfrm>
            <a:off x="4191481" y="2302054"/>
            <a:ext cx="167513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4754775" name="Google Shape;758;p70"/>
          <p:cNvSpPr txBox="1"/>
          <p:nvPr>
            <p:ph type="body" idx="3"/>
          </p:nvPr>
        </p:nvSpPr>
        <p:spPr bwMode="auto">
          <a:xfrm>
            <a:off x="4191481" y="2601387"/>
            <a:ext cx="167513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93455326" name="Google Shape;759;p70"/>
          <p:cNvSpPr txBox="1"/>
          <p:nvPr>
            <p:ph type="body" idx="4"/>
          </p:nvPr>
        </p:nvSpPr>
        <p:spPr bwMode="auto">
          <a:xfrm>
            <a:off x="623888" y="3809532"/>
            <a:ext cx="2925224" cy="175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51303777" name="Google Shape;760;p70"/>
          <p:cNvSpPr txBox="1"/>
          <p:nvPr>
            <p:ph type="body" idx="5"/>
          </p:nvPr>
        </p:nvSpPr>
        <p:spPr bwMode="auto">
          <a:xfrm>
            <a:off x="6015757" y="2302054"/>
            <a:ext cx="167513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4380841" name="Google Shape;761;p70"/>
          <p:cNvSpPr txBox="1"/>
          <p:nvPr>
            <p:ph type="body" idx="6"/>
          </p:nvPr>
        </p:nvSpPr>
        <p:spPr bwMode="auto">
          <a:xfrm>
            <a:off x="6015757" y="2601387"/>
            <a:ext cx="167513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98950747" name="Google Shape;762;p70"/>
          <p:cNvSpPr txBox="1"/>
          <p:nvPr>
            <p:ph type="body" idx="7"/>
          </p:nvPr>
        </p:nvSpPr>
        <p:spPr bwMode="auto">
          <a:xfrm>
            <a:off x="7840033" y="2302054"/>
            <a:ext cx="167513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43398274" name="Google Shape;763;p70"/>
          <p:cNvSpPr txBox="1"/>
          <p:nvPr>
            <p:ph type="body" idx="8"/>
          </p:nvPr>
        </p:nvSpPr>
        <p:spPr bwMode="auto">
          <a:xfrm>
            <a:off x="7840033" y="2601387"/>
            <a:ext cx="167513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7955360" name="Google Shape;764;p70"/>
          <p:cNvSpPr txBox="1"/>
          <p:nvPr>
            <p:ph type="body" idx="9"/>
          </p:nvPr>
        </p:nvSpPr>
        <p:spPr bwMode="auto">
          <a:xfrm>
            <a:off x="9664309" y="2302054"/>
            <a:ext cx="167513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06523348" name="Google Shape;765;p70"/>
          <p:cNvSpPr txBox="1"/>
          <p:nvPr>
            <p:ph type="body" idx="13"/>
          </p:nvPr>
        </p:nvSpPr>
        <p:spPr bwMode="auto">
          <a:xfrm>
            <a:off x="9664309" y="2601387"/>
            <a:ext cx="167513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9831113" name="Google Shape;766;p70"/>
          <p:cNvSpPr txBox="1"/>
          <p:nvPr>
            <p:ph type="body" idx="14"/>
          </p:nvPr>
        </p:nvSpPr>
        <p:spPr bwMode="auto">
          <a:xfrm>
            <a:off x="4191481" y="4897769"/>
            <a:ext cx="167513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73767775" name="Google Shape;767;p70"/>
          <p:cNvSpPr txBox="1"/>
          <p:nvPr>
            <p:ph type="body" idx="15"/>
          </p:nvPr>
        </p:nvSpPr>
        <p:spPr bwMode="auto">
          <a:xfrm>
            <a:off x="4191481" y="5197102"/>
            <a:ext cx="167513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24151544" name="Google Shape;768;p70"/>
          <p:cNvSpPr txBox="1"/>
          <p:nvPr>
            <p:ph type="body" idx="16"/>
          </p:nvPr>
        </p:nvSpPr>
        <p:spPr bwMode="auto">
          <a:xfrm>
            <a:off x="6015757" y="4897769"/>
            <a:ext cx="167513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70695633" name="Google Shape;769;p70"/>
          <p:cNvSpPr txBox="1"/>
          <p:nvPr>
            <p:ph type="body" idx="17"/>
          </p:nvPr>
        </p:nvSpPr>
        <p:spPr bwMode="auto">
          <a:xfrm>
            <a:off x="6015757" y="5197102"/>
            <a:ext cx="167513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59106629" name="Google Shape;770;p70"/>
          <p:cNvSpPr txBox="1"/>
          <p:nvPr>
            <p:ph type="body" idx="18"/>
          </p:nvPr>
        </p:nvSpPr>
        <p:spPr bwMode="auto">
          <a:xfrm>
            <a:off x="7840033" y="4897769"/>
            <a:ext cx="167513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26375512" name="Google Shape;771;p70"/>
          <p:cNvSpPr txBox="1"/>
          <p:nvPr>
            <p:ph type="body" idx="19"/>
          </p:nvPr>
        </p:nvSpPr>
        <p:spPr bwMode="auto">
          <a:xfrm>
            <a:off x="7840033" y="5197102"/>
            <a:ext cx="167513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37657025" name="Google Shape;772;p70"/>
          <p:cNvSpPr txBox="1"/>
          <p:nvPr>
            <p:ph type="body" idx="20"/>
          </p:nvPr>
        </p:nvSpPr>
        <p:spPr bwMode="auto">
          <a:xfrm>
            <a:off x="9664309" y="4897769"/>
            <a:ext cx="167513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3944575" name="Google Shape;773;p70"/>
          <p:cNvSpPr txBox="1"/>
          <p:nvPr>
            <p:ph type="body" idx="21"/>
          </p:nvPr>
        </p:nvSpPr>
        <p:spPr bwMode="auto">
          <a:xfrm>
            <a:off x="9664309" y="5197102"/>
            <a:ext cx="167513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3165412" name="Google Shape;774;p70"/>
          <p:cNvSpPr/>
          <p:nvPr>
            <p:ph type="pic" idx="22"/>
          </p:nvPr>
        </p:nvSpPr>
        <p:spPr bwMode="auto">
          <a:xfrm>
            <a:off x="4457235" y="909222"/>
            <a:ext cx="1143622" cy="11436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97273309" name="Google Shape;775;p70"/>
          <p:cNvSpPr/>
          <p:nvPr>
            <p:ph type="pic" idx="23"/>
          </p:nvPr>
        </p:nvSpPr>
        <p:spPr bwMode="auto">
          <a:xfrm>
            <a:off x="6281511" y="909222"/>
            <a:ext cx="1143622" cy="11436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681993968" name="Google Shape;776;p70"/>
          <p:cNvSpPr/>
          <p:nvPr>
            <p:ph type="pic" idx="24"/>
          </p:nvPr>
        </p:nvSpPr>
        <p:spPr bwMode="auto">
          <a:xfrm>
            <a:off x="8105787" y="909222"/>
            <a:ext cx="1143622" cy="11436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11351" name="Google Shape;777;p70"/>
          <p:cNvSpPr/>
          <p:nvPr>
            <p:ph type="pic" idx="25"/>
          </p:nvPr>
        </p:nvSpPr>
        <p:spPr bwMode="auto">
          <a:xfrm>
            <a:off x="9930063" y="909222"/>
            <a:ext cx="1143622" cy="11436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369729875" name="Google Shape;778;p70"/>
          <p:cNvSpPr/>
          <p:nvPr>
            <p:ph type="pic" idx="26"/>
          </p:nvPr>
        </p:nvSpPr>
        <p:spPr bwMode="auto">
          <a:xfrm>
            <a:off x="4457235" y="3502397"/>
            <a:ext cx="1143622" cy="11436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490562742" name="Google Shape;779;p70"/>
          <p:cNvSpPr/>
          <p:nvPr>
            <p:ph type="pic" idx="27"/>
          </p:nvPr>
        </p:nvSpPr>
        <p:spPr bwMode="auto">
          <a:xfrm>
            <a:off x="6281511" y="3502397"/>
            <a:ext cx="1143622" cy="11436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77990009" name="Google Shape;780;p70"/>
          <p:cNvSpPr/>
          <p:nvPr>
            <p:ph type="pic" idx="28"/>
          </p:nvPr>
        </p:nvSpPr>
        <p:spPr bwMode="auto">
          <a:xfrm>
            <a:off x="8105787" y="3502397"/>
            <a:ext cx="1143622" cy="11436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38376019" name="Google Shape;781;p70"/>
          <p:cNvSpPr/>
          <p:nvPr>
            <p:ph type="pic" idx="29"/>
          </p:nvPr>
        </p:nvSpPr>
        <p:spPr bwMode="auto">
          <a:xfrm>
            <a:off x="9930063" y="3502397"/>
            <a:ext cx="1143622" cy="11436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eal 2" preserve="0" showMasterPhAnim="0" showMasterSp="1" userDrawn="1">
  <p:cSld name="Deal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363845" name="Google Shape;783;p71"/>
          <p:cNvSpPr txBox="1"/>
          <p:nvPr>
            <p:ph type="body" idx="1"/>
          </p:nvPr>
        </p:nvSpPr>
        <p:spPr bwMode="auto">
          <a:xfrm>
            <a:off x="3987006" y="2145734"/>
            <a:ext cx="4217989" cy="3742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80696846" name="Google Shape;784;p71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5629368" name="Google Shape;785;p71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3675872" name="Google Shape;786;p71"/>
          <p:cNvSpPr txBox="1"/>
          <p:nvPr>
            <p:ph type="body" idx="2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98480215" name="Google Shape;787;p71"/>
          <p:cNvSpPr txBox="1"/>
          <p:nvPr>
            <p:ph type="body" idx="3"/>
          </p:nvPr>
        </p:nvSpPr>
        <p:spPr bwMode="auto">
          <a:xfrm>
            <a:off x="5008423" y="3647863"/>
            <a:ext cx="217515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 b="0" i="0">
                <a:solidFill>
                  <a:schemeClr val="accen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90238481" name="Google Shape;788;p71"/>
          <p:cNvSpPr txBox="1"/>
          <p:nvPr>
            <p:ph type="body" idx="4"/>
          </p:nvPr>
        </p:nvSpPr>
        <p:spPr bwMode="auto">
          <a:xfrm>
            <a:off x="1968495" y="3648167"/>
            <a:ext cx="1549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0" i="0">
                <a:solidFill>
                  <a:schemeClr val="dk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90755103" name="Google Shape;789;p71"/>
          <p:cNvSpPr txBox="1"/>
          <p:nvPr>
            <p:ph type="body" idx="5"/>
          </p:nvPr>
        </p:nvSpPr>
        <p:spPr bwMode="auto">
          <a:xfrm>
            <a:off x="1968495" y="4268075"/>
            <a:ext cx="1549750" cy="114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85213556" name="Google Shape;790;p71"/>
          <p:cNvSpPr txBox="1"/>
          <p:nvPr>
            <p:ph type="body" idx="6"/>
          </p:nvPr>
        </p:nvSpPr>
        <p:spPr bwMode="auto">
          <a:xfrm>
            <a:off x="8538630" y="3648167"/>
            <a:ext cx="1549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0" i="0">
                <a:solidFill>
                  <a:schemeClr val="dk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3338812" name="Google Shape;791;p71"/>
          <p:cNvSpPr txBox="1"/>
          <p:nvPr>
            <p:ph type="body" idx="7"/>
          </p:nvPr>
        </p:nvSpPr>
        <p:spPr bwMode="auto">
          <a:xfrm>
            <a:off x="8538630" y="4268075"/>
            <a:ext cx="1549750" cy="114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4105371" name="Google Shape;792;p71"/>
          <p:cNvSpPr txBox="1"/>
          <p:nvPr>
            <p:ph type="body" idx="8"/>
          </p:nvPr>
        </p:nvSpPr>
        <p:spPr bwMode="auto">
          <a:xfrm>
            <a:off x="3191496" y="1865793"/>
            <a:ext cx="1549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0" i="0">
                <a:solidFill>
                  <a:schemeClr val="dk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50230830" name="Google Shape;793;p71"/>
          <p:cNvSpPr txBox="1"/>
          <p:nvPr>
            <p:ph type="body" idx="9"/>
          </p:nvPr>
        </p:nvSpPr>
        <p:spPr bwMode="auto">
          <a:xfrm>
            <a:off x="3191496" y="2485701"/>
            <a:ext cx="1549750" cy="114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eal 3" preserve="0" showMasterPhAnim="0" showMasterSp="1" userDrawn="1">
  <p:cSld name="Deal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4939547" name="Google Shape;795;p72"/>
          <p:cNvSpPr/>
          <p:nvPr/>
        </p:nvSpPr>
        <p:spPr bwMode="auto">
          <a:xfrm>
            <a:off x="2" y="2"/>
            <a:ext cx="12191999" cy="3428997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462374038" name="Google Shape;796;p72"/>
          <p:cNvSpPr/>
          <p:nvPr/>
        </p:nvSpPr>
        <p:spPr bwMode="auto">
          <a:xfrm>
            <a:off x="623887" y="1825624"/>
            <a:ext cx="10944228" cy="43402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chemeClr val="dk2">
                <a:alpha val="8235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2"/>
              </a:solidFill>
              <a:latin typeface="Montserrat ExtraLight"/>
              <a:ea typeface="Montserrat ExtraLight"/>
              <a:cs typeface="Montserrat ExtraLight"/>
            </a:endParaRPr>
          </a:p>
        </p:txBody>
      </p:sp>
      <p:sp>
        <p:nvSpPr>
          <p:cNvPr id="916534103" name="Google Shape;797;p72"/>
          <p:cNvSpPr txBox="1"/>
          <p:nvPr>
            <p:ph type="body" idx="1"/>
          </p:nvPr>
        </p:nvSpPr>
        <p:spPr bwMode="auto">
          <a:xfrm>
            <a:off x="6719885" y="2476500"/>
            <a:ext cx="4217989" cy="3081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1707866609" name="Google Shape;798;p72"/>
          <p:cNvCxnSpPr/>
          <p:nvPr/>
        </p:nvCxnSpPr>
        <p:spPr bwMode="auto">
          <a:xfrm>
            <a:off x="6096000" y="2433583"/>
            <a:ext cx="0" cy="3124307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02636789" name="Google Shape;799;p72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7069943" name="Google Shape;800;p72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28373205" name="Google Shape;801;p72"/>
          <p:cNvSpPr txBox="1"/>
          <p:nvPr>
            <p:ph type="body" idx="2"/>
          </p:nvPr>
        </p:nvSpPr>
        <p:spPr bwMode="auto">
          <a:xfrm>
            <a:off x="623888" y="605981"/>
            <a:ext cx="5472112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4674525" name="Google Shape;802;p72"/>
          <p:cNvSpPr txBox="1"/>
          <p:nvPr>
            <p:ph type="body" idx="3"/>
          </p:nvPr>
        </p:nvSpPr>
        <p:spPr bwMode="auto">
          <a:xfrm>
            <a:off x="1203779" y="2476979"/>
            <a:ext cx="4311250" cy="148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3524233" name="Google Shape;803;p72"/>
          <p:cNvSpPr txBox="1"/>
          <p:nvPr>
            <p:ph type="body" idx="4"/>
          </p:nvPr>
        </p:nvSpPr>
        <p:spPr bwMode="auto">
          <a:xfrm>
            <a:off x="7741302" y="3678615"/>
            <a:ext cx="2175154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eal 4" preserve="0" showMasterPhAnim="0" showMasterSp="1" userDrawn="1">
  <p:cSld name="Deal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78123" name="Google Shape;805;p73"/>
          <p:cNvSpPr/>
          <p:nvPr/>
        </p:nvSpPr>
        <p:spPr bwMode="auto">
          <a:xfrm>
            <a:off x="2" y="2"/>
            <a:ext cx="12191999" cy="3428997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1382755418" name="Google Shape;806;p73"/>
          <p:cNvSpPr/>
          <p:nvPr/>
        </p:nvSpPr>
        <p:spPr bwMode="auto">
          <a:xfrm>
            <a:off x="623887" y="1825624"/>
            <a:ext cx="10944228" cy="43402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chemeClr val="dk2">
                <a:alpha val="8235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2"/>
              </a:solidFill>
              <a:latin typeface="Montserrat ExtraLight"/>
              <a:ea typeface="Montserrat ExtraLight"/>
              <a:cs typeface="Montserrat ExtraLight"/>
            </a:endParaRPr>
          </a:p>
        </p:txBody>
      </p:sp>
      <p:sp>
        <p:nvSpPr>
          <p:cNvPr id="2060359810" name="Google Shape;807;p73"/>
          <p:cNvSpPr txBox="1"/>
          <p:nvPr>
            <p:ph type="body" idx="1"/>
          </p:nvPr>
        </p:nvSpPr>
        <p:spPr bwMode="auto">
          <a:xfrm>
            <a:off x="6719885" y="2476500"/>
            <a:ext cx="4217989" cy="3081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1243990616" name="Google Shape;808;p73"/>
          <p:cNvCxnSpPr/>
          <p:nvPr/>
        </p:nvCxnSpPr>
        <p:spPr bwMode="auto">
          <a:xfrm>
            <a:off x="6096000" y="2433583"/>
            <a:ext cx="0" cy="3124307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32889679" name="Google Shape;809;p73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9913316" name="Google Shape;810;p73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59671538" name="Google Shape;811;p73"/>
          <p:cNvSpPr txBox="1"/>
          <p:nvPr>
            <p:ph type="body" idx="2"/>
          </p:nvPr>
        </p:nvSpPr>
        <p:spPr bwMode="auto">
          <a:xfrm>
            <a:off x="623888" y="605981"/>
            <a:ext cx="5472112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80136405" name="Google Shape;812;p73"/>
          <p:cNvSpPr txBox="1"/>
          <p:nvPr>
            <p:ph type="body" idx="3"/>
          </p:nvPr>
        </p:nvSpPr>
        <p:spPr bwMode="auto">
          <a:xfrm>
            <a:off x="1390420" y="3024287"/>
            <a:ext cx="20567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92960721" name="Google Shape;813;p73"/>
          <p:cNvSpPr txBox="1"/>
          <p:nvPr>
            <p:ph type="body" idx="4"/>
          </p:nvPr>
        </p:nvSpPr>
        <p:spPr bwMode="auto">
          <a:xfrm>
            <a:off x="7741302" y="3678615"/>
            <a:ext cx="2175154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0230634" name="Google Shape;814;p73"/>
          <p:cNvSpPr txBox="1"/>
          <p:nvPr>
            <p:ph type="body" idx="5"/>
          </p:nvPr>
        </p:nvSpPr>
        <p:spPr bwMode="auto">
          <a:xfrm>
            <a:off x="1390420" y="2786015"/>
            <a:ext cx="205675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54148459" name="Google Shape;815;p73"/>
          <p:cNvSpPr txBox="1"/>
          <p:nvPr>
            <p:ph type="body" idx="6"/>
          </p:nvPr>
        </p:nvSpPr>
        <p:spPr bwMode="auto">
          <a:xfrm>
            <a:off x="1390420" y="4000493"/>
            <a:ext cx="20567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44770403" name="Google Shape;816;p73"/>
          <p:cNvSpPr txBox="1"/>
          <p:nvPr>
            <p:ph type="body" idx="7"/>
          </p:nvPr>
        </p:nvSpPr>
        <p:spPr bwMode="auto">
          <a:xfrm>
            <a:off x="1390420" y="3762221"/>
            <a:ext cx="205675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25028827" name="Google Shape;817;p73"/>
          <p:cNvSpPr txBox="1"/>
          <p:nvPr>
            <p:ph type="body" idx="8"/>
          </p:nvPr>
        </p:nvSpPr>
        <p:spPr bwMode="auto">
          <a:xfrm>
            <a:off x="1390420" y="4963495"/>
            <a:ext cx="20567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85785552" name="Google Shape;818;p73"/>
          <p:cNvSpPr txBox="1"/>
          <p:nvPr>
            <p:ph type="body" idx="9"/>
          </p:nvPr>
        </p:nvSpPr>
        <p:spPr bwMode="auto">
          <a:xfrm>
            <a:off x="1390420" y="4725224"/>
            <a:ext cx="205675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21783" name="Google Shape;819;p73"/>
          <p:cNvSpPr txBox="1"/>
          <p:nvPr>
            <p:ph type="body" idx="13"/>
          </p:nvPr>
        </p:nvSpPr>
        <p:spPr bwMode="auto">
          <a:xfrm>
            <a:off x="4043391" y="3024287"/>
            <a:ext cx="14022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77821200" name="Google Shape;820;p73"/>
          <p:cNvSpPr txBox="1"/>
          <p:nvPr>
            <p:ph type="body" idx="14"/>
          </p:nvPr>
        </p:nvSpPr>
        <p:spPr bwMode="auto">
          <a:xfrm>
            <a:off x="4043391" y="2786015"/>
            <a:ext cx="1402225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9438642" name="Google Shape;821;p73"/>
          <p:cNvSpPr txBox="1"/>
          <p:nvPr>
            <p:ph type="body" idx="15"/>
          </p:nvPr>
        </p:nvSpPr>
        <p:spPr bwMode="auto">
          <a:xfrm>
            <a:off x="4043391" y="4000493"/>
            <a:ext cx="14022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74782974" name="Google Shape;822;p73"/>
          <p:cNvSpPr txBox="1"/>
          <p:nvPr>
            <p:ph type="body" idx="16"/>
          </p:nvPr>
        </p:nvSpPr>
        <p:spPr bwMode="auto">
          <a:xfrm>
            <a:off x="4043391" y="3762221"/>
            <a:ext cx="1402225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6523838" name="Google Shape;823;p73"/>
          <p:cNvSpPr txBox="1"/>
          <p:nvPr>
            <p:ph type="body" idx="17"/>
          </p:nvPr>
        </p:nvSpPr>
        <p:spPr bwMode="auto">
          <a:xfrm>
            <a:off x="4043391" y="4963495"/>
            <a:ext cx="14022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586050" name="Google Shape;824;p73"/>
          <p:cNvSpPr txBox="1"/>
          <p:nvPr>
            <p:ph type="body" idx="18"/>
          </p:nvPr>
        </p:nvSpPr>
        <p:spPr bwMode="auto">
          <a:xfrm>
            <a:off x="4043391" y="4725224"/>
            <a:ext cx="1402225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Roadmap 2" preserve="0" showMasterPhAnim="0" showMasterSp="1" userDrawn="1">
  <p:cSld name="Roadmap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517087" name="Google Shape;826;p74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2195929" name="Google Shape;827;p74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98864909" name="Google Shape;828;p74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1561611672" name="Google Shape;829;p74"/>
          <p:cNvCxnSpPr/>
          <p:nvPr/>
        </p:nvCxnSpPr>
        <p:spPr bwMode="auto">
          <a:xfrm>
            <a:off x="8857468" y="7114236"/>
            <a:ext cx="2380571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95743500" name="Google Shape;830;p74"/>
          <p:cNvSpPr txBox="1"/>
          <p:nvPr>
            <p:ph type="body" idx="2"/>
          </p:nvPr>
        </p:nvSpPr>
        <p:spPr bwMode="auto">
          <a:xfrm>
            <a:off x="623888" y="2850706"/>
            <a:ext cx="1978635" cy="173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88800600" name="Google Shape;831;p74"/>
          <p:cNvSpPr txBox="1"/>
          <p:nvPr>
            <p:ph type="body" idx="3"/>
          </p:nvPr>
        </p:nvSpPr>
        <p:spPr bwMode="auto">
          <a:xfrm>
            <a:off x="623887" y="2246036"/>
            <a:ext cx="197863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21893458" name="Google Shape;832;p74"/>
          <p:cNvSpPr txBox="1"/>
          <p:nvPr>
            <p:ph type="body" idx="4"/>
          </p:nvPr>
        </p:nvSpPr>
        <p:spPr bwMode="auto">
          <a:xfrm>
            <a:off x="2865285" y="2850706"/>
            <a:ext cx="1978635" cy="173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8407022" name="Google Shape;833;p74"/>
          <p:cNvSpPr txBox="1"/>
          <p:nvPr>
            <p:ph type="body" idx="5"/>
          </p:nvPr>
        </p:nvSpPr>
        <p:spPr bwMode="auto">
          <a:xfrm>
            <a:off x="2865285" y="2246036"/>
            <a:ext cx="197863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48546803" name="Google Shape;834;p74"/>
          <p:cNvSpPr txBox="1"/>
          <p:nvPr>
            <p:ph type="body" idx="6"/>
          </p:nvPr>
        </p:nvSpPr>
        <p:spPr bwMode="auto">
          <a:xfrm>
            <a:off x="5106683" y="2850706"/>
            <a:ext cx="1978635" cy="173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5071772" name="Google Shape;835;p74"/>
          <p:cNvSpPr txBox="1"/>
          <p:nvPr>
            <p:ph type="body" idx="7"/>
          </p:nvPr>
        </p:nvSpPr>
        <p:spPr bwMode="auto">
          <a:xfrm>
            <a:off x="5106683" y="2246036"/>
            <a:ext cx="197863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52344506" name="Google Shape;836;p74"/>
          <p:cNvSpPr txBox="1"/>
          <p:nvPr>
            <p:ph type="body" idx="8"/>
          </p:nvPr>
        </p:nvSpPr>
        <p:spPr bwMode="auto">
          <a:xfrm>
            <a:off x="7348081" y="2850706"/>
            <a:ext cx="1978635" cy="173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1938709" name="Google Shape;837;p74"/>
          <p:cNvSpPr txBox="1"/>
          <p:nvPr>
            <p:ph type="body" idx="9"/>
          </p:nvPr>
        </p:nvSpPr>
        <p:spPr bwMode="auto">
          <a:xfrm>
            <a:off x="7348081" y="2246036"/>
            <a:ext cx="197863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4831669" name="Google Shape;838;p74"/>
          <p:cNvSpPr txBox="1"/>
          <p:nvPr>
            <p:ph type="body" idx="13"/>
          </p:nvPr>
        </p:nvSpPr>
        <p:spPr bwMode="auto">
          <a:xfrm>
            <a:off x="9589477" y="2850706"/>
            <a:ext cx="1978635" cy="173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91689677" name="Google Shape;839;p74"/>
          <p:cNvSpPr txBox="1"/>
          <p:nvPr>
            <p:ph type="body" idx="14"/>
          </p:nvPr>
        </p:nvSpPr>
        <p:spPr bwMode="auto">
          <a:xfrm>
            <a:off x="9589477" y="2246036"/>
            <a:ext cx="197863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Roadmap 4" preserve="0" showMasterPhAnim="0" showMasterSp="1" userDrawn="1">
  <p:cSld name="Roadmap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966682" name="Google Shape;841;p75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8106476" name="Google Shape;842;p75"/>
          <p:cNvSpPr txBox="1"/>
          <p:nvPr>
            <p:ph type="title"/>
          </p:nvPr>
        </p:nvSpPr>
        <p:spPr bwMode="auto">
          <a:xfrm>
            <a:off x="623887" y="2985801"/>
            <a:ext cx="3731849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976116" name="Google Shape;843;p75"/>
          <p:cNvSpPr txBox="1"/>
          <p:nvPr>
            <p:ph type="body" idx="1"/>
          </p:nvPr>
        </p:nvSpPr>
        <p:spPr bwMode="auto">
          <a:xfrm>
            <a:off x="623888" y="605981"/>
            <a:ext cx="3731845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382388" name="Google Shape;844;p75"/>
          <p:cNvSpPr txBox="1"/>
          <p:nvPr>
            <p:ph type="body" idx="2"/>
          </p:nvPr>
        </p:nvSpPr>
        <p:spPr bwMode="auto">
          <a:xfrm>
            <a:off x="8403725" y="1346456"/>
            <a:ext cx="100093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83490298" name="Google Shape;845;p75"/>
          <p:cNvSpPr txBox="1"/>
          <p:nvPr>
            <p:ph type="body" idx="3"/>
          </p:nvPr>
        </p:nvSpPr>
        <p:spPr bwMode="auto">
          <a:xfrm>
            <a:off x="5379006" y="1065738"/>
            <a:ext cx="2500209" cy="8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1651032734" name="Google Shape;846;p75"/>
          <p:cNvCxnSpPr/>
          <p:nvPr/>
        </p:nvCxnSpPr>
        <p:spPr bwMode="auto">
          <a:xfrm>
            <a:off x="8141470" y="0"/>
            <a:ext cx="0" cy="68580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2633943" name="Google Shape;847;p75"/>
          <p:cNvSpPr txBox="1"/>
          <p:nvPr>
            <p:ph type="body" idx="4"/>
          </p:nvPr>
        </p:nvSpPr>
        <p:spPr bwMode="auto">
          <a:xfrm>
            <a:off x="8403725" y="3959036"/>
            <a:ext cx="100093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3731875" name="Google Shape;848;p75"/>
          <p:cNvSpPr txBox="1"/>
          <p:nvPr>
            <p:ph type="body" idx="5"/>
          </p:nvPr>
        </p:nvSpPr>
        <p:spPr bwMode="auto">
          <a:xfrm>
            <a:off x="5379006" y="3678318"/>
            <a:ext cx="2500209" cy="8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51450427" name="Google Shape;849;p75"/>
          <p:cNvSpPr txBox="1"/>
          <p:nvPr>
            <p:ph type="body" idx="6"/>
          </p:nvPr>
        </p:nvSpPr>
        <p:spPr bwMode="auto">
          <a:xfrm>
            <a:off x="6878284" y="2652746"/>
            <a:ext cx="100093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2602132" name="Google Shape;850;p75"/>
          <p:cNvSpPr txBox="1"/>
          <p:nvPr>
            <p:ph type="body" idx="7"/>
          </p:nvPr>
        </p:nvSpPr>
        <p:spPr bwMode="auto">
          <a:xfrm>
            <a:off x="8403725" y="2372028"/>
            <a:ext cx="2500209" cy="8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85594563" name="Google Shape;851;p75"/>
          <p:cNvSpPr txBox="1"/>
          <p:nvPr>
            <p:ph type="body" idx="8"/>
          </p:nvPr>
        </p:nvSpPr>
        <p:spPr bwMode="auto">
          <a:xfrm>
            <a:off x="6878284" y="5265325"/>
            <a:ext cx="100093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4138102" name="Google Shape;852;p75"/>
          <p:cNvSpPr txBox="1"/>
          <p:nvPr>
            <p:ph type="body" idx="9"/>
          </p:nvPr>
        </p:nvSpPr>
        <p:spPr bwMode="auto">
          <a:xfrm>
            <a:off x="8403725" y="4984607"/>
            <a:ext cx="2500209" cy="8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26260050" name="Google Shape;853;p75"/>
          <p:cNvSpPr/>
          <p:nvPr>
            <p:ph type="media" idx="13"/>
          </p:nvPr>
        </p:nvSpPr>
        <p:spPr bwMode="auto">
          <a:xfrm>
            <a:off x="8068918" y="1397566"/>
            <a:ext cx="144000" cy="1440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R="0" lvl="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3pPr>
            <a:lvl4pPr marR="0" lvl="3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4pPr>
            <a:lvl5pPr marR="0" lvl="4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561983045" name="Google Shape;854;p75"/>
          <p:cNvSpPr/>
          <p:nvPr>
            <p:ph type="media" idx="14"/>
          </p:nvPr>
        </p:nvSpPr>
        <p:spPr bwMode="auto">
          <a:xfrm>
            <a:off x="8068918" y="2703856"/>
            <a:ext cx="144000" cy="1440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R="0" lvl="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3pPr>
            <a:lvl4pPr marR="0" lvl="3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4pPr>
            <a:lvl5pPr marR="0" lvl="4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97717721" name="Google Shape;855;p75"/>
          <p:cNvSpPr/>
          <p:nvPr>
            <p:ph type="media" idx="15"/>
          </p:nvPr>
        </p:nvSpPr>
        <p:spPr bwMode="auto">
          <a:xfrm>
            <a:off x="8068918" y="4010146"/>
            <a:ext cx="144000" cy="1440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R="0" lvl="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3pPr>
            <a:lvl4pPr marR="0" lvl="3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4pPr>
            <a:lvl5pPr marR="0" lvl="4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7697313" name="Google Shape;856;p75"/>
          <p:cNvSpPr/>
          <p:nvPr>
            <p:ph type="media" idx="16"/>
          </p:nvPr>
        </p:nvSpPr>
        <p:spPr bwMode="auto">
          <a:xfrm>
            <a:off x="8068918" y="5316435"/>
            <a:ext cx="144000" cy="1440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R="0" lvl="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3pPr>
            <a:lvl4pPr marR="0" lvl="3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4pPr>
            <a:lvl5pPr marR="0" lvl="4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Roadmap 5" preserve="0" showMasterPhAnim="0" showMasterSp="1" userDrawn="1">
  <p:cSld name="Roadmap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2037194960" name="Google Shape;858;p76"/>
          <p:cNvCxnSpPr/>
          <p:nvPr/>
        </p:nvCxnSpPr>
        <p:spPr bwMode="auto">
          <a:xfrm>
            <a:off x="8140918" y="0"/>
            <a:ext cx="0" cy="6167655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047005530" name="Google Shape;859;p76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5720162" name="Google Shape;860;p76"/>
          <p:cNvSpPr txBox="1"/>
          <p:nvPr>
            <p:ph type="title"/>
          </p:nvPr>
        </p:nvSpPr>
        <p:spPr bwMode="auto">
          <a:xfrm>
            <a:off x="623887" y="2985801"/>
            <a:ext cx="3731849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99821333" name="Google Shape;861;p76"/>
          <p:cNvSpPr txBox="1"/>
          <p:nvPr>
            <p:ph type="body" idx="1"/>
          </p:nvPr>
        </p:nvSpPr>
        <p:spPr bwMode="auto">
          <a:xfrm>
            <a:off x="623888" y="605981"/>
            <a:ext cx="3731845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7107876" name="Google Shape;862;p76"/>
          <p:cNvSpPr txBox="1"/>
          <p:nvPr>
            <p:ph type="body" idx="2"/>
          </p:nvPr>
        </p:nvSpPr>
        <p:spPr bwMode="auto">
          <a:xfrm>
            <a:off x="8403725" y="1346456"/>
            <a:ext cx="100093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92711435" name="Google Shape;863;p76"/>
          <p:cNvSpPr txBox="1"/>
          <p:nvPr>
            <p:ph type="body" idx="3"/>
          </p:nvPr>
        </p:nvSpPr>
        <p:spPr bwMode="auto">
          <a:xfrm>
            <a:off x="8403725" y="3959036"/>
            <a:ext cx="100093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5215547" name="Google Shape;864;p76"/>
          <p:cNvSpPr txBox="1"/>
          <p:nvPr>
            <p:ph type="body" idx="4"/>
          </p:nvPr>
        </p:nvSpPr>
        <p:spPr bwMode="auto">
          <a:xfrm>
            <a:off x="6878284" y="2652746"/>
            <a:ext cx="100093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3334020" name="Google Shape;865;p76"/>
          <p:cNvSpPr txBox="1"/>
          <p:nvPr>
            <p:ph type="body" idx="5"/>
          </p:nvPr>
        </p:nvSpPr>
        <p:spPr bwMode="auto">
          <a:xfrm>
            <a:off x="6878284" y="5265325"/>
            <a:ext cx="100093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55813515" name="Google Shape;866;p76"/>
          <p:cNvSpPr/>
          <p:nvPr>
            <p:ph type="media" idx="6"/>
          </p:nvPr>
        </p:nvSpPr>
        <p:spPr bwMode="auto">
          <a:xfrm>
            <a:off x="8068918" y="1397566"/>
            <a:ext cx="144000" cy="1440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R="0" lvl="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3pPr>
            <a:lvl4pPr marR="0" lvl="3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4pPr>
            <a:lvl5pPr marR="0" lvl="4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70519178" name="Google Shape;867;p76"/>
          <p:cNvSpPr/>
          <p:nvPr>
            <p:ph type="media" idx="7"/>
          </p:nvPr>
        </p:nvSpPr>
        <p:spPr bwMode="auto">
          <a:xfrm>
            <a:off x="8068918" y="2703856"/>
            <a:ext cx="144000" cy="1440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R="0" lvl="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3pPr>
            <a:lvl4pPr marR="0" lvl="3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4pPr>
            <a:lvl5pPr marR="0" lvl="4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92603856" name="Google Shape;868;p76"/>
          <p:cNvSpPr/>
          <p:nvPr>
            <p:ph type="media" idx="8"/>
          </p:nvPr>
        </p:nvSpPr>
        <p:spPr bwMode="auto">
          <a:xfrm>
            <a:off x="8068918" y="4010146"/>
            <a:ext cx="144000" cy="1440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R="0" lvl="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3pPr>
            <a:lvl4pPr marR="0" lvl="3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4pPr>
            <a:lvl5pPr marR="0" lvl="4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783278410" name="Google Shape;869;p76"/>
          <p:cNvSpPr/>
          <p:nvPr>
            <p:ph type="media" idx="9"/>
          </p:nvPr>
        </p:nvSpPr>
        <p:spPr bwMode="auto">
          <a:xfrm>
            <a:off x="8068918" y="5316435"/>
            <a:ext cx="144000" cy="1440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R="0" lvl="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3pPr>
            <a:lvl4pPr marR="0" lvl="3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4pPr>
            <a:lvl5pPr marR="0" lvl="4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21704122" name="Google Shape;870;p76"/>
          <p:cNvSpPr txBox="1"/>
          <p:nvPr>
            <p:ph type="body" idx="13"/>
          </p:nvPr>
        </p:nvSpPr>
        <p:spPr bwMode="auto">
          <a:xfrm>
            <a:off x="5379006" y="1065738"/>
            <a:ext cx="2500209" cy="8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95597690" name="Google Shape;871;p76"/>
          <p:cNvSpPr txBox="1"/>
          <p:nvPr>
            <p:ph type="body" idx="14"/>
          </p:nvPr>
        </p:nvSpPr>
        <p:spPr bwMode="auto">
          <a:xfrm>
            <a:off x="5379006" y="3678318"/>
            <a:ext cx="2500209" cy="8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36622349" name="Google Shape;872;p76"/>
          <p:cNvSpPr txBox="1"/>
          <p:nvPr>
            <p:ph type="body" idx="15"/>
          </p:nvPr>
        </p:nvSpPr>
        <p:spPr bwMode="auto">
          <a:xfrm>
            <a:off x="8403725" y="2372028"/>
            <a:ext cx="2500209" cy="8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88559746" name="Google Shape;873;p76"/>
          <p:cNvSpPr txBox="1"/>
          <p:nvPr>
            <p:ph type="body" idx="16"/>
          </p:nvPr>
        </p:nvSpPr>
        <p:spPr bwMode="auto">
          <a:xfrm>
            <a:off x="8403725" y="4984607"/>
            <a:ext cx="2500209" cy="8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ision 3" preserve="0" showMasterPhAnim="0" showMasterSp="1" userDrawn="1">
  <p:cSld name="Vision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915133" name="Google Shape;875;p77"/>
          <p:cNvSpPr/>
          <p:nvPr/>
        </p:nvSpPr>
        <p:spPr bwMode="auto">
          <a:xfrm>
            <a:off x="2" y="1"/>
            <a:ext cx="12191999" cy="616584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1019158837" name="Google Shape;876;p77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3248151" name="Google Shape;877;p77"/>
          <p:cNvSpPr txBox="1"/>
          <p:nvPr>
            <p:ph type="body" idx="1"/>
          </p:nvPr>
        </p:nvSpPr>
        <p:spPr bwMode="auto">
          <a:xfrm>
            <a:off x="623888" y="605981"/>
            <a:ext cx="484458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98495961" name="Google Shape;878;p77"/>
          <p:cNvSpPr txBox="1"/>
          <p:nvPr>
            <p:ph type="title"/>
          </p:nvPr>
        </p:nvSpPr>
        <p:spPr bwMode="auto">
          <a:xfrm>
            <a:off x="623888" y="2528927"/>
            <a:ext cx="484458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Light"/>
              <a:buNone/>
              <a:defRPr sz="3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56722120" name="Google Shape;879;p77"/>
          <p:cNvSpPr/>
          <p:nvPr>
            <p:ph type="pic" idx="2"/>
          </p:nvPr>
        </p:nvSpPr>
        <p:spPr bwMode="auto">
          <a:xfrm>
            <a:off x="6096000" y="0"/>
            <a:ext cx="6096000" cy="6165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losing 1" preserve="0" showMasterPhAnim="0" showMasterSp="0" userDrawn="1">
  <p:cSld name="Closing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19661" name="Google Shape;881;p78"/>
          <p:cNvSpPr/>
          <p:nvPr/>
        </p:nvSpPr>
        <p:spPr bwMode="auto">
          <a:xfrm>
            <a:off x="2" y="1"/>
            <a:ext cx="12191999" cy="685799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1625061054" name="Google Shape;882;p78"/>
          <p:cNvSpPr txBox="1"/>
          <p:nvPr>
            <p:ph type="body" idx="1"/>
          </p:nvPr>
        </p:nvSpPr>
        <p:spPr bwMode="auto">
          <a:xfrm>
            <a:off x="4060825" y="5986916"/>
            <a:ext cx="407035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2722448" name="Google Shape;883;p78"/>
          <p:cNvSpPr txBox="1"/>
          <p:nvPr/>
        </p:nvSpPr>
        <p:spPr bwMode="auto">
          <a:xfrm>
            <a:off x="3619501" y="2824843"/>
            <a:ext cx="4953000" cy="1208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/>
            </a:pPr>
            <a:r>
              <a:rPr lang="en-US" sz="6600" b="0" i="0" u="none" strike="noStrike" cap="non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7586449" name="Google Shape;884;p78"/>
          <p:cNvSpPr txBox="1"/>
          <p:nvPr>
            <p:ph type="body" idx="2"/>
          </p:nvPr>
        </p:nvSpPr>
        <p:spPr bwMode="auto">
          <a:xfrm>
            <a:off x="5532667" y="677110"/>
            <a:ext cx="1126666" cy="336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losing 2" preserve="0" showMasterPhAnim="0" showMasterSp="0" userDrawn="1">
  <p:cSld name="Closing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87344" name="Google Shape;886;p79"/>
          <p:cNvSpPr/>
          <p:nvPr/>
        </p:nvSpPr>
        <p:spPr bwMode="auto">
          <a:xfrm>
            <a:off x="2" y="1"/>
            <a:ext cx="12191999" cy="685799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450261149" name="Google Shape;887;p79"/>
          <p:cNvSpPr txBox="1"/>
          <p:nvPr>
            <p:ph type="body" idx="1"/>
          </p:nvPr>
        </p:nvSpPr>
        <p:spPr bwMode="auto">
          <a:xfrm>
            <a:off x="5532667" y="677110"/>
            <a:ext cx="1126666" cy="336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91392248" name="Google Shape;888;p79"/>
          <p:cNvSpPr txBox="1"/>
          <p:nvPr>
            <p:ph type="body" idx="2"/>
          </p:nvPr>
        </p:nvSpPr>
        <p:spPr bwMode="auto">
          <a:xfrm>
            <a:off x="4060825" y="5986916"/>
            <a:ext cx="407035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93315308" name="Google Shape;889;p79"/>
          <p:cNvSpPr txBox="1"/>
          <p:nvPr/>
        </p:nvSpPr>
        <p:spPr bwMode="auto">
          <a:xfrm>
            <a:off x="2154468" y="2947915"/>
            <a:ext cx="3402690" cy="962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/>
            </a:pPr>
            <a:r>
              <a:rPr lang="en-US" sz="4800" b="0" i="0" u="none" strike="noStrike" cap="non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68825377" name="Google Shape;890;p79"/>
          <p:cNvCxnSpPr/>
          <p:nvPr/>
        </p:nvCxnSpPr>
        <p:spPr bwMode="auto">
          <a:xfrm>
            <a:off x="6096000" y="2457246"/>
            <a:ext cx="0" cy="1943509"/>
          </a:xfrm>
          <a:prstGeom prst="straightConnector1">
            <a:avLst/>
          </a:prstGeom>
          <a:noFill/>
          <a:ln w="12700" cap="flat" cmpd="sng">
            <a:solidFill>
              <a:srgbClr val="FBFBFC">
                <a:alpha val="2823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97951466" name="Google Shape;891;p79"/>
          <p:cNvSpPr txBox="1"/>
          <p:nvPr>
            <p:ph type="body" idx="3"/>
          </p:nvPr>
        </p:nvSpPr>
        <p:spPr bwMode="auto">
          <a:xfrm>
            <a:off x="6634841" y="2710053"/>
            <a:ext cx="4000500" cy="1437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losing 3" preserve="0" showMasterPhAnim="0" showMasterSp="0" userDrawn="1">
  <p:cSld name="Closing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160665" name="Google Shape;893;p80"/>
          <p:cNvSpPr txBox="1"/>
          <p:nvPr>
            <p:ph type="body" idx="1"/>
          </p:nvPr>
        </p:nvSpPr>
        <p:spPr bwMode="auto">
          <a:xfrm>
            <a:off x="4060825" y="5986916"/>
            <a:ext cx="407035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 i="0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22268092" name="Google Shape;894;p80"/>
          <p:cNvSpPr txBox="1"/>
          <p:nvPr/>
        </p:nvSpPr>
        <p:spPr bwMode="auto">
          <a:xfrm>
            <a:off x="3537858" y="2947915"/>
            <a:ext cx="5116286" cy="962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/>
            </a:pPr>
            <a:r>
              <a:rPr lang="en-US" sz="6600" b="0" i="0" u="none" strike="noStrike" cap="none">
                <a:solidFill>
                  <a:schemeClr val="accent1"/>
                </a:solidFill>
                <a:latin typeface="Montserrat Light"/>
                <a:ea typeface="Montserrat Light"/>
                <a:cs typeface="Montserrat Light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7640025" name="Google Shape;895;p80"/>
          <p:cNvSpPr txBox="1"/>
          <p:nvPr>
            <p:ph type="body" idx="2"/>
          </p:nvPr>
        </p:nvSpPr>
        <p:spPr bwMode="auto">
          <a:xfrm>
            <a:off x="5532667" y="677110"/>
            <a:ext cx="1126666" cy="336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 + Subtitle" preserve="0" showMasterPhAnim="0" showMasterSp="1" userDrawn="1">
  <p:cSld name="Blank + Sub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580538" name="Google Shape;897;p81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5670643" name="Google Shape;898;p81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 + Subtitle" preserve="0" showMasterPhAnim="0" showMasterSp="1" userDrawn="1">
  <p:cSld name="Two Content + Sub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711907" name="Google Shape;900;p82"/>
          <p:cNvSpPr txBox="1"/>
          <p:nvPr>
            <p:ph type="body" idx="1"/>
          </p:nvPr>
        </p:nvSpPr>
        <p:spPr bwMode="auto">
          <a:xfrm>
            <a:off x="623887" y="1825625"/>
            <a:ext cx="5181600" cy="3979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07059719" name="Google Shape;901;p82"/>
          <p:cNvSpPr txBox="1"/>
          <p:nvPr>
            <p:ph type="body" idx="2"/>
          </p:nvPr>
        </p:nvSpPr>
        <p:spPr bwMode="auto">
          <a:xfrm>
            <a:off x="6386512" y="1825625"/>
            <a:ext cx="5181600" cy="3979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69227073" name="Google Shape;902;p82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564347" name="Google Shape;903;p82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1347419700" name="Google Shape;904;p82"/>
          <p:cNvCxnSpPr/>
          <p:nvPr/>
        </p:nvCxnSpPr>
        <p:spPr bwMode="auto">
          <a:xfrm>
            <a:off x="6096000" y="1825625"/>
            <a:ext cx="0" cy="3942129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69226062" name="Google Shape;905;p82"/>
          <p:cNvSpPr txBox="1"/>
          <p:nvPr>
            <p:ph type="body" idx="3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 + Subtitle" preserve="0" showMasterPhAnim="0" showMasterSp="1" userDrawn="1">
  <p:cSld name="Title and Content + Sub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332344" name="Google Shape;907;p83"/>
          <p:cNvSpPr txBox="1"/>
          <p:nvPr>
            <p:ph type="body" idx="1"/>
          </p:nvPr>
        </p:nvSpPr>
        <p:spPr bwMode="auto">
          <a:xfrm>
            <a:off x="623887" y="1825624"/>
            <a:ext cx="10944225" cy="397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75094909" name="Google Shape;908;p83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2366174" name="Google Shape;909;p83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29399771" name="Google Shape;910;p83"/>
          <p:cNvSpPr txBox="1"/>
          <p:nvPr>
            <p:ph type="body" idx="2"/>
          </p:nvPr>
        </p:nvSpPr>
        <p:spPr bwMode="auto">
          <a:xfrm>
            <a:off x="623888" y="605981"/>
            <a:ext cx="5472112" cy="196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ection" preserve="0" showMasterPhAnim="0" showMasterSp="1" userDrawn="1">
  <p:cSld name="Titl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49625531" name="Google Shape;912;p84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13" name="Google Shape;913;p84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endParaRPr>
            </a:p>
          </p:txBody>
        </p:sp>
        <p:grpSp>
          <p:nvGrpSpPr>
            <p:cNvPr id="914" name="Google Shape;914;p84"/>
            <p:cNvGrpSpPr/>
            <p:nvPr/>
          </p:nvGrpSpPr>
          <p:grpSpPr bwMode="auto">
            <a:xfrm>
              <a:off x="1" y="0"/>
              <a:ext cx="11060482" cy="6858000"/>
              <a:chOff x="1" y="0"/>
              <a:chExt cx="11060482" cy="6858000"/>
            </a:xfrm>
          </p:grpSpPr>
          <p:sp>
            <p:nvSpPr>
              <p:cNvPr id="915" name="Google Shape;915;p84"/>
              <p:cNvSpPr/>
              <p:nvPr/>
            </p:nvSpPr>
            <p:spPr bwMode="auto">
              <a:xfrm>
                <a:off x="1" y="0"/>
                <a:ext cx="2188028" cy="6858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  <p:sp>
            <p:nvSpPr>
              <p:cNvPr id="916" name="Google Shape;916;p84"/>
              <p:cNvSpPr txBox="1"/>
              <p:nvPr/>
            </p:nvSpPr>
            <p:spPr bwMode="auto">
              <a:xfrm>
                <a:off x="3614976" y="657225"/>
                <a:ext cx="4962047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700"/>
                  <a:buFont typeface="Arial"/>
                  <a:buNone/>
                  <a:defRPr/>
                </a:pPr>
                <a:r>
                  <a:rPr lang="en-US" sz="28700" b="1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</a:rPr>
                  <a:t>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917" name="Google Shape;917;p84"/>
              <p:cNvSpPr/>
              <p:nvPr/>
            </p:nvSpPr>
            <p:spPr bwMode="auto">
              <a:xfrm rot="10800000">
                <a:off x="9241970" y="2519744"/>
                <a:ext cx="1818513" cy="1818513"/>
              </a:xfrm>
              <a:custGeom>
                <a:avLst/>
                <a:gdLst/>
                <a:ahLst/>
                <a:cxnLst/>
                <a:rect l="l" t="t" r="r" b="b"/>
                <a:pathLst>
                  <a:path w="2263033" h="2263033" fill="norm" stroke="1" extrusionOk="0">
                    <a:moveTo>
                      <a:pt x="2263034" y="990076"/>
                    </a:moveTo>
                    <a:lnTo>
                      <a:pt x="541716" y="990076"/>
                    </a:lnTo>
                    <a:lnTo>
                      <a:pt x="1331653" y="200139"/>
                    </a:lnTo>
                    <a:lnTo>
                      <a:pt x="1131520" y="0"/>
                    </a:lnTo>
                    <a:lnTo>
                      <a:pt x="0" y="1131520"/>
                    </a:lnTo>
                    <a:lnTo>
                      <a:pt x="1131520" y="2263034"/>
                    </a:lnTo>
                    <a:lnTo>
                      <a:pt x="1331653" y="2062901"/>
                    </a:lnTo>
                    <a:lnTo>
                      <a:pt x="541716" y="1272958"/>
                    </a:lnTo>
                    <a:lnTo>
                      <a:pt x="2263034" y="1272958"/>
                    </a:lnTo>
                    <a:close/>
                  </a:path>
                </a:pathLst>
              </a:custGeom>
              <a:solidFill>
                <a:schemeClr val="lt2"/>
              </a:solidFill>
              <a:ln w="63500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dk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urpose Section" preserve="0" showMasterPhAnim="0" showMasterSp="1" userDrawn="1">
  <p:cSld name="Purpos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864723" name="Google Shape;919;p85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1" i="0" u="none" strike="noStrike" cap="none">
              <a:solidFill>
                <a:schemeClr val="lt1"/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703237451" name="Google Shape;920;p85"/>
          <p:cNvSpPr/>
          <p:nvPr/>
        </p:nvSpPr>
        <p:spPr bwMode="auto">
          <a:xfrm>
            <a:off x="1" y="0"/>
            <a:ext cx="2188028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618088907" name="Google Shape;921;p85"/>
          <p:cNvSpPr txBox="1"/>
          <p:nvPr/>
        </p:nvSpPr>
        <p:spPr bwMode="auto">
          <a:xfrm>
            <a:off x="3614976" y="657225"/>
            <a:ext cx="4962047" cy="554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00"/>
              <a:buFont typeface="Arial"/>
              <a:buNone/>
              <a:defRPr/>
            </a:pPr>
            <a:r>
              <a:rPr lang="en-US" sz="287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609797" name="Google Shape;922;p85"/>
          <p:cNvSpPr/>
          <p:nvPr/>
        </p:nvSpPr>
        <p:spPr bwMode="auto">
          <a:xfrm rot="10800000">
            <a:off x="9241970" y="2519744"/>
            <a:ext cx="1818513" cy="1818513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b/Solution Section" preserve="0" showMasterPhAnim="0" showMasterSp="1" userDrawn="1">
  <p:cSld name="Prob/Solution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32285286" name="Google Shape;924;p86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25" name="Google Shape;925;p86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endParaRPr>
            </a:p>
          </p:txBody>
        </p:sp>
        <p:grpSp>
          <p:nvGrpSpPr>
            <p:cNvPr id="926" name="Google Shape;926;p86"/>
            <p:cNvGrpSpPr/>
            <p:nvPr/>
          </p:nvGrpSpPr>
          <p:grpSpPr bwMode="auto">
            <a:xfrm>
              <a:off x="1" y="0"/>
              <a:ext cx="8577023" cy="6858000"/>
              <a:chOff x="1" y="0"/>
              <a:chExt cx="8577023" cy="6858000"/>
            </a:xfrm>
          </p:grpSpPr>
          <p:sp>
            <p:nvSpPr>
              <p:cNvPr id="927" name="Google Shape;927;p86"/>
              <p:cNvSpPr/>
              <p:nvPr/>
            </p:nvSpPr>
            <p:spPr bwMode="auto">
              <a:xfrm>
                <a:off x="1" y="0"/>
                <a:ext cx="2188028" cy="6858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  <p:sp>
            <p:nvSpPr>
              <p:cNvPr id="928" name="Google Shape;928;p86"/>
              <p:cNvSpPr txBox="1"/>
              <p:nvPr/>
            </p:nvSpPr>
            <p:spPr bwMode="auto">
              <a:xfrm>
                <a:off x="3614976" y="657225"/>
                <a:ext cx="4962047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700"/>
                  <a:buFont typeface="Arial"/>
                  <a:buNone/>
                  <a:defRPr/>
                </a:pPr>
                <a:r>
                  <a:rPr lang="en-US" sz="28700" b="1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</a:rPr>
                  <a:t>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1376204003" name="Google Shape;929;p86"/>
          <p:cNvSpPr/>
          <p:nvPr/>
        </p:nvSpPr>
        <p:spPr bwMode="auto">
          <a:xfrm rot="10800000">
            <a:off x="9241970" y="2519744"/>
            <a:ext cx="1818513" cy="1818513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rket Section" preserve="0" showMasterPhAnim="0" showMasterSp="1" userDrawn="1">
  <p:cSld name="Market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53317430" name="Google Shape;931;p87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32" name="Google Shape;932;p87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endParaRPr>
            </a:p>
          </p:txBody>
        </p:sp>
        <p:grpSp>
          <p:nvGrpSpPr>
            <p:cNvPr id="933" name="Google Shape;933;p87"/>
            <p:cNvGrpSpPr/>
            <p:nvPr/>
          </p:nvGrpSpPr>
          <p:grpSpPr bwMode="auto">
            <a:xfrm>
              <a:off x="1" y="0"/>
              <a:ext cx="8577023" cy="6858000"/>
              <a:chOff x="1" y="0"/>
              <a:chExt cx="8577023" cy="6858000"/>
            </a:xfrm>
          </p:grpSpPr>
          <p:sp>
            <p:nvSpPr>
              <p:cNvPr id="934" name="Google Shape;934;p87"/>
              <p:cNvSpPr/>
              <p:nvPr/>
            </p:nvSpPr>
            <p:spPr bwMode="auto">
              <a:xfrm>
                <a:off x="1" y="0"/>
                <a:ext cx="2188028" cy="6858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  <p:sp>
            <p:nvSpPr>
              <p:cNvPr id="935" name="Google Shape;935;p87"/>
              <p:cNvSpPr txBox="1"/>
              <p:nvPr/>
            </p:nvSpPr>
            <p:spPr bwMode="auto">
              <a:xfrm>
                <a:off x="3614976" y="657225"/>
                <a:ext cx="4962047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700"/>
                  <a:buFont typeface="Arial"/>
                  <a:buNone/>
                  <a:defRPr/>
                </a:pPr>
                <a:r>
                  <a:rPr lang="en-US" sz="28700" b="1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</a:rPr>
                  <a:t>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750443720" name="Google Shape;936;p87"/>
          <p:cNvSpPr/>
          <p:nvPr/>
        </p:nvSpPr>
        <p:spPr bwMode="auto">
          <a:xfrm rot="10800000">
            <a:off x="9241970" y="2519744"/>
            <a:ext cx="1818513" cy="1818513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etition Section" preserve="0" showMasterPhAnim="0" showMasterSp="1" userDrawn="1">
  <p:cSld name="Competition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22355239" name="Google Shape;938;p88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39" name="Google Shape;939;p88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endParaRPr>
            </a:p>
          </p:txBody>
        </p:sp>
        <p:grpSp>
          <p:nvGrpSpPr>
            <p:cNvPr id="940" name="Google Shape;940;p88"/>
            <p:cNvGrpSpPr/>
            <p:nvPr/>
          </p:nvGrpSpPr>
          <p:grpSpPr bwMode="auto">
            <a:xfrm>
              <a:off x="1" y="0"/>
              <a:ext cx="8577023" cy="6858000"/>
              <a:chOff x="1" y="0"/>
              <a:chExt cx="8577023" cy="6858000"/>
            </a:xfrm>
          </p:grpSpPr>
          <p:sp>
            <p:nvSpPr>
              <p:cNvPr id="941" name="Google Shape;941;p88"/>
              <p:cNvSpPr/>
              <p:nvPr/>
            </p:nvSpPr>
            <p:spPr bwMode="auto">
              <a:xfrm>
                <a:off x="1" y="0"/>
                <a:ext cx="2188028" cy="6858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  <p:sp>
            <p:nvSpPr>
              <p:cNvPr id="942" name="Google Shape;942;p88"/>
              <p:cNvSpPr txBox="1"/>
              <p:nvPr/>
            </p:nvSpPr>
            <p:spPr bwMode="auto">
              <a:xfrm>
                <a:off x="3614976" y="657225"/>
                <a:ext cx="4962047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700"/>
                  <a:buFont typeface="Arial"/>
                  <a:buNone/>
                  <a:defRPr/>
                </a:pPr>
                <a:r>
                  <a:rPr lang="en-US" sz="28700" b="1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</a:rPr>
                  <a:t>5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1979064975" name="Google Shape;943;p88"/>
          <p:cNvSpPr/>
          <p:nvPr/>
        </p:nvSpPr>
        <p:spPr bwMode="auto">
          <a:xfrm rot="10800000">
            <a:off x="9241970" y="2519744"/>
            <a:ext cx="1818513" cy="1818513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duct Section" preserve="0" showMasterPhAnim="0" showMasterSp="1" userDrawn="1">
  <p:cSld name="Product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92131736" name="Google Shape;945;p89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46" name="Google Shape;946;p89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endParaRPr>
            </a:p>
          </p:txBody>
        </p:sp>
        <p:grpSp>
          <p:nvGrpSpPr>
            <p:cNvPr id="947" name="Google Shape;947;p89"/>
            <p:cNvGrpSpPr/>
            <p:nvPr/>
          </p:nvGrpSpPr>
          <p:grpSpPr bwMode="auto">
            <a:xfrm>
              <a:off x="1" y="0"/>
              <a:ext cx="8577023" cy="6858000"/>
              <a:chOff x="1" y="0"/>
              <a:chExt cx="8577023" cy="6858000"/>
            </a:xfrm>
          </p:grpSpPr>
          <p:sp>
            <p:nvSpPr>
              <p:cNvPr id="948" name="Google Shape;948;p89"/>
              <p:cNvSpPr/>
              <p:nvPr/>
            </p:nvSpPr>
            <p:spPr bwMode="auto">
              <a:xfrm>
                <a:off x="1" y="0"/>
                <a:ext cx="2188028" cy="6858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  <p:sp>
            <p:nvSpPr>
              <p:cNvPr id="949" name="Google Shape;949;p89"/>
              <p:cNvSpPr txBox="1"/>
              <p:nvPr/>
            </p:nvSpPr>
            <p:spPr bwMode="auto">
              <a:xfrm>
                <a:off x="3614976" y="657225"/>
                <a:ext cx="4962047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700"/>
                  <a:buFont typeface="Arial"/>
                  <a:buNone/>
                  <a:defRPr/>
                </a:pPr>
                <a:r>
                  <a:rPr lang="en-US" sz="28700" b="1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</a:rPr>
                  <a:t>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388704620" name="Google Shape;950;p89"/>
          <p:cNvSpPr/>
          <p:nvPr/>
        </p:nvSpPr>
        <p:spPr bwMode="auto">
          <a:xfrm rot="10800000">
            <a:off x="9241970" y="2519744"/>
            <a:ext cx="1818513" cy="1818513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Revenue Section" preserve="0" showMasterPhAnim="0" showMasterSp="1" userDrawn="1">
  <p:cSld name="Revenu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03566500" name="Google Shape;952;p90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53" name="Google Shape;953;p90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endParaRPr>
            </a:p>
          </p:txBody>
        </p:sp>
        <p:grpSp>
          <p:nvGrpSpPr>
            <p:cNvPr id="954" name="Google Shape;954;p90"/>
            <p:cNvGrpSpPr/>
            <p:nvPr/>
          </p:nvGrpSpPr>
          <p:grpSpPr bwMode="auto">
            <a:xfrm>
              <a:off x="1" y="0"/>
              <a:ext cx="8577023" cy="6858000"/>
              <a:chOff x="1" y="0"/>
              <a:chExt cx="8577023" cy="6858000"/>
            </a:xfrm>
          </p:grpSpPr>
          <p:sp>
            <p:nvSpPr>
              <p:cNvPr id="955" name="Google Shape;955;p90"/>
              <p:cNvSpPr/>
              <p:nvPr/>
            </p:nvSpPr>
            <p:spPr bwMode="auto">
              <a:xfrm>
                <a:off x="1" y="0"/>
                <a:ext cx="2188028" cy="6858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  <p:sp>
            <p:nvSpPr>
              <p:cNvPr id="956" name="Google Shape;956;p90"/>
              <p:cNvSpPr txBox="1"/>
              <p:nvPr/>
            </p:nvSpPr>
            <p:spPr bwMode="auto">
              <a:xfrm>
                <a:off x="3614976" y="657225"/>
                <a:ext cx="4962047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700"/>
                  <a:buFont typeface="Arial"/>
                  <a:buNone/>
                  <a:defRPr/>
                </a:pPr>
                <a:r>
                  <a:rPr lang="en-US" sz="28700" b="1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</a:rPr>
                  <a:t>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50826446" name="Google Shape;957;p90"/>
          <p:cNvSpPr/>
          <p:nvPr/>
        </p:nvSpPr>
        <p:spPr bwMode="auto">
          <a:xfrm rot="10800000">
            <a:off x="9241970" y="2519744"/>
            <a:ext cx="1818513" cy="1818513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raction Section" preserve="0" showMasterPhAnim="0" showMasterSp="1" userDrawn="1">
  <p:cSld name="Traction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00523575" name="Google Shape;959;p91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60" name="Google Shape;960;p91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endParaRPr>
            </a:p>
          </p:txBody>
        </p:sp>
        <p:grpSp>
          <p:nvGrpSpPr>
            <p:cNvPr id="961" name="Google Shape;961;p91"/>
            <p:cNvGrpSpPr/>
            <p:nvPr/>
          </p:nvGrpSpPr>
          <p:grpSpPr bwMode="auto">
            <a:xfrm>
              <a:off x="1" y="0"/>
              <a:ext cx="8577023" cy="6858000"/>
              <a:chOff x="1" y="0"/>
              <a:chExt cx="8577023" cy="6858000"/>
            </a:xfrm>
          </p:grpSpPr>
          <p:sp>
            <p:nvSpPr>
              <p:cNvPr id="962" name="Google Shape;962;p91"/>
              <p:cNvSpPr/>
              <p:nvPr/>
            </p:nvSpPr>
            <p:spPr bwMode="auto">
              <a:xfrm>
                <a:off x="1" y="0"/>
                <a:ext cx="2188028" cy="6858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  <p:sp>
            <p:nvSpPr>
              <p:cNvPr id="963" name="Google Shape;963;p91"/>
              <p:cNvSpPr txBox="1"/>
              <p:nvPr/>
            </p:nvSpPr>
            <p:spPr bwMode="auto">
              <a:xfrm>
                <a:off x="3614976" y="657225"/>
                <a:ext cx="4962047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700"/>
                  <a:buFont typeface="Arial"/>
                  <a:buNone/>
                  <a:defRPr/>
                </a:pPr>
                <a:r>
                  <a:rPr lang="en-US" sz="28700" b="1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</a:rPr>
                  <a:t>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286422357" name="Google Shape;964;p91"/>
          <p:cNvSpPr/>
          <p:nvPr/>
        </p:nvSpPr>
        <p:spPr bwMode="auto">
          <a:xfrm rot="10800000">
            <a:off x="9241970" y="2519744"/>
            <a:ext cx="1818513" cy="1818513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am Section" preserve="0" showMasterPhAnim="0" showMasterSp="1" userDrawn="1">
  <p:cSld name="Team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74666751" name="Google Shape;966;p92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67" name="Google Shape;967;p92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endParaRPr>
            </a:p>
          </p:txBody>
        </p:sp>
        <p:grpSp>
          <p:nvGrpSpPr>
            <p:cNvPr id="968" name="Google Shape;968;p92"/>
            <p:cNvGrpSpPr/>
            <p:nvPr/>
          </p:nvGrpSpPr>
          <p:grpSpPr bwMode="auto">
            <a:xfrm>
              <a:off x="1" y="0"/>
              <a:ext cx="8577023" cy="6858000"/>
              <a:chOff x="1" y="0"/>
              <a:chExt cx="8577023" cy="6858000"/>
            </a:xfrm>
          </p:grpSpPr>
          <p:sp>
            <p:nvSpPr>
              <p:cNvPr id="969" name="Google Shape;969;p92"/>
              <p:cNvSpPr/>
              <p:nvPr/>
            </p:nvSpPr>
            <p:spPr bwMode="auto">
              <a:xfrm>
                <a:off x="1" y="0"/>
                <a:ext cx="2188028" cy="6858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  <p:sp>
            <p:nvSpPr>
              <p:cNvPr id="970" name="Google Shape;970;p92"/>
              <p:cNvSpPr txBox="1"/>
              <p:nvPr/>
            </p:nvSpPr>
            <p:spPr bwMode="auto">
              <a:xfrm>
                <a:off x="3614976" y="657225"/>
                <a:ext cx="4962047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700"/>
                  <a:buFont typeface="Arial"/>
                  <a:buNone/>
                  <a:defRPr/>
                </a:pPr>
                <a:r>
                  <a:rPr lang="en-US" sz="28700" b="1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</a:rPr>
                  <a:t>9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1441034707" name="Google Shape;971;p92"/>
          <p:cNvSpPr/>
          <p:nvPr/>
        </p:nvSpPr>
        <p:spPr bwMode="auto">
          <a:xfrm rot="10800000">
            <a:off x="9241970" y="2519744"/>
            <a:ext cx="1818513" cy="1818513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eal Section" preserve="0" showMasterPhAnim="0" showMasterSp="1" userDrawn="1">
  <p:cSld name="Deal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68775977" name="Google Shape;973;p93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74" name="Google Shape;974;p93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solidFill>
              <a:schemeClr val="dk2">
                <a:alpha val="97254"/>
              </a:scheme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endParaRPr>
            </a:p>
          </p:txBody>
        </p:sp>
        <p:grpSp>
          <p:nvGrpSpPr>
            <p:cNvPr id="975" name="Google Shape;975;p93"/>
            <p:cNvGrpSpPr/>
            <p:nvPr/>
          </p:nvGrpSpPr>
          <p:grpSpPr bwMode="auto">
            <a:xfrm>
              <a:off x="1" y="0"/>
              <a:ext cx="8577023" cy="6858000"/>
              <a:chOff x="1" y="0"/>
              <a:chExt cx="8577023" cy="6858000"/>
            </a:xfrm>
          </p:grpSpPr>
          <p:sp>
            <p:nvSpPr>
              <p:cNvPr id="976" name="Google Shape;976;p93"/>
              <p:cNvSpPr/>
              <p:nvPr/>
            </p:nvSpPr>
            <p:spPr bwMode="auto">
              <a:xfrm>
                <a:off x="1" y="0"/>
                <a:ext cx="2188028" cy="6858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  <p:sp>
            <p:nvSpPr>
              <p:cNvPr id="977" name="Google Shape;977;p93"/>
              <p:cNvSpPr txBox="1"/>
              <p:nvPr/>
            </p:nvSpPr>
            <p:spPr bwMode="auto">
              <a:xfrm>
                <a:off x="3614976" y="657225"/>
                <a:ext cx="4962047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700"/>
                  <a:buFont typeface="Arial"/>
                  <a:buNone/>
                  <a:defRPr/>
                </a:pPr>
                <a:r>
                  <a:rPr lang="en-US" sz="28700" b="1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</a:rPr>
                  <a:t>10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178731273" name="Google Shape;978;p93"/>
          <p:cNvSpPr/>
          <p:nvPr/>
        </p:nvSpPr>
        <p:spPr bwMode="auto">
          <a:xfrm rot="10800000">
            <a:off x="9241970" y="2519744"/>
            <a:ext cx="1818513" cy="1818513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Roadmap Section" preserve="0" showMasterPhAnim="0" showMasterSp="1" userDrawn="1">
  <p:cSld name="Roadmap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61507675" name="Google Shape;980;p94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81" name="Google Shape;981;p94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endParaRPr>
            </a:p>
          </p:txBody>
        </p:sp>
        <p:grpSp>
          <p:nvGrpSpPr>
            <p:cNvPr id="982" name="Google Shape;982;p94"/>
            <p:cNvGrpSpPr/>
            <p:nvPr/>
          </p:nvGrpSpPr>
          <p:grpSpPr bwMode="auto">
            <a:xfrm>
              <a:off x="1" y="0"/>
              <a:ext cx="8577023" cy="6858000"/>
              <a:chOff x="1" y="0"/>
              <a:chExt cx="8577023" cy="6858000"/>
            </a:xfrm>
          </p:grpSpPr>
          <p:sp>
            <p:nvSpPr>
              <p:cNvPr id="983" name="Google Shape;983;p94"/>
              <p:cNvSpPr/>
              <p:nvPr/>
            </p:nvSpPr>
            <p:spPr bwMode="auto">
              <a:xfrm>
                <a:off x="1" y="0"/>
                <a:ext cx="2188028" cy="6858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  <p:sp>
            <p:nvSpPr>
              <p:cNvPr id="984" name="Google Shape;984;p94"/>
              <p:cNvSpPr txBox="1"/>
              <p:nvPr/>
            </p:nvSpPr>
            <p:spPr bwMode="auto">
              <a:xfrm>
                <a:off x="3614976" y="657225"/>
                <a:ext cx="4962047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700"/>
                  <a:buFont typeface="Arial"/>
                  <a:buNone/>
                  <a:defRPr/>
                </a:pPr>
                <a:r>
                  <a:rPr lang="en-US" sz="28700" b="1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</a:rPr>
                  <a:t>11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933353557" name="Google Shape;985;p94"/>
          <p:cNvSpPr/>
          <p:nvPr/>
        </p:nvSpPr>
        <p:spPr bwMode="auto">
          <a:xfrm rot="10800000">
            <a:off x="9241970" y="2519744"/>
            <a:ext cx="1818513" cy="1818513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ision Section" preserve="0" showMasterPhAnim="0" showMasterSp="1" userDrawn="1">
  <p:cSld name="Vision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1849519" name="Google Shape;987;p95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88" name="Google Shape;988;p95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endParaRPr>
            </a:p>
          </p:txBody>
        </p:sp>
        <p:grpSp>
          <p:nvGrpSpPr>
            <p:cNvPr id="989" name="Google Shape;989;p95"/>
            <p:cNvGrpSpPr/>
            <p:nvPr/>
          </p:nvGrpSpPr>
          <p:grpSpPr bwMode="auto">
            <a:xfrm>
              <a:off x="1" y="0"/>
              <a:ext cx="8577023" cy="6858000"/>
              <a:chOff x="1" y="0"/>
              <a:chExt cx="8577023" cy="6858000"/>
            </a:xfrm>
          </p:grpSpPr>
          <p:sp>
            <p:nvSpPr>
              <p:cNvPr id="990" name="Google Shape;990;p95"/>
              <p:cNvSpPr/>
              <p:nvPr/>
            </p:nvSpPr>
            <p:spPr bwMode="auto">
              <a:xfrm>
                <a:off x="1" y="0"/>
                <a:ext cx="2188028" cy="6858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  <p:sp>
            <p:nvSpPr>
              <p:cNvPr id="991" name="Google Shape;991;p95"/>
              <p:cNvSpPr txBox="1"/>
              <p:nvPr/>
            </p:nvSpPr>
            <p:spPr bwMode="auto">
              <a:xfrm>
                <a:off x="3614976" y="657225"/>
                <a:ext cx="4962047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700"/>
                  <a:buFont typeface="Arial"/>
                  <a:buNone/>
                  <a:defRPr/>
                </a:pPr>
                <a:r>
                  <a:rPr lang="en-US" sz="28700" b="1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</a:rPr>
                  <a:t>12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979888409" name="Google Shape;992;p95"/>
          <p:cNvSpPr/>
          <p:nvPr/>
        </p:nvSpPr>
        <p:spPr bwMode="auto">
          <a:xfrm rot="10800000">
            <a:off x="9241970" y="2519744"/>
            <a:ext cx="1818513" cy="1818513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losing Section" preserve="0" showMasterPhAnim="0" showMasterSp="1" userDrawn="1">
  <p:cSld name="Closing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14356061" name="Google Shape;994;p96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95" name="Google Shape;995;p96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endParaRPr>
            </a:p>
          </p:txBody>
        </p:sp>
        <p:grpSp>
          <p:nvGrpSpPr>
            <p:cNvPr id="996" name="Google Shape;996;p96"/>
            <p:cNvGrpSpPr/>
            <p:nvPr/>
          </p:nvGrpSpPr>
          <p:grpSpPr bwMode="auto">
            <a:xfrm>
              <a:off x="1" y="0"/>
              <a:ext cx="8577023" cy="6858000"/>
              <a:chOff x="1" y="0"/>
              <a:chExt cx="8577023" cy="6858000"/>
            </a:xfrm>
          </p:grpSpPr>
          <p:sp>
            <p:nvSpPr>
              <p:cNvPr id="997" name="Google Shape;997;p96"/>
              <p:cNvSpPr/>
              <p:nvPr/>
            </p:nvSpPr>
            <p:spPr bwMode="auto">
              <a:xfrm>
                <a:off x="1" y="0"/>
                <a:ext cx="2188028" cy="6858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  <p:sp>
            <p:nvSpPr>
              <p:cNvPr id="998" name="Google Shape;998;p96"/>
              <p:cNvSpPr txBox="1"/>
              <p:nvPr/>
            </p:nvSpPr>
            <p:spPr bwMode="auto">
              <a:xfrm>
                <a:off x="3614976" y="657225"/>
                <a:ext cx="4962047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700"/>
                  <a:buFont typeface="Arial"/>
                  <a:buNone/>
                  <a:defRPr/>
                </a:pPr>
                <a:r>
                  <a:rPr lang="en-US" sz="28700" b="1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</a:rPr>
                  <a:t>13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426248805" name="Google Shape;999;p96"/>
          <p:cNvSpPr/>
          <p:nvPr/>
        </p:nvSpPr>
        <p:spPr bwMode="auto">
          <a:xfrm rot="10800000">
            <a:off x="9241970" y="2519744"/>
            <a:ext cx="1818513" cy="1818513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efault PPT Section" preserve="0" showMasterPhAnim="0" showMasterSp="1" userDrawn="1">
  <p:cSld name="Default PPT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304794" name="Google Shape;1001;p97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  <a:defRPr/>
            </a:pPr>
            <a:endParaRPr sz="110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819570330" name="Google Shape;1002;p97"/>
          <p:cNvSpPr/>
          <p:nvPr/>
        </p:nvSpPr>
        <p:spPr bwMode="auto">
          <a:xfrm>
            <a:off x="1" y="0"/>
            <a:ext cx="2188028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1624210096" name="Google Shape;1003;p97"/>
          <p:cNvSpPr/>
          <p:nvPr/>
        </p:nvSpPr>
        <p:spPr bwMode="auto">
          <a:xfrm>
            <a:off x="3358243" y="1822748"/>
            <a:ext cx="7663543" cy="327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  <a:defRPr/>
            </a:pPr>
            <a:r>
              <a:rPr lang="en-US" sz="11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DEFAULT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  <a:defRPr/>
            </a:pPr>
            <a:r>
              <a:rPr lang="en-US" sz="11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PPT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4651977" name="Google Shape;1004;p97"/>
          <p:cNvSpPr/>
          <p:nvPr/>
        </p:nvSpPr>
        <p:spPr bwMode="auto">
          <a:xfrm rot="10800000">
            <a:off x="7010397" y="3695696"/>
            <a:ext cx="974274" cy="974274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739462" name="Google Shape;1006;p98"/>
          <p:cNvSpPr/>
          <p:nvPr/>
        </p:nvSpPr>
        <p:spPr bwMode="auto">
          <a:xfrm>
            <a:off x="2" y="1"/>
            <a:ext cx="12191999" cy="616584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107459899" name="Google Shape;1007;p98"/>
          <p:cNvSpPr txBox="1"/>
          <p:nvPr>
            <p:ph type="title"/>
          </p:nvPr>
        </p:nvSpPr>
        <p:spPr bwMode="auto">
          <a:xfrm>
            <a:off x="623887" y="1748487"/>
            <a:ext cx="10944226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2023072" name="Google Shape;1008;p98"/>
          <p:cNvSpPr txBox="1"/>
          <p:nvPr>
            <p:ph type="body" idx="1"/>
          </p:nvPr>
        </p:nvSpPr>
        <p:spPr bwMode="auto">
          <a:xfrm>
            <a:off x="2190750" y="3557323"/>
            <a:ext cx="7810500" cy="614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44867350" name="Google Shape;1009;p98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970322" name="Google Shape;1011;p99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0501265" name="Google Shape;1012;p99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399495" name="Google Shape;1014;p100"/>
          <p:cNvSpPr txBox="1"/>
          <p:nvPr>
            <p:ph type="body" idx="1"/>
          </p:nvPr>
        </p:nvSpPr>
        <p:spPr bwMode="auto">
          <a:xfrm>
            <a:off x="623887" y="1825624"/>
            <a:ext cx="10944225" cy="397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38095284" name="Google Shape;1015;p100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9987369" name="Google Shape;1016;p100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075895" name="Google Shape;1018;p101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666768" name="Google Shape;1020;p102"/>
          <p:cNvSpPr txBox="1"/>
          <p:nvPr>
            <p:ph type="body" idx="1"/>
          </p:nvPr>
        </p:nvSpPr>
        <p:spPr bwMode="auto">
          <a:xfrm>
            <a:off x="623887" y="1825625"/>
            <a:ext cx="5181600" cy="3979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62902115" name="Google Shape;1021;p102"/>
          <p:cNvSpPr txBox="1"/>
          <p:nvPr>
            <p:ph type="body" idx="2"/>
          </p:nvPr>
        </p:nvSpPr>
        <p:spPr bwMode="auto">
          <a:xfrm>
            <a:off x="6386512" y="1825625"/>
            <a:ext cx="5181600" cy="3979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88787753" name="Google Shape;1022;p102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5477046" name="Google Shape;1023;p102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579593555" name="Google Shape;1024;p102"/>
          <p:cNvCxnSpPr/>
          <p:nvPr/>
        </p:nvCxnSpPr>
        <p:spPr bwMode="auto">
          <a:xfrm>
            <a:off x="6096000" y="1825625"/>
            <a:ext cx="0" cy="3942129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1332005" name="Google Shape;1026;p103"/>
          <p:cNvSpPr txBox="1"/>
          <p:nvPr>
            <p:ph type="body" idx="1"/>
          </p:nvPr>
        </p:nvSpPr>
        <p:spPr bwMode="auto">
          <a:xfrm>
            <a:off x="623887" y="1681162"/>
            <a:ext cx="5157787" cy="872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315685776" name="Google Shape;1027;p103"/>
          <p:cNvSpPr txBox="1"/>
          <p:nvPr>
            <p:ph type="body" idx="2"/>
          </p:nvPr>
        </p:nvSpPr>
        <p:spPr bwMode="auto">
          <a:xfrm>
            <a:off x="623887" y="2803727"/>
            <a:ext cx="5157787" cy="2964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35359484" name="Google Shape;1028;p103"/>
          <p:cNvSpPr txBox="1"/>
          <p:nvPr>
            <p:ph type="body" idx="3"/>
          </p:nvPr>
        </p:nvSpPr>
        <p:spPr bwMode="auto">
          <a:xfrm>
            <a:off x="6384924" y="1681162"/>
            <a:ext cx="5183188" cy="872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2024903473" name="Google Shape;1029;p103"/>
          <p:cNvSpPr txBox="1"/>
          <p:nvPr>
            <p:ph type="body" idx="4"/>
          </p:nvPr>
        </p:nvSpPr>
        <p:spPr bwMode="auto">
          <a:xfrm>
            <a:off x="6384924" y="2803727"/>
            <a:ext cx="5183188" cy="2964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12698959" name="Google Shape;1030;p103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2697648" name="Google Shape;1031;p103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902253406" name="Google Shape;1032;p103"/>
          <p:cNvCxnSpPr/>
          <p:nvPr/>
        </p:nvCxnSpPr>
        <p:spPr bwMode="auto">
          <a:xfrm>
            <a:off x="6096000" y="1825625"/>
            <a:ext cx="0" cy="3942129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" preserve="0" showMasterPhAnim="0" showMasterSp="1" userDrawn="1">
  <p:cSld name="Pictu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363970" name="Google Shape;1034;p104"/>
          <p:cNvSpPr/>
          <p:nvPr>
            <p:ph type="pic" idx="2"/>
          </p:nvPr>
        </p:nvSpPr>
        <p:spPr bwMode="auto">
          <a:xfrm>
            <a:off x="0" y="0"/>
            <a:ext cx="12192000" cy="6165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064055701" name="Google Shape;1035;p104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299430" name="Google Shape;1037;p105"/>
          <p:cNvSpPr txBox="1"/>
          <p:nvPr>
            <p:ph type="body" idx="1"/>
          </p:nvPr>
        </p:nvSpPr>
        <p:spPr bwMode="auto">
          <a:xfrm>
            <a:off x="5183188" y="657225"/>
            <a:ext cx="6384924" cy="521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655745774" name="Google Shape;1038;p105"/>
          <p:cNvSpPr txBox="1"/>
          <p:nvPr>
            <p:ph type="body" idx="2"/>
          </p:nvPr>
        </p:nvSpPr>
        <p:spPr bwMode="auto">
          <a:xfrm>
            <a:off x="623888" y="2057400"/>
            <a:ext cx="414813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1672233190" name="Google Shape;1039;p105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9986366" name="Google Shape;1040;p105"/>
          <p:cNvSpPr txBox="1"/>
          <p:nvPr>
            <p:ph type="title"/>
          </p:nvPr>
        </p:nvSpPr>
        <p:spPr bwMode="auto">
          <a:xfrm>
            <a:off x="623888" y="657225"/>
            <a:ext cx="4148138" cy="1033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End of Template" preserve="0" showMasterPhAnim="0" showMasterSp="0" userDrawn="1">
  <p:cSld name="End of Templa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1476089" name="Google Shape;1042;p106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  <a:defRPr/>
            </a:pPr>
            <a:r>
              <a:rPr lang="en-US" sz="9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DO NOT USE LAYOUTS PAST THIS POINT</a:t>
            </a:r>
            <a:endParaRPr sz="1400" b="1" i="0" u="none" strike="noStrike" cap="none">
              <a:solidFill>
                <a:schemeClr val="lt1"/>
              </a:solidFill>
              <a:latin typeface="Montserrat SemiBold"/>
              <a:ea typeface="Montserrat SemiBold"/>
              <a:cs typeface="Montserrat SemiBold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EFAULT" preserve="0" showMasterPhAnim="0" showMasterSp="1" userDrawn="1">
  <p:cSld name="DEFAULT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356185" name="Google Shape;17;p3"/>
          <p:cNvSpPr txBox="1"/>
          <p:nvPr>
            <p:ph type="dt" idx="10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55690939" name="Google Shape;18;p3"/>
          <p:cNvSpPr txBox="1"/>
          <p:nvPr>
            <p:ph type="ftr" idx="11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43080680" name="Google Shape;19;p3"/>
          <p:cNvSpPr txBox="1"/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6834910C-9A48-32B2-8B37-861E2E0AB09D}" type="slidenum">
              <a:rPr lang="en-US"/>
              <a:t/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37370" name="Google Shape;21;p4"/>
          <p:cNvSpPr txBox="1"/>
          <p:nvPr>
            <p:ph type="ctrTitle"/>
          </p:nvPr>
        </p:nvSpPr>
        <p:spPr bwMode="auto">
          <a:xfrm>
            <a:off x="1523999" y="1122363"/>
            <a:ext cx="9144000" cy="238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25511989" name="Google Shape;22;p4"/>
          <p:cNvSpPr txBox="1"/>
          <p:nvPr>
            <p:ph type="subTitle" idx="1"/>
          </p:nvPr>
        </p:nvSpPr>
        <p:spPr bwMode="auto">
          <a:xfrm>
            <a:off x="1523999" y="3602037"/>
            <a:ext cx="9144000" cy="165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732594543" name="Google Shape;23;p4"/>
          <p:cNvSpPr txBox="1"/>
          <p:nvPr>
            <p:ph type="dt" idx="10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51313385" name="Google Shape;24;p4"/>
          <p:cNvSpPr txBox="1"/>
          <p:nvPr>
            <p:ph type="ftr" idx="11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08591672" name="Google Shape;25;p4"/>
          <p:cNvSpPr txBox="1"/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FE430D52-71CD-57D1-43B8-1D2C1D5EC2A6}" type="slidenum">
              <a:rPr lang="en-US"/>
              <a:t/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114900" name="Google Shape;27;p5"/>
          <p:cNvSpPr txBox="1"/>
          <p:nvPr>
            <p:ph type="title"/>
          </p:nvPr>
        </p:nvSpPr>
        <p:spPr bwMode="auto">
          <a:xfrm>
            <a:off x="838198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03162910" name="Google Shape;28;p5"/>
          <p:cNvSpPr txBox="1"/>
          <p:nvPr>
            <p:ph type="body" idx="1"/>
          </p:nvPr>
        </p:nvSpPr>
        <p:spPr bwMode="auto">
          <a:xfrm>
            <a:off x="838198" y="182562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87945357" name="Google Shape;29;p5"/>
          <p:cNvSpPr txBox="1"/>
          <p:nvPr>
            <p:ph type="dt" idx="10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55940685" name="Google Shape;30;p5"/>
          <p:cNvSpPr txBox="1"/>
          <p:nvPr>
            <p:ph type="ftr" idx="11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97580712" name="Google Shape;31;p5"/>
          <p:cNvSpPr txBox="1"/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C720ADAD-3AA4-8B47-845F-6BD88BFC47B2}" type="slidenum">
              <a:rPr lang="en-US"/>
              <a:t/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00514" name="Google Shape;33;p6"/>
          <p:cNvSpPr txBox="1"/>
          <p:nvPr>
            <p:ph type="title"/>
          </p:nvPr>
        </p:nvSpPr>
        <p:spPr bwMode="auto">
          <a:xfrm>
            <a:off x="831849" y="1709737"/>
            <a:ext cx="10515600" cy="2852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64595048" name="Google Shape;34;p6"/>
          <p:cNvSpPr txBox="1"/>
          <p:nvPr>
            <p:ph type="body" idx="1"/>
          </p:nvPr>
        </p:nvSpPr>
        <p:spPr bwMode="auto">
          <a:xfrm>
            <a:off x="831849" y="4589462"/>
            <a:ext cx="10515600" cy="1500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064676001" name="Google Shape;35;p6"/>
          <p:cNvSpPr txBox="1"/>
          <p:nvPr>
            <p:ph type="dt" idx="10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4371500" name="Google Shape;36;p6"/>
          <p:cNvSpPr txBox="1"/>
          <p:nvPr>
            <p:ph type="ftr" idx="11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30250412" name="Google Shape;37;p6"/>
          <p:cNvSpPr txBox="1"/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A91A9E1A-7046-A1FE-25F5-855E6F1EB695}" type="slidenum">
              <a:rPr lang="en-US"/>
              <a:t/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485398" name="Google Shape;39;p7"/>
          <p:cNvSpPr txBox="1"/>
          <p:nvPr>
            <p:ph type="title"/>
          </p:nvPr>
        </p:nvSpPr>
        <p:spPr bwMode="auto">
          <a:xfrm>
            <a:off x="838198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1922013" name="Google Shape;40;p7"/>
          <p:cNvSpPr txBox="1"/>
          <p:nvPr>
            <p:ph type="body" idx="1"/>
          </p:nvPr>
        </p:nvSpPr>
        <p:spPr bwMode="auto">
          <a:xfrm>
            <a:off x="838198" y="1825624"/>
            <a:ext cx="518159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7573605" name="Google Shape;41;p7"/>
          <p:cNvSpPr txBox="1"/>
          <p:nvPr>
            <p:ph type="body" idx="2"/>
          </p:nvPr>
        </p:nvSpPr>
        <p:spPr bwMode="auto">
          <a:xfrm>
            <a:off x="6172200" y="1825624"/>
            <a:ext cx="518159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37394683" name="Google Shape;42;p7"/>
          <p:cNvSpPr txBox="1"/>
          <p:nvPr>
            <p:ph type="dt" idx="10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30054424" name="Google Shape;43;p7"/>
          <p:cNvSpPr txBox="1"/>
          <p:nvPr>
            <p:ph type="ftr" idx="11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77319041" name="Google Shape;44;p7"/>
          <p:cNvSpPr txBox="1"/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A784E33A-5212-0577-1933-EC1CD2102685}" type="slidenum">
              <a:rPr lang="en-US"/>
              <a:t/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3063541" name="Google Shape;46;p8"/>
          <p:cNvSpPr txBox="1"/>
          <p:nvPr>
            <p:ph type="title"/>
          </p:nvPr>
        </p:nvSpPr>
        <p:spPr bwMode="auto">
          <a:xfrm>
            <a:off x="839787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89902947" name="Google Shape;47;p8"/>
          <p:cNvSpPr txBox="1"/>
          <p:nvPr>
            <p:ph type="body" idx="1"/>
          </p:nvPr>
        </p:nvSpPr>
        <p:spPr bwMode="auto">
          <a:xfrm>
            <a:off x="839787" y="1681162"/>
            <a:ext cx="5157785" cy="823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93128681" name="Google Shape;48;p8"/>
          <p:cNvSpPr txBox="1"/>
          <p:nvPr>
            <p:ph type="body" idx="2"/>
          </p:nvPr>
        </p:nvSpPr>
        <p:spPr bwMode="auto">
          <a:xfrm>
            <a:off x="839787" y="2505073"/>
            <a:ext cx="5157785" cy="368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02566227" name="Google Shape;49;p8"/>
          <p:cNvSpPr txBox="1"/>
          <p:nvPr>
            <p:ph type="body" idx="3"/>
          </p:nvPr>
        </p:nvSpPr>
        <p:spPr bwMode="auto">
          <a:xfrm>
            <a:off x="6172200" y="1681162"/>
            <a:ext cx="5183187" cy="823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810436344" name="Google Shape;50;p8"/>
          <p:cNvSpPr txBox="1"/>
          <p:nvPr>
            <p:ph type="body" idx="4"/>
          </p:nvPr>
        </p:nvSpPr>
        <p:spPr bwMode="auto">
          <a:xfrm>
            <a:off x="6172200" y="2505073"/>
            <a:ext cx="5183187" cy="368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86177542" name="Google Shape;51;p8"/>
          <p:cNvSpPr txBox="1"/>
          <p:nvPr>
            <p:ph type="dt" idx="10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04228460" name="Google Shape;52;p8"/>
          <p:cNvSpPr txBox="1"/>
          <p:nvPr>
            <p:ph type="ftr" idx="11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81029168" name="Google Shape;53;p8"/>
          <p:cNvSpPr txBox="1"/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8E7C80EE-1D20-8CA3-DA5B-FB5AD90BC238}" type="slidenum">
              <a:rPr lang="en-US"/>
              <a:t/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453043" name="Google Shape;55;p9"/>
          <p:cNvSpPr txBox="1"/>
          <p:nvPr>
            <p:ph type="title"/>
          </p:nvPr>
        </p:nvSpPr>
        <p:spPr bwMode="auto">
          <a:xfrm>
            <a:off x="838198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57454028" name="Google Shape;56;p9"/>
          <p:cNvSpPr txBox="1"/>
          <p:nvPr>
            <p:ph type="dt" idx="10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6190400" name="Google Shape;57;p9"/>
          <p:cNvSpPr txBox="1"/>
          <p:nvPr>
            <p:ph type="ftr" idx="11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18690621" name="Google Shape;58;p9"/>
          <p:cNvSpPr txBox="1"/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D37D4FDF-4089-73B0-78CF-67631ED57ECD}" type="slidenum">
              <a:rPr lang="en-US"/>
              <a:t/>
            </a:fld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753835" name="Google Shape;60;p10"/>
          <p:cNvSpPr txBox="1"/>
          <p:nvPr>
            <p:ph type="title"/>
          </p:nvPr>
        </p:nvSpPr>
        <p:spPr bwMode="auto">
          <a:xfrm>
            <a:off x="839787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03547859" name="Google Shape;61;p10"/>
          <p:cNvSpPr txBox="1"/>
          <p:nvPr>
            <p:ph type="body" idx="1"/>
          </p:nvPr>
        </p:nvSpPr>
        <p:spPr bwMode="auto">
          <a:xfrm>
            <a:off x="5183187" y="987424"/>
            <a:ext cx="6172200" cy="4873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rmAutofit/>
          </a:bodyPr>
          <a:lstStyle>
            <a:lvl1pPr marL="457200" lvl="0" indent="-431798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399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0999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599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599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599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599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599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599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91517876" name="Google Shape;62;p10"/>
          <p:cNvSpPr txBox="1"/>
          <p:nvPr>
            <p:ph type="body" idx="2"/>
          </p:nvPr>
        </p:nvSpPr>
        <p:spPr bwMode="auto">
          <a:xfrm>
            <a:off x="839787" y="2057400"/>
            <a:ext cx="3932236" cy="3811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871862713" name="Google Shape;63;p10"/>
          <p:cNvSpPr txBox="1"/>
          <p:nvPr>
            <p:ph type="dt" idx="10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5241413" name="Google Shape;64;p10"/>
          <p:cNvSpPr txBox="1"/>
          <p:nvPr>
            <p:ph type="ftr" idx="11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4046291" name="Google Shape;65;p10"/>
          <p:cNvSpPr txBox="1"/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6DEC4C12-0FF5-F762-1323-201803BF3BC7}" type="slidenum">
              <a:rPr lang="en-US"/>
              <a:t/>
            </a:fld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526423" name="Google Shape;67;p11"/>
          <p:cNvSpPr txBox="1"/>
          <p:nvPr>
            <p:ph type="title"/>
          </p:nvPr>
        </p:nvSpPr>
        <p:spPr bwMode="auto">
          <a:xfrm>
            <a:off x="839787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39585497" name="Google Shape;68;p11"/>
          <p:cNvSpPr/>
          <p:nvPr>
            <p:ph type="pic" idx="2"/>
          </p:nvPr>
        </p:nvSpPr>
        <p:spPr bwMode="auto">
          <a:xfrm>
            <a:off x="5183187" y="987424"/>
            <a:ext cx="6172200" cy="4873624"/>
          </a:xfrm>
          <a:prstGeom prst="rect">
            <a:avLst/>
          </a:prstGeom>
          <a:noFill/>
          <a:ln>
            <a:noFill/>
          </a:ln>
        </p:spPr>
      </p:sp>
      <p:sp>
        <p:nvSpPr>
          <p:cNvPr id="767128859" name="Google Shape;69;p11"/>
          <p:cNvSpPr txBox="1"/>
          <p:nvPr>
            <p:ph type="body" idx="1"/>
          </p:nvPr>
        </p:nvSpPr>
        <p:spPr bwMode="auto">
          <a:xfrm>
            <a:off x="839787" y="2057400"/>
            <a:ext cx="3932236" cy="3811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1208440595" name="Google Shape;70;p11"/>
          <p:cNvSpPr txBox="1"/>
          <p:nvPr>
            <p:ph type="dt" idx="10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5250216" name="Google Shape;71;p11"/>
          <p:cNvSpPr txBox="1"/>
          <p:nvPr>
            <p:ph type="ftr" idx="11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3382285" name="Google Shape;72;p11"/>
          <p:cNvSpPr txBox="1"/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E37E8548-23BB-49D0-8899-3DC220A97DCF}" type="slidenum">
              <a:rPr lang="en-US"/>
              <a:t/>
            </a:fld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220442" name="Google Shape;74;p12"/>
          <p:cNvSpPr txBox="1"/>
          <p:nvPr>
            <p:ph type="title"/>
          </p:nvPr>
        </p:nvSpPr>
        <p:spPr bwMode="auto">
          <a:xfrm>
            <a:off x="838198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16714752" name="Google Shape;75;p12"/>
          <p:cNvSpPr txBox="1"/>
          <p:nvPr>
            <p:ph type="body" idx="1"/>
          </p:nvPr>
        </p:nvSpPr>
        <p:spPr bwMode="auto">
          <a:xfrm rot="5399977">
            <a:off x="3920330" y="-1256505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49106642" name="Google Shape;76;p12"/>
          <p:cNvSpPr txBox="1"/>
          <p:nvPr>
            <p:ph type="dt" idx="10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44586772" name="Google Shape;77;p12"/>
          <p:cNvSpPr txBox="1"/>
          <p:nvPr>
            <p:ph type="ftr" idx="11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92568972" name="Google Shape;78;p12"/>
          <p:cNvSpPr txBox="1"/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986E7B6-D726-8749-606F-E2C865B1C534}" type="slidenum">
              <a:rPr lang="en-US"/>
              <a:t/>
            </a:fld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774315" name="Google Shape;80;p13"/>
          <p:cNvSpPr txBox="1"/>
          <p:nvPr>
            <p:ph type="title"/>
          </p:nvPr>
        </p:nvSpPr>
        <p:spPr bwMode="auto">
          <a:xfrm rot="5399977">
            <a:off x="7133430" y="1956593"/>
            <a:ext cx="5811837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0447962" name="Google Shape;81;p13"/>
          <p:cNvSpPr txBox="1"/>
          <p:nvPr>
            <p:ph type="body" idx="1"/>
          </p:nvPr>
        </p:nvSpPr>
        <p:spPr bwMode="auto">
          <a:xfrm rot="5399977">
            <a:off x="1799430" y="-596105"/>
            <a:ext cx="5811837" cy="773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43118984" name="Google Shape;82;p13"/>
          <p:cNvSpPr txBox="1"/>
          <p:nvPr>
            <p:ph type="dt" idx="10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85081555" name="Google Shape;83;p13"/>
          <p:cNvSpPr txBox="1"/>
          <p:nvPr>
            <p:ph type="ftr" idx="11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93595415" name="Google Shape;84;p13"/>
          <p:cNvSpPr txBox="1"/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25DA6807-AAB2-D0FF-4D97-12A22C71B8D5}" type="slidenum">
              <a:rPr lang="en-US"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0.xml"/><Relationship Id="rId29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50.xml"/><Relationship Id="rId39" Type="http://schemas.openxmlformats.org/officeDocument/2006/relationships/slideLayout" Target="../slideLayouts/slideLayout51.xml"/><Relationship Id="rId40" Type="http://schemas.openxmlformats.org/officeDocument/2006/relationships/slideLayout" Target="../slideLayouts/slideLayout52.xml"/><Relationship Id="rId41" Type="http://schemas.openxmlformats.org/officeDocument/2006/relationships/slideLayout" Target="../slideLayouts/slideLayout53.xml"/><Relationship Id="rId42" Type="http://schemas.openxmlformats.org/officeDocument/2006/relationships/slideLayout" Target="../slideLayouts/slideLayout54.xml"/><Relationship Id="rId43" Type="http://schemas.openxmlformats.org/officeDocument/2006/relationships/slideLayout" Target="../slideLayouts/slideLayout55.xml"/><Relationship Id="rId44" Type="http://schemas.openxmlformats.org/officeDocument/2006/relationships/slideLayout" Target="../slideLayouts/slideLayout56.xml"/><Relationship Id="rId45" Type="http://schemas.openxmlformats.org/officeDocument/2006/relationships/slideLayout" Target="../slideLayouts/slideLayout57.xml"/><Relationship Id="rId46" Type="http://schemas.openxmlformats.org/officeDocument/2006/relationships/slideLayout" Target="../slideLayouts/slideLayout58.xml"/><Relationship Id="rId47" Type="http://schemas.openxmlformats.org/officeDocument/2006/relationships/slideLayout" Target="../slideLayouts/slideLayout59.xml"/><Relationship Id="rId48" Type="http://schemas.openxmlformats.org/officeDocument/2006/relationships/slideLayout" Target="../slideLayouts/slideLayout60.xml"/><Relationship Id="rId49" Type="http://schemas.openxmlformats.org/officeDocument/2006/relationships/slideLayout" Target="../slideLayouts/slideLayout61.xml"/><Relationship Id="rId50" Type="http://schemas.openxmlformats.org/officeDocument/2006/relationships/slideLayout" Target="../slideLayouts/slideLayout62.xml"/><Relationship Id="rId51" Type="http://schemas.openxmlformats.org/officeDocument/2006/relationships/slideLayout" Target="../slideLayouts/slideLayout63.xml"/><Relationship Id="rId52" Type="http://schemas.openxmlformats.org/officeDocument/2006/relationships/slideLayout" Target="../slideLayouts/slideLayout64.xml"/><Relationship Id="rId53" Type="http://schemas.openxmlformats.org/officeDocument/2006/relationships/slideLayout" Target="../slideLayouts/slideLayout65.xml"/><Relationship Id="rId54" Type="http://schemas.openxmlformats.org/officeDocument/2006/relationships/slideLayout" Target="../slideLayouts/slideLayout66.xml"/><Relationship Id="rId55" Type="http://schemas.openxmlformats.org/officeDocument/2006/relationships/slideLayout" Target="../slideLayouts/slideLayout67.xml"/><Relationship Id="rId56" Type="http://schemas.openxmlformats.org/officeDocument/2006/relationships/slideLayout" Target="../slideLayouts/slideLayout68.xml"/><Relationship Id="rId57" Type="http://schemas.openxmlformats.org/officeDocument/2006/relationships/slideLayout" Target="../slideLayouts/slideLayout69.xml"/><Relationship Id="rId58" Type="http://schemas.openxmlformats.org/officeDocument/2006/relationships/slideLayout" Target="../slideLayouts/slideLayout70.xml"/><Relationship Id="rId59" Type="http://schemas.openxmlformats.org/officeDocument/2006/relationships/slideLayout" Target="../slideLayouts/slideLayout71.xml"/><Relationship Id="rId60" Type="http://schemas.openxmlformats.org/officeDocument/2006/relationships/slideLayout" Target="../slideLayouts/slideLayout72.xml"/><Relationship Id="rId61" Type="http://schemas.openxmlformats.org/officeDocument/2006/relationships/slideLayout" Target="../slideLayouts/slideLayout73.xml"/><Relationship Id="rId62" Type="http://schemas.openxmlformats.org/officeDocument/2006/relationships/slideLayout" Target="../slideLayouts/slideLayout74.xml"/><Relationship Id="rId63" Type="http://schemas.openxmlformats.org/officeDocument/2006/relationships/slideLayout" Target="../slideLayouts/slideLayout75.xml"/><Relationship Id="rId64" Type="http://schemas.openxmlformats.org/officeDocument/2006/relationships/slideLayout" Target="../slideLayouts/slideLayout76.xml"/><Relationship Id="rId65" Type="http://schemas.openxmlformats.org/officeDocument/2006/relationships/slideLayout" Target="../slideLayouts/slideLayout77.xml"/><Relationship Id="rId66" Type="http://schemas.openxmlformats.org/officeDocument/2006/relationships/slideLayout" Target="../slideLayouts/slideLayout78.xml"/><Relationship Id="rId67" Type="http://schemas.openxmlformats.org/officeDocument/2006/relationships/slideLayout" Target="../slideLayouts/slideLayout79.xml"/><Relationship Id="rId68" Type="http://schemas.openxmlformats.org/officeDocument/2006/relationships/slideLayout" Target="../slideLayouts/slideLayout80.xml"/><Relationship Id="rId69" Type="http://schemas.openxmlformats.org/officeDocument/2006/relationships/slideLayout" Target="../slideLayouts/slideLayout81.xml"/><Relationship Id="rId70" Type="http://schemas.openxmlformats.org/officeDocument/2006/relationships/slideLayout" Target="../slideLayouts/slideLayout82.xml"/><Relationship Id="rId71" Type="http://schemas.openxmlformats.org/officeDocument/2006/relationships/slideLayout" Target="../slideLayouts/slideLayout83.xml"/><Relationship Id="rId72" Type="http://schemas.openxmlformats.org/officeDocument/2006/relationships/slideLayout" Target="../slideLayouts/slideLayout84.xml"/><Relationship Id="rId73" Type="http://schemas.openxmlformats.org/officeDocument/2006/relationships/slideLayout" Target="../slideLayouts/slideLayout85.xml"/><Relationship Id="rId74" Type="http://schemas.openxmlformats.org/officeDocument/2006/relationships/slideLayout" Target="../slideLayouts/slideLayout86.xml"/><Relationship Id="rId75" Type="http://schemas.openxmlformats.org/officeDocument/2006/relationships/slideLayout" Target="../slideLayouts/slideLayout87.xml"/><Relationship Id="rId76" Type="http://schemas.openxmlformats.org/officeDocument/2006/relationships/slideLayout" Target="../slideLayouts/slideLayout88.xml"/><Relationship Id="rId77" Type="http://schemas.openxmlformats.org/officeDocument/2006/relationships/slideLayout" Target="../slideLayouts/slideLayout89.xml"/><Relationship Id="rId78" Type="http://schemas.openxmlformats.org/officeDocument/2006/relationships/slideLayout" Target="../slideLayouts/slideLayout90.xml"/><Relationship Id="rId79" Type="http://schemas.openxmlformats.org/officeDocument/2006/relationships/slideLayout" Target="../slideLayouts/slideLayout91.xml"/><Relationship Id="rId80" Type="http://schemas.openxmlformats.org/officeDocument/2006/relationships/slideLayout" Target="../slideLayouts/slideLayout92.xml"/><Relationship Id="rId81" Type="http://schemas.openxmlformats.org/officeDocument/2006/relationships/slideLayout" Target="../slideLayouts/slideLayout93.xml"/><Relationship Id="rId82" Type="http://schemas.openxmlformats.org/officeDocument/2006/relationships/theme" Target="../theme/theme2.xml"/><Relationship Id="rId83" Type="http://schemas.openxmlformats.org/officeDocument/2006/relationships/image" Target="../media/image1.png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slideLayout" Target="../slideLayouts/slideLayout95.xml"/><Relationship Id="rId3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8.xml"/><Relationship Id="rId6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101.xml"/><Relationship Id="rId9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103.xml"/><Relationship Id="rId11" Type="http://schemas.openxmlformats.org/officeDocument/2006/relationships/slideLayout" Target="../slideLayouts/slideLayout104.xml"/><Relationship Id="rId12" Type="http://schemas.openxmlformats.org/officeDocument/2006/relationships/slideLayout" Target="../slideLayouts/slideLayout105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0844319" name="Google Shape;10;p1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458781437" name="Google Shape;11;p1"/>
          <p:cNvSpPr txBox="1"/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87379090" name="Google Shape;12;p1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23898031" name="Google Shape;13;p1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22573158" name="Google Shape;14;p1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329874" name="Google Shape;86;p14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72926419" name="Google Shape;87;p14"/>
          <p:cNvSpPr txBox="1"/>
          <p:nvPr>
            <p:ph type="body" idx="1"/>
          </p:nvPr>
        </p:nvSpPr>
        <p:spPr bwMode="auto">
          <a:xfrm>
            <a:off x="623887" y="1825624"/>
            <a:ext cx="10944225" cy="397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marL="914400" marR="0" lvl="1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L="1371600" marR="0" lvl="2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3pPr>
            <a:lvl4pPr marL="1828800" marR="0" lvl="3" indent="-30480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4pPr>
            <a:lvl5pPr marL="2286000" marR="0" lvl="4" indent="-30480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647704164" name="Google Shape;88;p14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7319025" name="Google Shape;89;p14"/>
          <p:cNvSpPr txBox="1"/>
          <p:nvPr/>
        </p:nvSpPr>
        <p:spPr bwMode="auto">
          <a:xfrm>
            <a:off x="4967112" y="6380973"/>
            <a:ext cx="2257778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en-US"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rPr>
              <a:t>All Rights Reserved | Confidential</a:t>
            </a:r>
            <a:endParaRPr sz="900" b="0" i="0" u="none" strike="noStrike" cap="none">
              <a:solidFill>
                <a:srgbClr val="A0A4C4"/>
              </a:solidFill>
              <a:latin typeface="Montserrat Light"/>
              <a:ea typeface="Montserrat Light"/>
              <a:cs typeface="Montserrat Light"/>
            </a:endParaRPr>
          </a:p>
        </p:txBody>
      </p:sp>
      <p:pic>
        <p:nvPicPr>
          <p:cNvPr id="239770060" name="Google Shape;90;p14"/>
          <p:cNvPicPr/>
          <p:nvPr/>
        </p:nvPicPr>
        <p:blipFill>
          <a:blip r:embed="rId83">
            <a:alphaModFix/>
          </a:blip>
          <a:srcRect l="0" t="0" r="0" b="0"/>
          <a:stretch/>
        </p:blipFill>
        <p:spPr bwMode="auto">
          <a:xfrm>
            <a:off x="11174575" y="6499950"/>
            <a:ext cx="893275" cy="2818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  <p:sldLayoutId id="2147483703" r:id="rId42"/>
    <p:sldLayoutId id="2147483704" r:id="rId43"/>
    <p:sldLayoutId id="2147483705" r:id="rId44"/>
    <p:sldLayoutId id="2147483706" r:id="rId45"/>
    <p:sldLayoutId id="2147483707" r:id="rId46"/>
    <p:sldLayoutId id="2147483708" r:id="rId47"/>
    <p:sldLayoutId id="2147483709" r:id="rId48"/>
    <p:sldLayoutId id="2147483710" r:id="rId49"/>
    <p:sldLayoutId id="2147483711" r:id="rId50"/>
    <p:sldLayoutId id="2147483712" r:id="rId51"/>
    <p:sldLayoutId id="2147483713" r:id="rId52"/>
    <p:sldLayoutId id="2147483714" r:id="rId53"/>
    <p:sldLayoutId id="2147483715" r:id="rId54"/>
    <p:sldLayoutId id="2147483716" r:id="rId55"/>
    <p:sldLayoutId id="2147483717" r:id="rId56"/>
    <p:sldLayoutId id="2147483718" r:id="rId57"/>
    <p:sldLayoutId id="2147483719" r:id="rId58"/>
    <p:sldLayoutId id="2147483720" r:id="rId59"/>
    <p:sldLayoutId id="2147483721" r:id="rId60"/>
    <p:sldLayoutId id="2147483722" r:id="rId61"/>
    <p:sldLayoutId id="2147483723" r:id="rId62"/>
    <p:sldLayoutId id="2147483724" r:id="rId63"/>
    <p:sldLayoutId id="2147483725" r:id="rId64"/>
    <p:sldLayoutId id="2147483726" r:id="rId65"/>
    <p:sldLayoutId id="2147483727" r:id="rId66"/>
    <p:sldLayoutId id="2147483728" r:id="rId67"/>
    <p:sldLayoutId id="2147483729" r:id="rId68"/>
    <p:sldLayoutId id="2147483730" r:id="rId69"/>
    <p:sldLayoutId id="2147483731" r:id="rId70"/>
    <p:sldLayoutId id="2147483732" r:id="rId71"/>
    <p:sldLayoutId id="2147483733" r:id="rId72"/>
    <p:sldLayoutId id="2147483734" r:id="rId73"/>
    <p:sldLayoutId id="2147483735" r:id="rId74"/>
    <p:sldLayoutId id="2147483736" r:id="rId75"/>
    <p:sldLayoutId id="2147483737" r:id="rId76"/>
    <p:sldLayoutId id="2147483738" r:id="rId77"/>
    <p:sldLayoutId id="2147483739" r:id="rId78"/>
    <p:sldLayoutId id="2147483740" r:id="rId79"/>
    <p:sldLayoutId id="2147483741" r:id="rId80"/>
    <p:sldLayoutId id="2147483742" r:id="rId8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932688" name="Google Shape;10;p1"/>
          <p:cNvSpPr txBox="1"/>
          <p:nvPr>
            <p:ph type="title"/>
          </p:nvPr>
        </p:nvSpPr>
        <p:spPr bwMode="auto">
          <a:xfrm>
            <a:off x="838198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2095036525" name="Google Shape;11;p1"/>
          <p:cNvSpPr txBox="1"/>
          <p:nvPr>
            <p:ph type="body" idx="1"/>
          </p:nvPr>
        </p:nvSpPr>
        <p:spPr bwMode="auto">
          <a:xfrm>
            <a:off x="838198" y="182562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normAutofit/>
          </a:bodyPr>
          <a:lstStyle>
            <a:lvl1pPr marL="457200" marR="0" lvl="0" indent="-406399" algn="l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0999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599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58775721" name="Google Shape;12;p1"/>
          <p:cNvSpPr txBox="1"/>
          <p:nvPr>
            <p:ph type="dt" idx="10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48956100" name="Google Shape;13;p1"/>
          <p:cNvSpPr txBox="1"/>
          <p:nvPr>
            <p:ph type="ftr" idx="11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0222695" name="Google Shape;14;p1"/>
          <p:cNvSpPr txBox="1"/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7CF9619F-A6AB-C42B-DC49-0CFAEF8AA7E5}" type="slidenum">
              <a:rPr lang="en-US"/>
              <a:t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49079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-20024" y="-800098"/>
            <a:ext cx="12193949" cy="12193949"/>
          </a:xfrm>
          <a:prstGeom prst="rect">
            <a:avLst/>
          </a:prstGeom>
        </p:spPr>
      </p:pic>
      <p:sp>
        <p:nvSpPr>
          <p:cNvPr id="791011578" name="Google Shape;86;p1"/>
          <p:cNvSpPr txBox="1"/>
          <p:nvPr/>
        </p:nvSpPr>
        <p:spPr bwMode="auto">
          <a:xfrm flipH="0" flipV="0">
            <a:off x="4402498" y="3304086"/>
            <a:ext cx="7889968" cy="929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000" b="1">
                <a:solidFill>
                  <a:schemeClr val="bg1">
                    <a:alpha val="99999"/>
                  </a:schemeClr>
                </a:solidFill>
                <a:latin typeface="Arial"/>
                <a:ea typeface="Arial"/>
                <a:cs typeface="Arial"/>
              </a:rPr>
              <a:t>OWN | SHARE | EVOLVE</a:t>
            </a:r>
            <a:r>
              <a:rPr lang="en-US" sz="5500" b="1">
                <a:solidFill>
                  <a:schemeClr val="bg1">
                    <a:alpha val="99999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5500" b="1">
                <a:solidFill>
                  <a:schemeClr val="bg1">
                    <a:alpha val="99999"/>
                  </a:schemeClr>
                </a:solidFill>
                <a:latin typeface="Arial"/>
                <a:ea typeface="Arial"/>
                <a:cs typeface="Arial"/>
              </a:rPr>
              <a:t>YOUR AI</a:t>
            </a:r>
            <a:endParaRPr sz="5500" b="1">
              <a:solidFill>
                <a:schemeClr val="bg1">
                  <a:alpha val="99999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2779855" name=""/>
          <p:cNvSpPr txBox="1"/>
          <p:nvPr/>
        </p:nvSpPr>
        <p:spPr bwMode="auto">
          <a:xfrm rot="0" flipH="0" flipV="0">
            <a:off x="4040549" y="-285748"/>
            <a:ext cx="9099089" cy="3596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3000">
                <a:ln w="12699">
                  <a:solidFill>
                    <a:srgbClr val="14C8E8"/>
                  </a:solidFill>
                  <a:prstDash val="solid"/>
                </a:ln>
                <a:solidFill>
                  <a:srgbClr val="ED1F52"/>
                </a:solidFill>
                <a:latin typeface="Aquire"/>
                <a:ea typeface="Aquire"/>
                <a:cs typeface="Aquire"/>
              </a:rPr>
              <a:t>VIVIM</a:t>
            </a:r>
            <a:endParaRPr sz="23000">
              <a:ln w="12699">
                <a:solidFill>
                  <a:srgbClr val="14C8E8"/>
                </a:solidFill>
                <a:prstDash val="solid"/>
              </a:ln>
              <a:solidFill>
                <a:srgbClr val="ED1F52"/>
              </a:solidFill>
              <a:latin typeface="Aquire"/>
              <a:cs typeface="Aquir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882336" name="Google Shape;335;p44"/>
          <p:cNvSpPr txBox="1"/>
          <p:nvPr/>
        </p:nvSpPr>
        <p:spPr bwMode="auto">
          <a:xfrm flipH="0" flipV="0">
            <a:off x="261936" y="348762"/>
            <a:ext cx="12046313" cy="658727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3" tIns="45699" rIns="91423" bIns="45699" numCol="1" spcCol="0" rtlCol="0" fromWordArt="0" anchor="ctr" anchorCtr="0" forceAA="0" upright="0" compatLnSpc="0">
            <a:normAutofit fontScale="65000" lnSpcReduction="7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sz="7200">
                <a:latin typeface="Montserrat ExtraBold"/>
                <a:ea typeface="Montserrat ExtraBold"/>
                <a:cs typeface="Montserrat ExtraBold"/>
              </a:rPr>
              <a:t>AI without </a:t>
            </a:r>
            <a:r>
              <a:rPr sz="7200">
                <a:solidFill>
                  <a:srgbClr val="ED1F52"/>
                </a:solidFill>
                <a:latin typeface="Montserrat ExtraBold"/>
                <a:ea typeface="Montserrat ExtraBold"/>
                <a:cs typeface="Montserrat ExtraBold"/>
              </a:rPr>
              <a:t>VIVIM</a:t>
            </a:r>
            <a:endParaRPr sz="7200">
              <a:solidFill>
                <a:srgbClr val="FF0000"/>
              </a:solidFill>
              <a:latin typeface="Montserrat ExtraBold"/>
              <a:cs typeface="Montserrat ExtraBold"/>
            </a:endParaRPr>
          </a:p>
        </p:txBody>
      </p:sp>
      <p:sp>
        <p:nvSpPr>
          <p:cNvPr id="1618230302" name=""/>
          <p:cNvSpPr txBox="1"/>
          <p:nvPr/>
        </p:nvSpPr>
        <p:spPr bwMode="auto">
          <a:xfrm rot="0" flipH="0" flipV="0">
            <a:off x="1946434" y="1718130"/>
            <a:ext cx="7689474" cy="11890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strike="noStrike" cap="none" spc="0">
                <a:solidFill>
                  <a:srgbClr val="002060"/>
                </a:solidFill>
                <a:latin typeface="Montserrat SemiBold"/>
                <a:ea typeface="Montserrat SemiBold"/>
                <a:cs typeface="Montserrat SemiBold"/>
              </a:rPr>
              <a:t>Providers Own and resell Your Data</a:t>
            </a:r>
            <a:endParaRPr sz="3600">
              <a:solidFill>
                <a:srgbClr val="002060"/>
              </a:solidFill>
              <a:latin typeface="Montserrat SemiBold"/>
              <a:cs typeface="Montserrat SemiBold"/>
            </a:endParaRPr>
          </a:p>
        </p:txBody>
      </p:sp>
      <p:sp>
        <p:nvSpPr>
          <p:cNvPr id="1730506552" name=""/>
          <p:cNvSpPr txBox="1"/>
          <p:nvPr/>
        </p:nvSpPr>
        <p:spPr bwMode="auto">
          <a:xfrm rot="0" flipH="0" flipV="0">
            <a:off x="1946434" y="3508830"/>
            <a:ext cx="9296844" cy="11890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>
                <a:solidFill>
                  <a:srgbClr val="002060"/>
                </a:solidFill>
                <a:latin typeface="Montserrat SemiBold"/>
                <a:ea typeface="Montserrat SemiBold"/>
                <a:cs typeface="Montserrat SemiBold"/>
              </a:rPr>
              <a:t>Conversations limited to 1:1 / Human:AI </a:t>
            </a:r>
            <a:endParaRPr sz="14000">
              <a:solidFill>
                <a:srgbClr val="002060"/>
              </a:solidFill>
              <a:latin typeface="Montserrat SemiBold"/>
              <a:cs typeface="Montserrat SemiBold"/>
            </a:endParaRPr>
          </a:p>
        </p:txBody>
      </p:sp>
      <p:sp>
        <p:nvSpPr>
          <p:cNvPr id="1571127616" name=""/>
          <p:cNvSpPr txBox="1"/>
          <p:nvPr/>
        </p:nvSpPr>
        <p:spPr bwMode="auto">
          <a:xfrm rot="0" flipH="0" flipV="0">
            <a:off x="1946434" y="5299529"/>
            <a:ext cx="8555334" cy="11890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strike="noStrike" cap="none" spc="0">
                <a:solidFill>
                  <a:srgbClr val="002060"/>
                </a:solidFill>
                <a:latin typeface="Montserrat SemiBold"/>
                <a:ea typeface="Montserrat SemiBold"/>
                <a:cs typeface="Montserrat SemiBold"/>
              </a:rPr>
              <a:t>“Your Personalized AI” Lives in Silos</a:t>
            </a:r>
            <a:endParaRPr sz="14000">
              <a:solidFill>
                <a:srgbClr val="002060"/>
              </a:solidFill>
              <a:latin typeface="Montserrat SemiBold"/>
              <a:cs typeface="Montserrat SemiBold"/>
            </a:endParaRPr>
          </a:p>
        </p:txBody>
      </p:sp>
      <p:sp>
        <p:nvSpPr>
          <p:cNvPr id="1286694919" name=""/>
          <p:cNvSpPr txBox="1"/>
          <p:nvPr/>
        </p:nvSpPr>
        <p:spPr bwMode="auto">
          <a:xfrm rot="0" flipH="0" flipV="0">
            <a:off x="10385841" y="6146493"/>
            <a:ext cx="171593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>
                <a:ln w="12699">
                  <a:solidFill>
                    <a:srgbClr val="14C8E8"/>
                  </a:solidFill>
                  <a:prstDash val="solid"/>
                </a:ln>
                <a:solidFill>
                  <a:srgbClr val="ED1F52"/>
                </a:solidFill>
                <a:latin typeface="Aquire"/>
                <a:ea typeface="Aquire"/>
                <a:cs typeface="Aquire"/>
              </a:rPr>
              <a:t>VIVIM</a:t>
            </a:r>
            <a:endParaRPr sz="3600">
              <a:ln w="12699">
                <a:solidFill>
                  <a:srgbClr val="14C8E8"/>
                </a:solidFill>
                <a:prstDash val="solid"/>
              </a:ln>
              <a:solidFill>
                <a:srgbClr val="ED1F52"/>
              </a:solidFill>
              <a:latin typeface="Aquire"/>
              <a:cs typeface="Aquir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131180" name="Google Shape;335;p44"/>
          <p:cNvSpPr txBox="1"/>
          <p:nvPr/>
        </p:nvSpPr>
        <p:spPr bwMode="auto">
          <a:xfrm flipH="0" flipV="0">
            <a:off x="261936" y="348762"/>
            <a:ext cx="12046312" cy="658726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3" tIns="45699" rIns="91423" bIns="45699" numCol="1" spcCol="0" rtlCol="0" fromWordArt="0" anchor="ctr" anchorCtr="0" forceAA="0" upright="0" compatLnSpc="0">
            <a:normAutofit fontScale="65000" lnSpcReduction="7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sz="7200">
                <a:latin typeface="Montserrat ExtraBold"/>
                <a:ea typeface="Montserrat ExtraBold"/>
                <a:cs typeface="Montserrat ExtraBold"/>
              </a:rPr>
              <a:t>AI with </a:t>
            </a:r>
            <a:r>
              <a:rPr sz="7200">
                <a:solidFill>
                  <a:srgbClr val="ED1F52"/>
                </a:solidFill>
                <a:latin typeface="Montserrat ExtraBold"/>
                <a:ea typeface="Montserrat ExtraBold"/>
                <a:cs typeface="Montserrat ExtraBold"/>
              </a:rPr>
              <a:t>VIVIM </a:t>
            </a:r>
            <a:endParaRPr sz="7200">
              <a:solidFill>
                <a:srgbClr val="ED1F52"/>
              </a:solidFill>
              <a:latin typeface="Montserrat ExtraBold"/>
              <a:cs typeface="Montserrat ExtraBold"/>
            </a:endParaRPr>
          </a:p>
        </p:txBody>
      </p:sp>
      <p:sp>
        <p:nvSpPr>
          <p:cNvPr id="1162971653" name=""/>
          <p:cNvSpPr txBox="1"/>
          <p:nvPr/>
        </p:nvSpPr>
        <p:spPr bwMode="auto">
          <a:xfrm rot="0" flipH="0" flipV="0">
            <a:off x="1946433" y="1718129"/>
            <a:ext cx="769739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strike="noStrike" cap="none" spc="0">
                <a:solidFill>
                  <a:srgbClr val="002060"/>
                </a:solidFill>
                <a:latin typeface="Montserrat SemiBold"/>
                <a:ea typeface="Montserrat SemiBold"/>
                <a:cs typeface="Montserrat SemiBold"/>
              </a:rPr>
              <a:t>You own your data</a:t>
            </a:r>
            <a:endParaRPr sz="3600">
              <a:solidFill>
                <a:srgbClr val="002060"/>
              </a:solidFill>
              <a:latin typeface="Montserrat SemiBold"/>
              <a:cs typeface="Montserrat SemiBold"/>
            </a:endParaRPr>
          </a:p>
        </p:txBody>
      </p:sp>
      <p:sp>
        <p:nvSpPr>
          <p:cNvPr id="1460518475" name=""/>
          <p:cNvSpPr txBox="1"/>
          <p:nvPr/>
        </p:nvSpPr>
        <p:spPr bwMode="auto">
          <a:xfrm rot="0" flipH="0" flipV="0">
            <a:off x="1946433" y="2930979"/>
            <a:ext cx="933932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>
                <a:solidFill>
                  <a:srgbClr val="002060"/>
                </a:solidFill>
                <a:latin typeface="Montserrat SemiBold"/>
                <a:ea typeface="Montserrat SemiBold"/>
                <a:cs typeface="Montserrat SemiBold"/>
              </a:rPr>
              <a:t>You can post, share, follow - discover</a:t>
            </a:r>
            <a:endParaRPr sz="14000">
              <a:solidFill>
                <a:srgbClr val="002060"/>
              </a:solidFill>
              <a:latin typeface="Montserrat SemiBold"/>
              <a:cs typeface="Montserrat SemiBold"/>
            </a:endParaRPr>
          </a:p>
        </p:txBody>
      </p:sp>
      <p:sp>
        <p:nvSpPr>
          <p:cNvPr id="1599546980" name=""/>
          <p:cNvSpPr txBox="1"/>
          <p:nvPr/>
        </p:nvSpPr>
        <p:spPr bwMode="auto">
          <a:xfrm rot="0" flipH="0" flipV="0">
            <a:off x="1946433" y="4143828"/>
            <a:ext cx="859349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strike="noStrike" cap="none" spc="0">
                <a:solidFill>
                  <a:srgbClr val="002060"/>
                </a:solidFill>
                <a:latin typeface="Montserrat SemiBold"/>
                <a:ea typeface="Montserrat SemiBold"/>
                <a:cs typeface="Montserrat SemiBold"/>
              </a:rPr>
              <a:t>Your Personal AI evolves with you</a:t>
            </a:r>
            <a:endParaRPr sz="14000">
              <a:solidFill>
                <a:srgbClr val="002060"/>
              </a:solidFill>
              <a:latin typeface="Montserrat SemiBold"/>
              <a:cs typeface="Montserrat SemiBold"/>
            </a:endParaRPr>
          </a:p>
        </p:txBody>
      </p:sp>
      <p:sp>
        <p:nvSpPr>
          <p:cNvPr id="683363063" name=""/>
          <p:cNvSpPr txBox="1"/>
          <p:nvPr/>
        </p:nvSpPr>
        <p:spPr bwMode="auto">
          <a:xfrm rot="0" flipH="0" flipV="0">
            <a:off x="10385841" y="6146493"/>
            <a:ext cx="171593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>
                <a:ln w="12699">
                  <a:solidFill>
                    <a:srgbClr val="14C8E8"/>
                  </a:solidFill>
                  <a:prstDash val="solid"/>
                </a:ln>
                <a:solidFill>
                  <a:srgbClr val="ED1F52"/>
                </a:solidFill>
                <a:latin typeface="Aquire"/>
                <a:ea typeface="Aquire"/>
                <a:cs typeface="Aquire"/>
              </a:rPr>
              <a:t>VIVIM</a:t>
            </a:r>
            <a:endParaRPr sz="3600">
              <a:ln w="12699">
                <a:solidFill>
                  <a:srgbClr val="14C8E8"/>
                </a:solidFill>
                <a:prstDash val="solid"/>
              </a:ln>
              <a:solidFill>
                <a:srgbClr val="ED1F52"/>
              </a:solidFill>
              <a:latin typeface="Aquire"/>
              <a:cs typeface="Aquire"/>
            </a:endParaRPr>
          </a:p>
        </p:txBody>
      </p:sp>
      <p:sp>
        <p:nvSpPr>
          <p:cNvPr id="1654042347" name=""/>
          <p:cNvSpPr txBox="1"/>
          <p:nvPr/>
        </p:nvSpPr>
        <p:spPr bwMode="auto">
          <a:xfrm rot="0" flipH="0" flipV="0">
            <a:off x="1908333" y="5356677"/>
            <a:ext cx="862157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strike="noStrike" cap="none" spc="0">
                <a:solidFill>
                  <a:srgbClr val="002060"/>
                </a:solidFill>
                <a:latin typeface="Montserrat SemiBold"/>
                <a:ea typeface="Montserrat SemiBold"/>
                <a:cs typeface="Montserrat SemiBold"/>
              </a:rPr>
              <a:t>You earn when sharing</a:t>
            </a:r>
            <a:endParaRPr sz="14000">
              <a:solidFill>
                <a:srgbClr val="002060"/>
              </a:solidFill>
              <a:latin typeface="Montserrat SemiBold"/>
              <a:cs typeface="Montserrat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861228" name=""/>
          <p:cNvSpPr txBox="1"/>
          <p:nvPr/>
        </p:nvSpPr>
        <p:spPr bwMode="auto">
          <a:xfrm rot="0" flipH="0" flipV="0">
            <a:off x="270180" y="304799"/>
            <a:ext cx="11522398" cy="66754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400"/>
              <a:t>VIVIM v0:</a:t>
            </a:r>
            <a:endParaRPr sz="2400"/>
          </a:p>
          <a:p>
            <a:pPr marL="349965" indent="-349965" algn="l">
              <a:buFont typeface="Arial"/>
              <a:buChar char="•"/>
              <a:defRPr/>
            </a:pPr>
            <a:endParaRPr sz="2400"/>
          </a:p>
          <a:p>
            <a:pPr marL="349965" indent="-349965" algn="l">
              <a:buFont typeface="Arial"/>
              <a:buChar char="•"/>
              <a:defRPr/>
            </a:pPr>
            <a:r>
              <a:rPr sz="2400"/>
              <a:t>Import and Sync all your Existing AI Chats from ANY provider to a database  YOU OWN,</a:t>
            </a:r>
            <a:endParaRPr sz="2400"/>
          </a:p>
          <a:p>
            <a:pPr algn="l">
              <a:defRPr/>
            </a:pPr>
            <a:endParaRPr sz="2400"/>
          </a:p>
          <a:p>
            <a:pPr marL="349965" indent="-349965" algn="l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Fork, Splice, branch, merge, and recombine any conversation / Atomic Chat Unit (ACU) </a:t>
            </a:r>
            <a:endParaRPr lang="en-US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9965" indent="-349965" algn="l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Post, Share, Follow, Discover, Collaborate with your friends and colleagues</a:t>
            </a:r>
            <a:endParaRPr lang="en-US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9965" indent="-349965" algn="l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BYOK - full multi-model support to evolve your conversations with any provider</a:t>
            </a:r>
            <a:endParaRPr lang="en-US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9965" indent="-349965" algn="l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Intelligent Dynamic Living Context (All Your AIs memory in One)- your second brain with brains, knows what context to use when and why</a:t>
            </a:r>
            <a:endParaRPr lang="en-US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9965" indent="-349965" algn="l">
              <a:buFont typeface="Arial"/>
              <a:buChar char="•"/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9965" indent="-349965" algn="l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Earn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VIVIM tokens for any data you share to the network (VIVIM AI training tokens)</a:t>
            </a:r>
            <a:endParaRPr lang="en-US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9965" indent="-349965" algn="l">
              <a:buFont typeface="Arial"/>
              <a:buChar char="•"/>
              <a:defRPr/>
            </a:pPr>
            <a:endParaRPr sz="2400"/>
          </a:p>
        </p:txBody>
      </p:sp>
      <p:sp>
        <p:nvSpPr>
          <p:cNvPr id="826997252" name=""/>
          <p:cNvSpPr txBox="1"/>
          <p:nvPr/>
        </p:nvSpPr>
        <p:spPr bwMode="auto">
          <a:xfrm rot="0" flipH="0" flipV="0">
            <a:off x="10385841" y="6146493"/>
            <a:ext cx="171593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>
                <a:ln w="12699">
                  <a:solidFill>
                    <a:srgbClr val="14C8E8"/>
                  </a:solidFill>
                  <a:prstDash val="solid"/>
                </a:ln>
                <a:solidFill>
                  <a:srgbClr val="ED1F52"/>
                </a:solidFill>
                <a:latin typeface="Aquire"/>
                <a:ea typeface="Aquire"/>
                <a:cs typeface="Aquire"/>
              </a:rPr>
              <a:t>VIVIM</a:t>
            </a:r>
            <a:endParaRPr sz="3600">
              <a:ln w="12699">
                <a:solidFill>
                  <a:srgbClr val="14C8E8"/>
                </a:solidFill>
                <a:prstDash val="solid"/>
              </a:ln>
              <a:solidFill>
                <a:srgbClr val="ED1F52"/>
              </a:solidFill>
              <a:latin typeface="Aquire"/>
              <a:cs typeface="Aquir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976632" name="Google Shape;335;p44"/>
          <p:cNvSpPr txBox="1"/>
          <p:nvPr/>
        </p:nvSpPr>
        <p:spPr bwMode="auto">
          <a:xfrm flipH="0" flipV="0">
            <a:off x="261936" y="348762"/>
            <a:ext cx="12046312" cy="658726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3" tIns="45699" rIns="91423" bIns="45699" numCol="1" spcCol="0" rtlCol="0" fromWordArt="0" anchor="ctr" anchorCtr="0" forceAA="0" upright="0" compatLnSpc="0">
            <a:normAutofit fontScale="65000" lnSpcReduction="7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sz="7200">
                <a:solidFill>
                  <a:srgbClr val="ED1F52"/>
                </a:solidFill>
                <a:latin typeface="Montserrat ExtraBold"/>
                <a:ea typeface="Montserrat ExtraBold"/>
                <a:cs typeface="Montserrat ExtraBold"/>
              </a:rPr>
              <a:t>VIVIM </a:t>
            </a:r>
            <a:r>
              <a:rPr sz="7200">
                <a:solidFill>
                  <a:srgbClr val="03A883"/>
                </a:solidFill>
                <a:latin typeface="Montserrat ExtraBold"/>
                <a:ea typeface="Montserrat ExtraBold"/>
                <a:cs typeface="Montserrat ExtraBold"/>
              </a:rPr>
              <a:t>Enterprise</a:t>
            </a:r>
            <a:endParaRPr sz="7200">
              <a:solidFill>
                <a:srgbClr val="ED1F52"/>
              </a:solidFill>
              <a:latin typeface="Montserrat ExtraBold"/>
              <a:cs typeface="Montserrat ExtraBold"/>
            </a:endParaRPr>
          </a:p>
        </p:txBody>
      </p:sp>
      <p:sp>
        <p:nvSpPr>
          <p:cNvPr id="1730682017" name=""/>
          <p:cNvSpPr txBox="1"/>
          <p:nvPr/>
        </p:nvSpPr>
        <p:spPr bwMode="auto">
          <a:xfrm rot="0" flipH="0" flipV="0">
            <a:off x="1946433" y="1718129"/>
            <a:ext cx="771575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strike="noStrike" cap="none" spc="0">
                <a:solidFill>
                  <a:srgbClr val="002060"/>
                </a:solidFill>
                <a:latin typeface="Montserrat SemiBold"/>
                <a:ea typeface="Montserrat SemiBold"/>
                <a:cs typeface="Montserrat SemiBold"/>
              </a:rPr>
              <a:t>Team collaboration</a:t>
            </a:r>
            <a:endParaRPr sz="3600">
              <a:solidFill>
                <a:srgbClr val="002060"/>
              </a:solidFill>
              <a:latin typeface="Montserrat SemiBold"/>
              <a:cs typeface="Montserrat SemiBold"/>
            </a:endParaRPr>
          </a:p>
        </p:txBody>
      </p:sp>
      <p:sp>
        <p:nvSpPr>
          <p:cNvPr id="2143442636" name=""/>
          <p:cNvSpPr txBox="1"/>
          <p:nvPr/>
        </p:nvSpPr>
        <p:spPr bwMode="auto">
          <a:xfrm rot="0" flipH="0" flipV="0">
            <a:off x="1946433" y="3508830"/>
            <a:ext cx="934508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>
                <a:solidFill>
                  <a:srgbClr val="002060"/>
                </a:solidFill>
                <a:latin typeface="Montserrat SemiBold"/>
                <a:ea typeface="Montserrat SemiBold"/>
                <a:cs typeface="Montserrat SemiBold"/>
              </a:rPr>
              <a:t>AI Training data</a:t>
            </a:r>
            <a:endParaRPr sz="14000">
              <a:solidFill>
                <a:srgbClr val="002060"/>
              </a:solidFill>
              <a:latin typeface="Montserrat SemiBold"/>
              <a:cs typeface="Montserrat SemiBold"/>
            </a:endParaRPr>
          </a:p>
        </p:txBody>
      </p:sp>
      <p:sp>
        <p:nvSpPr>
          <p:cNvPr id="1153012199" name=""/>
          <p:cNvSpPr txBox="1"/>
          <p:nvPr/>
        </p:nvSpPr>
        <p:spPr bwMode="auto">
          <a:xfrm rot="0" flipH="0" flipV="0">
            <a:off x="1946433" y="5299528"/>
            <a:ext cx="858953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strike="noStrike" cap="none" spc="0">
                <a:solidFill>
                  <a:srgbClr val="002060"/>
                </a:solidFill>
                <a:latin typeface="Montserrat SemiBold"/>
                <a:ea typeface="Montserrat SemiBold"/>
                <a:cs typeface="Montserrat SemiBold"/>
              </a:rPr>
              <a:t>VIVIM AI Models</a:t>
            </a:r>
            <a:endParaRPr sz="14000">
              <a:solidFill>
                <a:srgbClr val="002060"/>
              </a:solidFill>
              <a:latin typeface="Montserrat SemiBold"/>
              <a:cs typeface="Montserrat SemiBold"/>
            </a:endParaRPr>
          </a:p>
        </p:txBody>
      </p:sp>
      <p:sp>
        <p:nvSpPr>
          <p:cNvPr id="1753294883" name=""/>
          <p:cNvSpPr txBox="1"/>
          <p:nvPr/>
        </p:nvSpPr>
        <p:spPr bwMode="auto">
          <a:xfrm rot="0" flipH="0" flipV="0">
            <a:off x="10385841" y="6146493"/>
            <a:ext cx="171593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>
                <a:ln w="12699">
                  <a:solidFill>
                    <a:srgbClr val="14C8E8"/>
                  </a:solidFill>
                  <a:prstDash val="solid"/>
                </a:ln>
                <a:solidFill>
                  <a:srgbClr val="ED1F52"/>
                </a:solidFill>
                <a:latin typeface="Aquire"/>
                <a:ea typeface="Aquire"/>
                <a:cs typeface="Aquire"/>
              </a:rPr>
              <a:t>VIVIM</a:t>
            </a:r>
            <a:endParaRPr sz="3600">
              <a:ln w="12699">
                <a:solidFill>
                  <a:srgbClr val="14C8E8"/>
                </a:solidFill>
                <a:prstDash val="solid"/>
              </a:ln>
              <a:solidFill>
                <a:srgbClr val="ED1F52"/>
              </a:solidFill>
              <a:latin typeface="Aquire"/>
              <a:cs typeface="Aquir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8836034" name="Google Shape;2184;p212"/>
          <p:cNvSpPr/>
          <p:nvPr/>
        </p:nvSpPr>
        <p:spPr bwMode="auto">
          <a:xfrm>
            <a:off x="-828" y="157106"/>
            <a:ext cx="12192000" cy="6543841"/>
          </a:xfrm>
          <a:prstGeom prst="rect">
            <a:avLst/>
          </a:prstGeom>
          <a:solidFill>
            <a:srgbClr val="FFFCFC"/>
          </a:solidFill>
          <a:ln>
            <a:noFill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12164806" name="Google Shape;2185;p212"/>
          <p:cNvSpPr/>
          <p:nvPr/>
        </p:nvSpPr>
        <p:spPr bwMode="auto">
          <a:xfrm>
            <a:off x="981261" y="1054608"/>
            <a:ext cx="10262368" cy="4780379"/>
          </a:xfrm>
          <a:custGeom>
            <a:avLst/>
            <a:gdLst/>
            <a:ahLst/>
            <a:cxnLst/>
            <a:rect l="l" t="t" r="r" b="b"/>
            <a:pathLst>
              <a:path w="10262370" h="4780380" fill="norm" stroke="1" extrusionOk="0">
                <a:moveTo>
                  <a:pt x="0" y="4780380"/>
                </a:moveTo>
                <a:cubicBezTo>
                  <a:pt x="1506190" y="4441269"/>
                  <a:pt x="2924113" y="5210192"/>
                  <a:pt x="4501304" y="3913789"/>
                </a:cubicBezTo>
                <a:cubicBezTo>
                  <a:pt x="5953474" y="2534124"/>
                  <a:pt x="6233844" y="2370296"/>
                  <a:pt x="7994411" y="2203695"/>
                </a:cubicBezTo>
                <a:cubicBezTo>
                  <a:pt x="9696437" y="2232561"/>
                  <a:pt x="9461688" y="600863"/>
                  <a:pt x="10262370" y="0"/>
                </a:cubicBezTo>
              </a:path>
            </a:pathLst>
          </a:custGeom>
          <a:noFill/>
          <a:ln w="22225" cap="flat" cmpd="sng">
            <a:solidFill>
              <a:srgbClr val="D0CEC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3" tIns="45699" rIns="91423" bIns="45699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60044229" name="Google Shape;2186;p212"/>
          <p:cNvSpPr/>
          <p:nvPr/>
        </p:nvSpPr>
        <p:spPr bwMode="auto">
          <a:xfrm>
            <a:off x="630418" y="1927122"/>
            <a:ext cx="3492216" cy="434451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3" tIns="45699" rIns="91423" bIns="45699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5910140" name="Google Shape;2187;p212"/>
          <p:cNvSpPr/>
          <p:nvPr/>
        </p:nvSpPr>
        <p:spPr bwMode="auto">
          <a:xfrm>
            <a:off x="1984448" y="3752382"/>
            <a:ext cx="58473" cy="29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 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411000123" name="Google Shape;2188;p212"/>
          <p:cNvSpPr/>
          <p:nvPr/>
        </p:nvSpPr>
        <p:spPr bwMode="auto">
          <a:xfrm>
            <a:off x="8025507" y="131548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5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36 Months</a:t>
            </a:r>
            <a:endParaRPr sz="205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214640494" name="Google Shape;2189;p212"/>
          <p:cNvSpPr/>
          <p:nvPr/>
        </p:nvSpPr>
        <p:spPr bwMode="auto">
          <a:xfrm>
            <a:off x="4327962" y="131548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5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18 Months</a:t>
            </a:r>
            <a:endParaRPr sz="205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912498416" name="Google Shape;2190;p212"/>
          <p:cNvSpPr/>
          <p:nvPr/>
        </p:nvSpPr>
        <p:spPr bwMode="auto">
          <a:xfrm>
            <a:off x="630418" y="131548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5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12 Months </a:t>
            </a:r>
            <a:endParaRPr sz="205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294604513" name="Google Shape;2191;p212"/>
          <p:cNvSpPr/>
          <p:nvPr/>
        </p:nvSpPr>
        <p:spPr bwMode="auto">
          <a:xfrm rot="-5399977">
            <a:off x="-1040608" y="3739003"/>
            <a:ext cx="2720850" cy="325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50" b="1">
                <a:solidFill>
                  <a:srgbClr val="002060"/>
                </a:solidFill>
                <a:latin typeface="Montserrat"/>
                <a:ea typeface="Montserrat"/>
                <a:cs typeface="Montserrat"/>
              </a:rPr>
              <a:t>Deliverables</a:t>
            </a:r>
            <a:endParaRPr sz="2350" b="1">
              <a:solidFill>
                <a:srgbClr val="00206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057629117" name="Google Shape;2192;p212"/>
          <p:cNvSpPr/>
          <p:nvPr/>
        </p:nvSpPr>
        <p:spPr bwMode="auto">
          <a:xfrm>
            <a:off x="1195054" y="2388324"/>
            <a:ext cx="2812214" cy="145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33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3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Dsfadsfasdf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marR="0" lvl="0" indent="0" algn="l" rtl="0">
              <a:lnSpc>
                <a:spcPct val="14833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3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Sdafadsf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marR="0" lvl="0" indent="0" algn="l" rtl="0">
              <a:lnSpc>
                <a:spcPct val="14833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3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asdfasdf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466329219" name="Google Shape;2193;p212"/>
          <p:cNvSpPr/>
          <p:nvPr/>
        </p:nvSpPr>
        <p:spPr bwMode="auto">
          <a:xfrm>
            <a:off x="948367" y="2136216"/>
            <a:ext cx="2928393" cy="23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kasdhfkhl</a:t>
            </a:r>
            <a:endParaRPr sz="14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163814985" name="Google Shape;2194;p212"/>
          <p:cNvSpPr/>
          <p:nvPr/>
        </p:nvSpPr>
        <p:spPr bwMode="auto">
          <a:xfrm>
            <a:off x="1211500" y="4033330"/>
            <a:ext cx="2647758" cy="1490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95990" marR="0" lvl="1" indent="-147996" algn="l" rtl="0">
              <a:lnSpc>
                <a:spcPct val="1483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Calibri"/>
              <a:buAutoNum type="arabicPeriod"/>
              <a:defRPr/>
            </a:pPr>
            <a:r>
              <a:rPr lang="en-US" sz="13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asdfasdfsdafd</a:t>
            </a:r>
            <a:endParaRPr sz="13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654514376" name="Google Shape;2195;p212"/>
          <p:cNvSpPr/>
          <p:nvPr/>
        </p:nvSpPr>
        <p:spPr bwMode="auto">
          <a:xfrm>
            <a:off x="981261" y="3752382"/>
            <a:ext cx="2755568" cy="23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asdf</a:t>
            </a:r>
            <a:endParaRPr sz="14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079384990" name="Google Shape;2196;p212"/>
          <p:cNvSpPr/>
          <p:nvPr/>
        </p:nvSpPr>
        <p:spPr bwMode="auto">
          <a:xfrm>
            <a:off x="997704" y="4920735"/>
            <a:ext cx="2755568" cy="4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asdfdsaf</a:t>
            </a:r>
            <a:endParaRPr sz="14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445912500" name="Google Shape;2197;p212"/>
          <p:cNvSpPr/>
          <p:nvPr/>
        </p:nvSpPr>
        <p:spPr bwMode="auto">
          <a:xfrm>
            <a:off x="2854244" y="6168008"/>
            <a:ext cx="2563702" cy="29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>
                <a:solidFill>
                  <a:srgbClr val="002060"/>
                </a:solidFill>
                <a:latin typeface="Montserrat"/>
                <a:ea typeface="Montserrat"/>
                <a:cs typeface="Montserrat"/>
              </a:rPr>
              <a:t>MVP </a:t>
            </a:r>
            <a:endParaRPr sz="1600" b="1">
              <a:solidFill>
                <a:srgbClr val="00206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796538178" name="Google Shape;2198;p212"/>
          <p:cNvSpPr/>
          <p:nvPr/>
        </p:nvSpPr>
        <p:spPr bwMode="auto">
          <a:xfrm>
            <a:off x="4544497" y="2136216"/>
            <a:ext cx="3303759" cy="414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adsfdsaf</a:t>
            </a:r>
            <a:endParaRPr sz="14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294576993" name="Google Shape;2199;p212"/>
          <p:cNvSpPr/>
          <p:nvPr/>
        </p:nvSpPr>
        <p:spPr bwMode="auto">
          <a:xfrm>
            <a:off x="4528051" y="3752382"/>
            <a:ext cx="3303759" cy="414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zdsfd</a:t>
            </a:r>
            <a:endParaRPr sz="14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490336781" name="Google Shape;2200;p212"/>
          <p:cNvSpPr/>
          <p:nvPr/>
        </p:nvSpPr>
        <p:spPr bwMode="auto">
          <a:xfrm>
            <a:off x="8173518" y="3752382"/>
            <a:ext cx="3303759" cy="414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SDFGF</a:t>
            </a:r>
            <a:endParaRPr sz="14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954697720" name="Google Shape;2201;p212"/>
          <p:cNvSpPr/>
          <p:nvPr/>
        </p:nvSpPr>
        <p:spPr bwMode="auto">
          <a:xfrm>
            <a:off x="4478715" y="4969077"/>
            <a:ext cx="3303759" cy="414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asdfdf</a:t>
            </a:r>
            <a:endParaRPr sz="14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009124187" name="Google Shape;2202;p212"/>
          <p:cNvSpPr/>
          <p:nvPr/>
        </p:nvSpPr>
        <p:spPr bwMode="auto">
          <a:xfrm>
            <a:off x="8173518" y="4985518"/>
            <a:ext cx="3303759" cy="414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SDFDSF</a:t>
            </a:r>
            <a:endParaRPr sz="14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57263845" name="Google Shape;2203;p212"/>
          <p:cNvSpPr/>
          <p:nvPr/>
        </p:nvSpPr>
        <p:spPr bwMode="auto">
          <a:xfrm>
            <a:off x="8173518" y="2136216"/>
            <a:ext cx="3303759" cy="414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DFGFDG</a:t>
            </a:r>
            <a:endParaRPr sz="14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2141722" name="Google Shape;2204;p212"/>
          <p:cNvSpPr/>
          <p:nvPr/>
        </p:nvSpPr>
        <p:spPr bwMode="auto">
          <a:xfrm>
            <a:off x="7206472" y="6146493"/>
            <a:ext cx="2563702" cy="29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rtl="0">
              <a:defRPr/>
            </a:pPr>
            <a:r>
              <a:rPr lang="en-US" sz="1600" b="1">
                <a:solidFill>
                  <a:srgbClr val="002060"/>
                </a:solidFill>
                <a:latin typeface="Montserrat"/>
                <a:ea typeface="Montserrat"/>
                <a:cs typeface="Montserrat"/>
              </a:rPr>
              <a:t>VIVIM Tokens</a:t>
            </a:r>
            <a:endParaRPr sz="1600">
              <a:solidFill>
                <a:srgbClr val="002060"/>
              </a:solidFill>
            </a:endParaRPr>
          </a:p>
        </p:txBody>
      </p:sp>
      <p:pic>
        <p:nvPicPr>
          <p:cNvPr id="2087552976" name="Google Shape;2205;p212" descr="preencoded.png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948290" y="5507001"/>
            <a:ext cx="10300556" cy="474633"/>
          </a:xfrm>
          <a:prstGeom prst="rect">
            <a:avLst/>
          </a:prstGeom>
          <a:noFill/>
          <a:ln>
            <a:noFill/>
          </a:ln>
        </p:spPr>
      </p:pic>
      <p:sp>
        <p:nvSpPr>
          <p:cNvPr id="1413957660" name="Google Shape;2206;p212"/>
          <p:cNvSpPr/>
          <p:nvPr/>
        </p:nvSpPr>
        <p:spPr bwMode="auto">
          <a:xfrm>
            <a:off x="3985342" y="5626749"/>
            <a:ext cx="219276" cy="2192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561115605" name="Google Shape;2207;p212" descr="preencoded.png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8005142" y="3647241"/>
            <a:ext cx="30819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47117009" name="Google Shape;2208;p212"/>
          <p:cNvSpPr txBox="1"/>
          <p:nvPr/>
        </p:nvSpPr>
        <p:spPr bwMode="auto">
          <a:xfrm>
            <a:off x="0" y="0"/>
            <a:ext cx="2854550" cy="584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  <a:defRPr/>
            </a:pPr>
            <a:r>
              <a:rPr lang="en-US"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ROADMAP</a:t>
            </a:r>
            <a:endParaRPr/>
          </a:p>
        </p:txBody>
      </p:sp>
      <p:sp>
        <p:nvSpPr>
          <p:cNvPr id="1953898634" name="Google Shape;2210;p212"/>
          <p:cNvSpPr txBox="1"/>
          <p:nvPr/>
        </p:nvSpPr>
        <p:spPr bwMode="auto">
          <a:xfrm>
            <a:off x="-828" y="5547653"/>
            <a:ext cx="2563701" cy="523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>
                <a:solidFill>
                  <a:srgbClr val="D0CECE"/>
                </a:solidFill>
                <a:latin typeface="Montserrat"/>
                <a:ea typeface="Montserrat"/>
                <a:cs typeface="Montserrat"/>
              </a:rPr>
              <a:t>Revenue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>
                <a:solidFill>
                  <a:srgbClr val="D0CECE"/>
                </a:solidFill>
                <a:latin typeface="Montserrat"/>
                <a:ea typeface="Montserrat"/>
                <a:cs typeface="Montserrat"/>
              </a:rPr>
              <a:t>Path $$</a:t>
            </a:r>
            <a:endParaRPr/>
          </a:p>
        </p:txBody>
      </p:sp>
      <p:sp>
        <p:nvSpPr>
          <p:cNvPr id="1553462251" name="Google Shape;2211;p212"/>
          <p:cNvSpPr/>
          <p:nvPr/>
        </p:nvSpPr>
        <p:spPr bwMode="auto">
          <a:xfrm>
            <a:off x="7910386" y="5654152"/>
            <a:ext cx="219276" cy="219223"/>
          </a:xfrm>
          <a:prstGeom prst="ellipse">
            <a:avLst/>
          </a:prstGeom>
          <a:solidFill>
            <a:srgbClr val="ECAAAA"/>
          </a:solidFill>
          <a:ln>
            <a:noFill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97575048" name="Google Shape;2212;p212"/>
          <p:cNvSpPr/>
          <p:nvPr/>
        </p:nvSpPr>
        <p:spPr bwMode="auto">
          <a:xfrm>
            <a:off x="1171036" y="5206368"/>
            <a:ext cx="2755568" cy="4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Dev plan &amp; cost layout details  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76399771" name=""/>
          <p:cNvSpPr txBox="1"/>
          <p:nvPr/>
        </p:nvSpPr>
        <p:spPr bwMode="auto">
          <a:xfrm rot="0" flipH="0" flipV="0">
            <a:off x="10385841" y="6146493"/>
            <a:ext cx="171557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>
                <a:ln w="12699">
                  <a:solidFill>
                    <a:srgbClr val="14C8E8"/>
                  </a:solidFill>
                  <a:prstDash val="solid"/>
                </a:ln>
                <a:solidFill>
                  <a:srgbClr val="ED1F52"/>
                </a:solidFill>
                <a:latin typeface="Aquire"/>
                <a:ea typeface="Aquire"/>
                <a:cs typeface="Aquire"/>
              </a:rPr>
              <a:t>VIVIM</a:t>
            </a:r>
            <a:endParaRPr sz="3600">
              <a:ln w="12699">
                <a:solidFill>
                  <a:srgbClr val="14C8E8"/>
                </a:solidFill>
                <a:prstDash val="solid"/>
              </a:ln>
              <a:solidFill>
                <a:srgbClr val="ED1F52"/>
              </a:solidFill>
              <a:latin typeface="Aquire"/>
              <a:cs typeface="Aquir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85187" name="Google Shape;2664;p237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055150" name="Google Shape;2665;p237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/>
            </a:pPr>
            <a:endParaRPr/>
          </a:p>
        </p:txBody>
      </p:sp>
      <p:sp>
        <p:nvSpPr>
          <p:cNvPr id="257130537" name="Google Shape;2666;p237"/>
          <p:cNvSpPr txBox="1"/>
          <p:nvPr>
            <p:ph type="title"/>
          </p:nvPr>
        </p:nvSpPr>
        <p:spPr bwMode="auto">
          <a:xfrm>
            <a:off x="623887" y="2856934"/>
            <a:ext cx="10944225" cy="74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ontserrat ExtraLight"/>
              <a:buNone/>
              <a:defRPr/>
            </a:pPr>
            <a:r>
              <a:rPr lang="en-US"/>
              <a:t>backup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34394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0" y="0"/>
            <a:ext cx="12227995" cy="68960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790928" name=""/>
          <p:cNvSpPr txBox="1"/>
          <p:nvPr/>
        </p:nvSpPr>
        <p:spPr bwMode="auto">
          <a:xfrm rot="0" flipH="0" flipV="0">
            <a:off x="-36150" y="2125800"/>
            <a:ext cx="9101968" cy="2225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0">
                <a:ln w="12699">
                  <a:solidFill>
                    <a:srgbClr val="14C8E8"/>
                  </a:solidFill>
                  <a:prstDash val="solid"/>
                </a:ln>
                <a:solidFill>
                  <a:srgbClr val="ED1F52"/>
                </a:solidFill>
                <a:latin typeface="Aquire"/>
                <a:ea typeface="Aquire"/>
                <a:cs typeface="Aquire"/>
              </a:rPr>
              <a:t>VIVIM</a:t>
            </a:r>
            <a:endParaRPr sz="14000">
              <a:ln w="12699">
                <a:solidFill>
                  <a:srgbClr val="14C8E8"/>
                </a:solidFill>
                <a:prstDash val="solid"/>
              </a:ln>
              <a:solidFill>
                <a:srgbClr val="ED1F52"/>
              </a:solidFill>
              <a:latin typeface="Aquire"/>
              <a:cs typeface="Aquire"/>
            </a:endParaRPr>
          </a:p>
        </p:txBody>
      </p:sp>
      <p:cxnSp>
        <p:nvCxnSpPr>
          <p:cNvPr id="1215045266" name=""/>
          <p:cNvCxnSpPr/>
          <p:nvPr/>
        </p:nvCxnSpPr>
        <p:spPr bwMode="auto">
          <a:xfrm flipH="0" flipV="0">
            <a:off x="5335949" y="571500"/>
            <a:ext cx="0" cy="605790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9848397" name="Google Shape;2123;p208"/>
          <p:cNvSpPr/>
          <p:nvPr/>
        </p:nvSpPr>
        <p:spPr bwMode="auto">
          <a:xfrm>
            <a:off x="5637642" y="2582966"/>
            <a:ext cx="6408343" cy="249367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12947020" name="Google Shape;2124;p208"/>
          <p:cNvSpPr/>
          <p:nvPr/>
        </p:nvSpPr>
        <p:spPr bwMode="auto">
          <a:xfrm>
            <a:off x="7512453" y="2144493"/>
            <a:ext cx="2658721" cy="78920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>VISI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46891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0" y="0"/>
            <a:ext cx="12858190" cy="68960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9568733" name="Google Shape;2445;p225" descr="A close up of a person's skin&#10;&#10;Description automatically generated with low confidence"/>
          <p:cNvPicPr/>
          <p:nvPr>
            <p:ph type="pic" idx="2"/>
          </p:nvPr>
        </p:nvPicPr>
        <p:blipFill>
          <a:blip r:embed="rId3">
            <a:alphaModFix/>
          </a:blip>
          <a:srcRect l="0" t="24714" r="0" b="24712"/>
          <a:stretch/>
        </p:blipFill>
        <p:spPr bwMode="auto">
          <a:xfrm rot="10800000">
            <a:off x="0" y="0"/>
            <a:ext cx="12192000" cy="6165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1641669093" name="Google Shape;2446;p225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fld id="{00000000-1234-1234-1234-123412341234}" type="slidenum">
              <a:rPr lang="en-US"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rPr>
              <a:t>‹#›</a:t>
            </a:fld>
            <a:endParaRPr sz="900" b="0" i="0" u="none" strike="noStrike" cap="none">
              <a:solidFill>
                <a:srgbClr val="A0A4C4"/>
              </a:solidFill>
              <a:latin typeface="Montserrat Light"/>
              <a:ea typeface="Montserrat Light"/>
              <a:cs typeface="Montserrat Light"/>
            </a:endParaRPr>
          </a:p>
        </p:txBody>
      </p:sp>
      <p:pic>
        <p:nvPicPr>
          <p:cNvPr id="772608658" name="Google Shape;2450;p225" descr="preencoded.png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10880522" y="6380973"/>
            <a:ext cx="1001729" cy="2524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714321724" name="Google Shape;2123;p208"/>
          <p:cNvSpPr/>
          <p:nvPr/>
        </p:nvSpPr>
        <p:spPr bwMode="auto">
          <a:xfrm>
            <a:off x="2894443" y="2234292"/>
            <a:ext cx="6408344" cy="249367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11740692" name="Google Shape;2124;p208"/>
          <p:cNvSpPr/>
          <p:nvPr/>
        </p:nvSpPr>
        <p:spPr bwMode="auto">
          <a:xfrm>
            <a:off x="4769254" y="1795819"/>
            <a:ext cx="2658722" cy="78920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78403334" name="Google Shape;2125;p208"/>
          <p:cNvSpPr/>
          <p:nvPr/>
        </p:nvSpPr>
        <p:spPr bwMode="auto">
          <a:xfrm>
            <a:off x="4719917" y="1746493"/>
            <a:ext cx="2757397" cy="887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VISION</a:t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279550078" name="Google Shape;2126;p208"/>
          <p:cNvSpPr/>
          <p:nvPr/>
        </p:nvSpPr>
        <p:spPr bwMode="auto">
          <a:xfrm>
            <a:off x="3009564" y="2661783"/>
            <a:ext cx="6084912" cy="1830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310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3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bg>
      <p:bgPr shadeToTitle="0">
        <a:solidFill>
          <a:schemeClr val="lt1">
            <a:alpha val="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749499" name=""/>
          <p:cNvSpPr txBox="1"/>
          <p:nvPr/>
        </p:nvSpPr>
        <p:spPr bwMode="auto">
          <a:xfrm rot="0" flipH="0" flipV="0">
            <a:off x="361949" y="590549"/>
            <a:ext cx="10037398" cy="3749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/>
              <a:t>At VIVIM</a:t>
            </a:r>
            <a:r>
              <a:rPr sz="4800"/>
              <a:t> we believe AI is not owned by any one company, any one algorythm or even any one nation. </a:t>
            </a:r>
            <a:endParaRPr sz="4800"/>
          </a:p>
          <a:p>
            <a:pPr>
              <a:defRPr/>
            </a:pPr>
            <a:r>
              <a:rPr sz="4800"/>
              <a:t>We build the tools to ensure this vision is executable.</a:t>
            </a:r>
            <a:endParaRPr sz="4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61473" name="Google Shape;2121;p208"/>
          <p:cNvSpPr/>
          <p:nvPr/>
        </p:nvSpPr>
        <p:spPr bwMode="auto">
          <a:xfrm>
            <a:off x="0" y="157107"/>
            <a:ext cx="12197234" cy="6543842"/>
          </a:xfrm>
          <a:prstGeom prst="rect">
            <a:avLst/>
          </a:prstGeom>
          <a:solidFill>
            <a:srgbClr val="FFF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394527745" name="Google Shape;2122;p208" descr="preencoded.png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175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90417946" name="Google Shape;2123;p208"/>
          <p:cNvSpPr/>
          <p:nvPr/>
        </p:nvSpPr>
        <p:spPr bwMode="auto">
          <a:xfrm>
            <a:off x="2894444" y="2234293"/>
            <a:ext cx="6408345" cy="249367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0524902" name="Google Shape;2124;p208"/>
          <p:cNvSpPr/>
          <p:nvPr/>
        </p:nvSpPr>
        <p:spPr bwMode="auto">
          <a:xfrm>
            <a:off x="4769255" y="1795820"/>
            <a:ext cx="2658723" cy="78920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52338441" name="Google Shape;2125;p208"/>
          <p:cNvSpPr/>
          <p:nvPr/>
        </p:nvSpPr>
        <p:spPr bwMode="auto">
          <a:xfrm>
            <a:off x="4719918" y="1746494"/>
            <a:ext cx="2757398" cy="887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VISION</a:t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335856958" name="Google Shape;2126;p208"/>
          <p:cNvSpPr/>
          <p:nvPr/>
        </p:nvSpPr>
        <p:spPr bwMode="auto">
          <a:xfrm>
            <a:off x="3009565" y="2661784"/>
            <a:ext cx="6084913" cy="1830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0887701" name=""/>
          <p:cNvSpPr txBox="1"/>
          <p:nvPr/>
        </p:nvSpPr>
        <p:spPr bwMode="auto">
          <a:xfrm rot="0" flipH="0" flipV="0">
            <a:off x="2958211" y="-211959336"/>
            <a:ext cx="6275576" cy="43077667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 VIVIM — 10 Development &amp; Growth Milestones</a:t>
            </a:r>
            <a:endParaRPr/>
          </a:p>
          <a:p>
            <a:pPr algn="l">
              <a:defRPr/>
            </a:pPr>
            <a:r>
              <a:rPr/>
              <a:t>## From First Line of Code to First Dividend Check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*Each milestone is a discrete, demonstrable achievement that de-risks the business, unlocks the next phase, and builds toward the flywheel moment: the first user dividend distribution.*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 MILESTONE 1</a:t>
            </a:r>
            <a:endParaRPr/>
          </a:p>
          <a:p>
            <a:pPr algn="l">
              <a:defRPr/>
            </a:pPr>
            <a:r>
              <a:rPr/>
              <a:t># **Foundation: The Sovereign Chat Layer**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What We Build</a:t>
            </a:r>
            <a:endParaRPr/>
          </a:p>
          <a:p>
            <a:pPr algn="l">
              <a:defRPr/>
            </a:pPr>
            <a:r>
              <a:rPr/>
              <a:t>The core multi-provider chat interface with BYOK (Bring Your Own Key) integration across the initial provider set.</a:t>
            </a:r>
            <a:endParaRPr/>
          </a:p>
          <a:p>
            <a:pPr algn="l">
              <a:defRPr/>
            </a:pPr>
            <a:r>
              <a:rPr/>
              <a:t>Single button import &amp; integration from all 8  supproted providers.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Deliverables</a:t>
            </a:r>
            <a:endParaRPr/>
          </a:p>
          <a:p>
            <a:pPr algn="l">
              <a:defRPr/>
            </a:pPr>
            <a:r>
              <a:rPr/>
              <a:t>- Unified chat UI supporting simultaneous connections to **8+ LLM providers** (OpenAI, Anthropic, Google, Mistral, Meta/Llama, xAI, Perplexity, DeepSeek)</a:t>
            </a:r>
            <a:endParaRPr/>
          </a:p>
          <a:p>
            <a:pPr algn="l">
              <a:defRPr/>
            </a:pPr>
            <a:r>
              <a:rPr/>
              <a:t>- BYOK key management system (secure key storage, rotation, validation)</a:t>
            </a:r>
            <a:endParaRPr/>
          </a:p>
          <a:p>
            <a:pPr algn="l">
              <a:defRPr/>
            </a:pPr>
            <a:r>
              <a:rPr/>
              <a:t>- Provider-agnostic message abstraction layer (the **Universal Mux Layer**)</a:t>
            </a:r>
            <a:endParaRPr/>
          </a:p>
          <a:p>
            <a:pPr algn="l">
              <a:defRPr/>
            </a:pPr>
            <a:r>
              <a:rPr/>
              <a:t>- Basic conversation storage — all chats saved locally and/or in user-controlled cloud storage</a:t>
            </a:r>
            <a:endParaRPr/>
          </a:p>
          <a:p>
            <a:pPr algn="l">
              <a:defRPr/>
            </a:pPr>
            <a:r>
              <a:rPr/>
              <a:t>- End-to-end encryption for conversation data at rest and in transit</a:t>
            </a:r>
            <a:endParaRPr/>
          </a:p>
          <a:p>
            <a:pPr algn="l">
              <a:defRPr/>
            </a:pPr>
            <a:r>
              <a:rPr/>
              <a:t>- Basic model routing: user selects provider per conversation or per message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Why It Matters</a:t>
            </a:r>
            <a:endParaRPr/>
          </a:p>
          <a:p>
            <a:pPr algn="l">
              <a:defRPr/>
            </a:pPr>
            <a:r>
              <a:rPr/>
              <a:t>This is the **table-stakes product** that earns the right to exist. Without a genuinely excellent multi-provider chat experience, nothing else matters. This milestone proves we can abstract across providers cleanly and that users prefer a unified home over juggling tabs.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Success Criteria</a:t>
            </a:r>
            <a:endParaRPr/>
          </a:p>
          <a:p>
            <a:pPr algn="l">
              <a:defRPr/>
            </a:pPr>
            <a:r>
              <a:rPr/>
              <a:t>- ✅ Functional BYOK connections across all target providers</a:t>
            </a:r>
            <a:endParaRPr/>
          </a:p>
          <a:p>
            <a:pPr algn="l">
              <a:defRPr/>
            </a:pPr>
            <a:r>
              <a:rPr/>
              <a:t>- ✅ Sub-200ms routing overhead (provider selection → first token)</a:t>
            </a:r>
            <a:endParaRPr/>
          </a:p>
          <a:p>
            <a:pPr algn="l">
              <a:defRPr/>
            </a:pPr>
            <a:r>
              <a:rPr/>
              <a:t>- ✅ All conversations stored in user-sovereign data layer</a:t>
            </a:r>
            <a:endParaRPr/>
          </a:p>
          <a:p>
            <a:pPr algn="l">
              <a:defRPr/>
            </a:pPr>
            <a:r>
              <a:rPr/>
              <a:t>- ✅ **Private alpha with 500+ testers**</a:t>
            </a:r>
            <a:endParaRPr/>
          </a:p>
          <a:p>
            <a:pPr algn="l">
              <a:defRPr/>
            </a:pPr>
            <a:r>
              <a:rPr/>
              <a:t>- ✅ Core retention signal: **&gt;60% weekly return rate** among alpha users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Key Metrics</a:t>
            </a:r>
            <a:endParaRPr/>
          </a:p>
          <a:p>
            <a:pPr algn="l">
              <a:defRPr/>
            </a:pPr>
            <a:r>
              <a:rPr/>
              <a:t>| Metric | Target |</a:t>
            </a:r>
            <a:endParaRPr/>
          </a:p>
          <a:p>
            <a:pPr algn="l">
              <a:defRPr/>
            </a:pPr>
            <a:r>
              <a:rPr/>
              <a:t>|---|---|</a:t>
            </a:r>
            <a:endParaRPr/>
          </a:p>
          <a:p>
            <a:pPr algn="l">
              <a:defRPr/>
            </a:pPr>
            <a:r>
              <a:rPr/>
              <a:t>| Providers integrated | 8+ |</a:t>
            </a:r>
            <a:endParaRPr/>
          </a:p>
          <a:p>
            <a:pPr algn="l">
              <a:defRPr/>
            </a:pPr>
            <a:r>
              <a:rPr/>
              <a:t>| Alpha users | 500+ |</a:t>
            </a:r>
            <a:endParaRPr/>
          </a:p>
          <a:p>
            <a:pPr algn="l">
              <a:defRPr/>
            </a:pPr>
            <a:r>
              <a:rPr/>
              <a:t>| Weekly retention (W1) | &gt;60% |</a:t>
            </a:r>
            <a:endParaRPr/>
          </a:p>
          <a:p>
            <a:pPr algn="l">
              <a:defRPr/>
            </a:pPr>
            <a:r>
              <a:rPr/>
              <a:t>| Avg. providers used per user | &gt;2.5 |</a:t>
            </a:r>
            <a:endParaRPr/>
          </a:p>
          <a:p>
            <a:pPr algn="l">
              <a:defRPr/>
            </a:pPr>
            <a:r>
              <a:rPr/>
              <a:t>| Avg. conversations/week/user | &gt;10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Timeline</a:t>
            </a:r>
            <a:endParaRPr/>
          </a:p>
          <a:p>
            <a:pPr algn="l">
              <a:defRPr/>
            </a:pPr>
            <a:r>
              <a:rPr/>
              <a:t>**Months 1–3**</a:t>
            </a:r>
            <a:endParaRPr/>
          </a:p>
          <a:p>
            <a:pPr algn="l">
              <a:defRPr/>
            </a:pPr>
            <a:r>
              <a:rPr/>
              <a:t>	</a:t>
            </a: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 MILESTONE 2</a:t>
            </a:r>
            <a:endParaRPr/>
          </a:p>
          <a:p>
            <a:pPr algn="l">
              <a:defRPr/>
            </a:pPr>
            <a:r>
              <a:rPr/>
              <a:t># **Atomic Chat Units: Ownership as a Primitive**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What We Build</a:t>
            </a:r>
            <a:endParaRPr/>
          </a:p>
          <a:p>
            <a:pPr algn="l">
              <a:defRPr/>
            </a:pPr>
            <a:r>
              <a:rPr/>
              <a:t>The foundational data architecture that makes every conversation (and conversation fragment) an **owned, portable, composable object** — the Atomic Chat Unit (ACU).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Deliverables</a:t>
            </a:r>
            <a:endParaRPr/>
          </a:p>
          <a:p>
            <a:pPr algn="l">
              <a:defRPr/>
            </a:pPr>
            <a:r>
              <a:rPr/>
              <a:t>- ACU data schema: each unit contains message content, metadata, authorship, provider origin, timestamps, and permissions state</a:t>
            </a:r>
            <a:endParaRPr/>
          </a:p>
          <a:p>
            <a:pPr algn="l">
              <a:defRPr/>
            </a:pPr>
            <a:r>
              <a:rPr/>
              <a:t>- **Verifiable provenance ledger**: cryptographic hashing for tamper-proof ownership and attribution records (implementation-flexible: on-chain anchoring or equivalent cryptographic audit trail)</a:t>
            </a:r>
            <a:endParaRPr/>
          </a:p>
          <a:p>
            <a:pPr algn="l">
              <a:defRPr/>
            </a:pPr>
            <a:r>
              <a:rPr/>
              <a:t>- Conversation export in open, interoperable formats (JSON, Markdown, structured archives)</a:t>
            </a:r>
            <a:endParaRPr/>
          </a:p>
          <a:p>
            <a:pPr algn="l">
              <a:defRPr/>
            </a:pPr>
            <a:r>
              <a:rPr/>
              <a:t>- Import pipeline: ingest existing conversation history from major providers (ChatGPT export, Claude export, etc.)</a:t>
            </a:r>
            <a:endParaRPr/>
          </a:p>
          <a:p>
            <a:pPr algn="l">
              <a:defRPr/>
            </a:pPr>
            <a:r>
              <a:rPr/>
              <a:t>- Granular permissions model: private / shared / public / training-eligible — set at the ACU level</a:t>
            </a:r>
            <a:endParaRPr/>
          </a:p>
          <a:p>
            <a:pPr algn="l">
              <a:defRPr/>
            </a:pPr>
            <a:r>
              <a:rPr/>
              <a:t>- User-facing data dashboard: see everything you own, when it was created, where it lives, and what permissions it carries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Why It Matters</a:t>
            </a:r>
            <a:endParaRPr/>
          </a:p>
          <a:p>
            <a:pPr algn="l">
              <a:defRPr/>
            </a:pPr>
            <a:r>
              <a:rPr/>
              <a:t>This is the **technical and philosophical foundation** of VIVIM's entire value proposition. Without true, verifiable ownership at the data level, "sovereignty" is just marketing. The ACU is what makes conversations **portable, composable, attributable, and eventually monetizable.** It also creates the audit trail required for consent-verified model training — our future legal superpower.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Success Criteria</a:t>
            </a:r>
            <a:endParaRPr/>
          </a:p>
          <a:p>
            <a:pPr algn="l">
              <a:defRPr/>
            </a:pPr>
            <a:r>
              <a:rPr/>
              <a:t>- ✅ ACU schema finalized and implemented across all stored conversations</a:t>
            </a:r>
            <a:endParaRPr/>
          </a:p>
          <a:p>
            <a:pPr algn="l">
              <a:defRPr/>
            </a:pPr>
            <a:r>
              <a:rPr/>
              <a:t>- ✅ Provenance verification functional (any ACU can be cryptographically verified for authorship and integrity)</a:t>
            </a:r>
            <a:endParaRPr/>
          </a:p>
          <a:p>
            <a:pPr algn="l">
              <a:defRPr/>
            </a:pPr>
            <a:r>
              <a:rPr/>
              <a:t>- ✅ Successful bulk import from at least 4 major provider export formats</a:t>
            </a:r>
            <a:endParaRPr/>
          </a:p>
          <a:p>
            <a:pPr algn="l">
              <a:defRPr/>
            </a:pPr>
            <a:r>
              <a:rPr/>
              <a:t>- ✅ Users can export their entire library at any time in open formats</a:t>
            </a:r>
            <a:endParaRPr/>
          </a:p>
          <a:p>
            <a:pPr algn="l">
              <a:defRPr/>
            </a:pPr>
            <a:r>
              <a:rPr/>
              <a:t>- ✅ Permissions model live: users can tag ACUs as private, shared, or training-eligible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Key Metrics</a:t>
            </a:r>
            <a:endParaRPr/>
          </a:p>
          <a:p>
            <a:pPr algn="l">
              <a:defRPr/>
            </a:pPr>
            <a:r>
              <a:rPr/>
              <a:t>| Metric | Target |</a:t>
            </a:r>
            <a:endParaRPr/>
          </a:p>
          <a:p>
            <a:pPr algn="l">
              <a:defRPr/>
            </a:pPr>
            <a:r>
              <a:rPr/>
              <a:t>|---|---|</a:t>
            </a:r>
            <a:endParaRPr/>
          </a:p>
          <a:p>
            <a:pPr algn="l">
              <a:defRPr/>
            </a:pPr>
            <a:r>
              <a:rPr/>
              <a:t>| ACUs created (cumulative) | 100K+ |</a:t>
            </a:r>
            <a:endParaRPr/>
          </a:p>
          <a:p>
            <a:pPr algn="l">
              <a:defRPr/>
            </a:pPr>
            <a:r>
              <a:rPr/>
              <a:t>| Successful imports from external providers | 5,000+ user libraries imported |</a:t>
            </a:r>
            <a:endParaRPr/>
          </a:p>
          <a:p>
            <a:pPr algn="l">
              <a:defRPr/>
            </a:pPr>
            <a:r>
              <a:rPr/>
              <a:t>| Export completion rate | 100% (any user can export at any time) |</a:t>
            </a:r>
            <a:endParaRPr/>
          </a:p>
          <a:p>
            <a:pPr algn="l">
              <a:defRPr/>
            </a:pPr>
            <a:r>
              <a:rPr/>
              <a:t>| Avg. ACUs per active user | &gt;50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Timeline</a:t>
            </a:r>
            <a:endParaRPr/>
          </a:p>
          <a:p>
            <a:pPr algn="l">
              <a:defRPr/>
            </a:pPr>
            <a:r>
              <a:rPr/>
              <a:t>**Months 3–5**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Dependencies</a:t>
            </a:r>
            <a:endParaRPr/>
          </a:p>
          <a:p>
            <a:pPr algn="l">
              <a:defRPr/>
            </a:pPr>
            <a:r>
              <a:rPr/>
              <a:t>Milestone 1 (core chat layer must be functional)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 MILESTONE 3</a:t>
            </a:r>
            <a:endParaRPr/>
          </a:p>
          <a:p>
            <a:pPr algn="l">
              <a:defRPr/>
            </a:pPr>
            <a:r>
              <a:rPr/>
              <a:t># **Fork / Mux / Remux: Composable Intelligence**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What We Build</a:t>
            </a:r>
            <a:endParaRPr/>
          </a:p>
          <a:p>
            <a:pPr algn="l">
              <a:defRPr/>
            </a:pPr>
            <a:r>
              <a:rPr/>
              <a:t>The conversation operations layer — the ability to **branch, merge, splice, and recompose** conversations and conversation fragments across providers and contexts.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Deliverables</a:t>
            </a:r>
            <a:endParaRPr/>
          </a:p>
          <a:p>
            <a:pPr algn="l">
              <a:defRPr/>
            </a:pPr>
            <a:r>
              <a:rPr/>
              <a:t>- **Fork**: Branch any conversation (or ACU fragment) into a new thread — optionally switching provider mid-stream</a:t>
            </a:r>
            <a:endParaRPr/>
          </a:p>
          <a:p>
            <a:pPr algn="l">
              <a:defRPr/>
            </a:pPr>
            <a:r>
              <a:rPr/>
              <a:t>- **Mux**: Select and combine the best segments from multiple conversations into a single new thread</a:t>
            </a:r>
            <a:endParaRPr/>
          </a:p>
          <a:p>
            <a:pPr algn="l">
              <a:defRPr/>
            </a:pPr>
            <a:r>
              <a:rPr/>
              <a:t>- **Remux**: Recompose ACU fragments into entirely new artifacts — new prompts, documents, summaries, or conversation starters</a:t>
            </a:r>
            <a:endParaRPr/>
          </a:p>
          <a:p>
            <a:pPr algn="l">
              <a:defRPr/>
            </a:pPr>
            <a:r>
              <a:rPr/>
              <a:t>- Full **attribution chain**: every fork/mux/remux operation preserves the lineage of its source ACUs</a:t>
            </a:r>
            <a:endParaRPr/>
          </a:p>
          <a:p>
            <a:pPr algn="l">
              <a:defRPr/>
            </a:pPr>
            <a:r>
              <a:rPr/>
              <a:t>- Visual conversation graph: users can see the branching/merging history of any thread</a:t>
            </a:r>
            <a:endParaRPr/>
          </a:p>
          <a:p>
            <a:pPr algn="l">
              <a:defRPr/>
            </a:pPr>
            <a:r>
              <a:rPr/>
              <a:t>- Template creation: save a muxed/remuxed conversation structure as a reusable template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Why It Matters</a:t>
            </a:r>
            <a:endParaRPr/>
          </a:p>
          <a:p>
            <a:pPr algn="l">
              <a:defRPr/>
            </a:pPr>
            <a:r>
              <a:rPr/>
              <a:t>This is what separates VIVIM from every chat aggregator on the market. **No other tool treats conversations as composable objects.** Fork/mux/remux turns linear chat logs into modular building blocks — the equivalent of version control for thought. This is also the feature set that makes the social layer (Milestone 5) powerful: you can't remix what you can't compose.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Success Criteria</a:t>
            </a:r>
            <a:endParaRPr/>
          </a:p>
          <a:p>
            <a:pPr algn="l">
              <a:defRPr/>
            </a:pPr>
            <a:r>
              <a:rPr/>
              <a:t>- ✅ Fork, mux, and remux operations functional across all supported providers</a:t>
            </a:r>
            <a:endParaRPr/>
          </a:p>
          <a:p>
            <a:pPr algn="l">
              <a:defRPr/>
            </a:pPr>
            <a:r>
              <a:rPr/>
              <a:t>- ✅ Attribution chain intact through multi-level operations (fork of a fork, mux of a remux, etc.)</a:t>
            </a:r>
            <a:endParaRPr/>
          </a:p>
          <a:p>
            <a:pPr algn="l">
              <a:defRPr/>
            </a:pPr>
            <a:r>
              <a:rPr/>
              <a:t>- ✅ Users can create and save reusable templates from composed conversations</a:t>
            </a:r>
            <a:endParaRPr/>
          </a:p>
          <a:p>
            <a:pPr algn="l">
              <a:defRPr/>
            </a:pPr>
            <a:r>
              <a:rPr/>
              <a:t>- ✅ **Feature adoption: &gt;30% of active users use at least one compose operation per week**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Key Metrics</a:t>
            </a:r>
            <a:endParaRPr/>
          </a:p>
          <a:p>
            <a:pPr algn="l">
              <a:defRPr/>
            </a:pPr>
            <a:r>
              <a:rPr/>
              <a:t>| Metric | Target |</a:t>
            </a:r>
            <a:endParaRPr/>
          </a:p>
          <a:p>
            <a:pPr algn="l">
              <a:defRPr/>
            </a:pPr>
            <a:r>
              <a:rPr/>
              <a:t>|---|---|</a:t>
            </a:r>
            <a:endParaRPr/>
          </a:p>
          <a:p>
            <a:pPr algn="l">
              <a:defRPr/>
            </a:pPr>
            <a:r>
              <a:rPr/>
              <a:t>| Fork operations / week | 5,000+ |</a:t>
            </a:r>
            <a:endParaRPr/>
          </a:p>
          <a:p>
            <a:pPr algn="l">
              <a:defRPr/>
            </a:pPr>
            <a:r>
              <a:rPr/>
              <a:t>| Mux/Remux operations / week | 2,000+ |</a:t>
            </a:r>
            <a:endParaRPr/>
          </a:p>
          <a:p>
            <a:pPr algn="l">
              <a:defRPr/>
            </a:pPr>
            <a:r>
              <a:rPr/>
              <a:t>| Templates created | 500+ |</a:t>
            </a:r>
            <a:endParaRPr/>
          </a:p>
          <a:p>
            <a:pPr algn="l">
              <a:defRPr/>
            </a:pPr>
            <a:r>
              <a:rPr/>
              <a:t>| % of users using compose features weekly | &gt;30% |</a:t>
            </a:r>
            <a:endParaRPr/>
          </a:p>
          <a:p>
            <a:pPr algn="l">
              <a:defRPr/>
            </a:pPr>
            <a:r>
              <a:rPr/>
              <a:t>| Cross-provider compose rate (fork into different model) | &gt;40% of forks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Timeline</a:t>
            </a:r>
            <a:endParaRPr/>
          </a:p>
          <a:p>
            <a:pPr algn="l">
              <a:defRPr/>
            </a:pPr>
            <a:r>
              <a:rPr/>
              <a:t>**Months 5–7**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Dependencies</a:t>
            </a:r>
            <a:endParaRPr/>
          </a:p>
          <a:p>
            <a:pPr algn="l">
              <a:defRPr/>
            </a:pPr>
            <a:r>
              <a:rPr/>
              <a:t>Milestone 2 (ACU architecture required for composability and attribution)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 MILESTONE 4</a:t>
            </a:r>
            <a:endParaRPr/>
          </a:p>
          <a:p>
            <a:pPr algn="l">
              <a:defRPr/>
            </a:pPr>
            <a:r>
              <a:rPr/>
              <a:t># **The Context Engine: Your Second Brain, v1**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What We Build</a:t>
            </a:r>
            <a:endParaRPr/>
          </a:p>
          <a:p>
            <a:pPr algn="l">
              <a:defRPr/>
            </a:pPr>
            <a:r>
              <a:rPr/>
              <a:t>The dynamic, persistent memory layer that transforms stored conversations into **active, retrievable, contextual intelligence** — automatically surfaced at the right moment.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Deliverables</a:t>
            </a:r>
            <a:endParaRPr/>
          </a:p>
          <a:p>
            <a:pPr algn="l">
              <a:defRPr/>
            </a:pPr>
            <a:r>
              <a:rPr/>
              <a:t>- **Memory Graph**: a structured, evolving knowledge graph built from user conversations — entities, topics, projects, preferences, people, decisions, and patterns</a:t>
            </a:r>
            <a:endParaRPr/>
          </a:p>
          <a:p>
            <a:pPr algn="l">
              <a:defRPr/>
            </a:pPr>
            <a:r>
              <a:rPr/>
              <a:t>- **Dynamic Context Injection**: before each conversation turn, VIVIM assembles a relevant context payload from the memory graph and injects it into the prompt — without user intervention</a:t>
            </a:r>
            <a:endParaRPr/>
          </a:p>
          <a:p>
            <a:pPr algn="l">
              <a:defRPr/>
            </a:pPr>
            <a:r>
              <a:rPr/>
              <a:t>- Context assembly logic based on **WHO / WHAT / WHEN / WHERE** dimensions:</a:t>
            </a:r>
            <a:endParaRPr/>
          </a:p>
          <a:p>
            <a:pPr algn="l">
              <a:defRPr/>
            </a:pPr>
            <a:r>
              <a:rPr/>
              <a:t>  - WHO: user identity, collaborators mentioned, audience</a:t>
            </a:r>
            <a:endParaRPr/>
          </a:p>
          <a:p>
            <a:pPr algn="l">
              <a:defRPr/>
            </a:pPr>
            <a:r>
              <a:rPr/>
              <a:t>  - WHAT: active projects, current domain, recent topics</a:t>
            </a:r>
            <a:endParaRPr/>
          </a:p>
          <a:p>
            <a:pPr algn="l">
              <a:defRPr/>
            </a:pPr>
            <a:r>
              <a:rPr/>
              <a:t>  - WHEN: temporal relevance — deadlines, recency, project phase</a:t>
            </a:r>
            <a:endParaRPr/>
          </a:p>
          <a:p>
            <a:pPr algn="l">
              <a:defRPr/>
            </a:pPr>
            <a:r>
              <a:rPr/>
              <a:t>  - WHERE: workspace context, device, application domain</a:t>
            </a:r>
            <a:endParaRPr/>
          </a:p>
          <a:p>
            <a:pPr algn="l">
              <a:defRPr/>
            </a:pPr>
            <a:r>
              <a:rPr/>
              <a:t>- User-facing memory controls: review what VIVIM "remembers," correct or delete memory entries, set memory boundaries per project or topic</a:t>
            </a:r>
            <a:endParaRPr/>
          </a:p>
          <a:p>
            <a:pPr algn="l">
              <a:defRPr/>
            </a:pPr>
            <a:r>
              <a:rPr/>
              <a:t>- **Cross-provider continuity**: context assembled from Claude conversations surfaces when talking to GPT, and vice versa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Why It Matters</a:t>
            </a:r>
            <a:endParaRPr/>
          </a:p>
          <a:p>
            <a:pPr algn="l">
              <a:defRPr/>
            </a:pPr>
            <a:r>
              <a:rPr/>
              <a:t>This is the **core retention driver** and the primary reason users stay. A working context engine means VIVIM gets meaningfully better the more you use it — creating **compounding switching costs.** It also generates the "second brain" experience that no single-provider chat tool can replicate, because it synthesizes memory *across* all providers.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Success Criteria</a:t>
            </a:r>
            <a:endParaRPr/>
          </a:p>
          <a:p>
            <a:pPr algn="l">
              <a:defRPr/>
            </a:pPr>
            <a:r>
              <a:rPr/>
              <a:t>- ✅ Memory graph operational with automated entity/topic extraction</a:t>
            </a:r>
            <a:endParaRPr/>
          </a:p>
          <a:p>
            <a:pPr algn="l">
              <a:defRPr/>
            </a:pPr>
            <a:r>
              <a:rPr/>
              <a:t>- ✅ Context injection reduces average prompt length by &gt;25% (users explain less)</a:t>
            </a:r>
            <a:endParaRPr/>
          </a:p>
          <a:p>
            <a:pPr algn="l">
              <a:defRPr/>
            </a:pPr>
            <a:r>
              <a:rPr/>
              <a:t>- ✅ Cross-provider memory continuity demonstrated (information from Provider A surfaces in Provider B conversations)</a:t>
            </a:r>
            <a:endParaRPr/>
          </a:p>
          <a:p>
            <a:pPr algn="l">
              <a:defRPr/>
            </a:pPr>
            <a:r>
              <a:rPr/>
              <a:t>- ✅ Users report measurably better AI responses compared to native provider interfaces</a:t>
            </a:r>
            <a:endParaRPr/>
          </a:p>
          <a:p>
            <a:pPr algn="l">
              <a:defRPr/>
            </a:pPr>
            <a:r>
              <a:rPr/>
              <a:t>- ✅ **Retention uplift: users with active context engine show &gt;2x 30-day retention vs. users without**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Key Metrics</a:t>
            </a:r>
            <a:endParaRPr/>
          </a:p>
          <a:p>
            <a:pPr algn="l">
              <a:defRPr/>
            </a:pPr>
            <a:r>
              <a:rPr/>
              <a:t>| Metric | Target |</a:t>
            </a:r>
            <a:endParaRPr/>
          </a:p>
          <a:p>
            <a:pPr algn="l">
              <a:defRPr/>
            </a:pPr>
            <a:r>
              <a:rPr/>
              <a:t>|---|---|</a:t>
            </a:r>
            <a:endParaRPr/>
          </a:p>
          <a:p>
            <a:pPr algn="l">
              <a:defRPr/>
            </a:pPr>
            <a:r>
              <a:rPr/>
              <a:t>| Memory graph entities per active user | &gt;200 (after 30 days) |</a:t>
            </a:r>
            <a:endParaRPr/>
          </a:p>
          <a:p>
            <a:pPr algn="l">
              <a:defRPr/>
            </a:pPr>
            <a:r>
              <a:rPr/>
              <a:t>| Context injection rate (% of conversations with auto-context) | &gt;70% |</a:t>
            </a:r>
            <a:endParaRPr/>
          </a:p>
          <a:p>
            <a:pPr algn="l">
              <a:defRPr/>
            </a:pPr>
            <a:r>
              <a:rPr/>
              <a:t>| User-reported response quality improvement | &gt;40% report "noticeably better" |</a:t>
            </a:r>
            <a:endParaRPr/>
          </a:p>
          <a:p>
            <a:pPr algn="l">
              <a:defRPr/>
            </a:pPr>
            <a:r>
              <a:rPr/>
              <a:t>| 30-day retention (context engine users) | &gt;65% |</a:t>
            </a:r>
            <a:endParaRPr/>
          </a:p>
          <a:p>
            <a:pPr algn="l">
              <a:defRPr/>
            </a:pPr>
            <a:r>
              <a:rPr/>
              <a:t>| 30-day retention (non-context users) | baseline ~30% |</a:t>
            </a:r>
            <a:endParaRPr/>
          </a:p>
          <a:p>
            <a:pPr algn="l">
              <a:defRPr/>
            </a:pPr>
            <a:r>
              <a:rPr/>
              <a:t>| Prompt length reduction (avg.) | &gt;25%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Timeline</a:t>
            </a:r>
            <a:endParaRPr/>
          </a:p>
          <a:p>
            <a:pPr algn="l">
              <a:defRPr/>
            </a:pPr>
            <a:r>
              <a:rPr/>
              <a:t>**Months 6–9**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Dependencies</a:t>
            </a:r>
            <a:endParaRPr/>
          </a:p>
          <a:p>
            <a:pPr algn="l">
              <a:defRPr/>
            </a:pPr>
            <a:r>
              <a:rPr/>
              <a:t>Milestones 1–2 (requires stored ACUs with metadata for graph construction)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 MILESTONE 5</a:t>
            </a:r>
            <a:endParaRPr/>
          </a:p>
          <a:p>
            <a:pPr algn="l">
              <a:defRPr/>
            </a:pPr>
            <a:r>
              <a:rPr/>
              <a:t># **The Social Layer: Instagram for AI Conversations**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What We Build</a:t>
            </a:r>
            <a:endParaRPr/>
          </a:p>
          <a:p>
            <a:pPr algn="l">
              <a:defRPr/>
            </a:pPr>
            <a:r>
              <a:rPr/>
              <a:t>The social network layer — profiles, publishing, following, discovery, and remixing of AI conversations as **living, attributable social objects.**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Deliverables</a:t>
            </a:r>
            <a:endParaRPr/>
          </a:p>
          <a:p>
            <a:pPr algn="l">
              <a:defRPr/>
            </a:pPr>
            <a:r>
              <a:rPr/>
              <a:t>- **User profiles**: public identity built around the quality of your AI-augmented thinking — bio, published conversations, follower/following counts, domain tags</a:t>
            </a:r>
            <a:endParaRPr/>
          </a:p>
          <a:p>
            <a:pPr algn="l">
              <a:defRPr/>
            </a:pPr>
            <a:r>
              <a:rPr/>
              <a:t>- **Publishing**: share entire conversations or curated ACU fragments as public or semi-public posts</a:t>
            </a:r>
            <a:endParaRPr/>
          </a:p>
          <a:p>
            <a:pPr algn="l">
              <a:defRPr/>
            </a:pPr>
            <a:r>
              <a:rPr/>
              <a:t>- **Following**: follow users whose AI workflows you admire</a:t>
            </a:r>
            <a:endParaRPr/>
          </a:p>
          <a:p>
            <a:pPr algn="l">
              <a:defRPr/>
            </a:pPr>
            <a:r>
              <a:rPr/>
              <a:t>- **Discovery feed**: algorithmic and chronological feeds surfacing the most useful, novel, and popular conversation posts</a:t>
            </a:r>
            <a:endParaRPr/>
          </a:p>
          <a:p>
            <a:pPr algn="l">
              <a:defRPr/>
            </a:pPr>
            <a:r>
              <a:rPr/>
              <a:t>- **Remix (Social Fork)**: fork any public conversation into your own workspace — attribution to original author preserved and visible</a:t>
            </a:r>
            <a:endParaRPr/>
          </a:p>
          <a:p>
            <a:pPr algn="l">
              <a:defRPr/>
            </a:pPr>
            <a:r>
              <a:rPr/>
              <a:t>- **Reactions + commentary**: lightweight engagement layer (not full comments — focused on signal, not noise)</a:t>
            </a:r>
            <a:endParaRPr/>
          </a:p>
          <a:p>
            <a:pPr algn="l">
              <a:defRPr/>
            </a:pPr>
            <a:r>
              <a:rPr/>
              <a:t>- Privacy controls: granular settings per post (public / followers-only / unlisted / private)</a:t>
            </a:r>
            <a:endParaRPr/>
          </a:p>
          <a:p>
            <a:pPr algn="l">
              <a:defRPr/>
            </a:pPr>
            <a:r>
              <a:rPr/>
              <a:t>- **Trending**: surface viral prompts, reasoning chains, and conversation architectures across the network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Why It Matters</a:t>
            </a:r>
            <a:endParaRPr/>
          </a:p>
          <a:p>
            <a:pPr algn="l">
              <a:defRPr/>
            </a:pPr>
            <a:r>
              <a:rPr/>
              <a:t>The social layer is the **primary organic growth engine.** It creates network effects (every user who shares makes the platform more valuable), drives discovery (new users find VIVIM through shared conversations), and establishes **culture** (AI thinking as a publishable, followable, remixable practice). It also directly increases the pool of high-quality content available for future opt-in contribution.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Success Criteria</a:t>
            </a:r>
            <a:endParaRPr/>
          </a:p>
          <a:p>
            <a:pPr algn="l">
              <a:defRPr/>
            </a:pPr>
            <a:r>
              <a:rPr/>
              <a:t>- ✅ Profiles, publishing, following, and remix all functional</a:t>
            </a:r>
            <a:endParaRPr/>
          </a:p>
          <a:p>
            <a:pPr algn="l">
              <a:defRPr/>
            </a:pPr>
            <a:r>
              <a:rPr/>
              <a:t>- ✅ Discovery feed operational with basic relevance ranking</a:t>
            </a:r>
            <a:endParaRPr/>
          </a:p>
          <a:p>
            <a:pPr algn="l">
              <a:defRPr/>
            </a:pPr>
            <a:r>
              <a:rPr/>
              <a:t>- ✅ **&gt;15% of active users publish at least one conversation per month**</a:t>
            </a:r>
            <a:endParaRPr/>
          </a:p>
          <a:p>
            <a:pPr algn="l">
              <a:defRPr/>
            </a:pPr>
            <a:r>
              <a:rPr/>
              <a:t>- ✅ **Viral coefficient: each published conversation generates &gt;0.3 new user signups on average**</a:t>
            </a:r>
            <a:endParaRPr/>
          </a:p>
          <a:p>
            <a:pPr algn="l">
              <a:defRPr/>
            </a:pPr>
            <a:r>
              <a:rPr/>
              <a:t>- ✅ First "power creators" emerge — users with &gt;1,000 followers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Key Metrics</a:t>
            </a:r>
            <a:endParaRPr/>
          </a:p>
          <a:p>
            <a:pPr algn="l">
              <a:defRPr/>
            </a:pPr>
            <a:r>
              <a:rPr/>
              <a:t>| Metric | Target |</a:t>
            </a:r>
            <a:endParaRPr/>
          </a:p>
          <a:p>
            <a:pPr algn="l">
              <a:defRPr/>
            </a:pPr>
            <a:r>
              <a:rPr/>
              <a:t>|---|---|</a:t>
            </a:r>
            <a:endParaRPr/>
          </a:p>
          <a:p>
            <a:pPr algn="l">
              <a:defRPr/>
            </a:pPr>
            <a:r>
              <a:rPr/>
              <a:t>| Monthly active publishers | &gt;15% of MAU |</a:t>
            </a:r>
            <a:endParaRPr/>
          </a:p>
          <a:p>
            <a:pPr algn="l">
              <a:defRPr/>
            </a:pPr>
            <a:r>
              <a:rPr/>
              <a:t>| Avg. remixes per public post | &gt;2 |</a:t>
            </a:r>
            <a:endParaRPr/>
          </a:p>
          <a:p>
            <a:pPr algn="l">
              <a:defRPr/>
            </a:pPr>
            <a:r>
              <a:rPr/>
              <a:t>| Viral coefficient (per published post) | &gt;0.3 new signups |</a:t>
            </a:r>
            <a:endParaRPr/>
          </a:p>
          <a:p>
            <a:pPr algn="l">
              <a:defRPr/>
            </a:pPr>
            <a:r>
              <a:rPr/>
              <a:t>| Follower graph density (avg. follows per user) | &gt;8 |</a:t>
            </a:r>
            <a:endParaRPr/>
          </a:p>
          <a:p>
            <a:pPr algn="l">
              <a:defRPr/>
            </a:pPr>
            <a:r>
              <a:rPr/>
              <a:t>| Users with &gt;1K followers | 50+ |</a:t>
            </a:r>
            <a:endParaRPr/>
          </a:p>
          <a:p>
            <a:pPr algn="l">
              <a:defRPr/>
            </a:pPr>
            <a:r>
              <a:rPr/>
              <a:t>| Organic signup rate from shared content | &gt;25% of new signups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Timeline</a:t>
            </a:r>
            <a:endParaRPr/>
          </a:p>
          <a:p>
            <a:pPr algn="l">
              <a:defRPr/>
            </a:pPr>
            <a:r>
              <a:rPr/>
              <a:t>**Months 8–11**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Dependencies</a:t>
            </a:r>
            <a:endParaRPr/>
          </a:p>
          <a:p>
            <a:pPr algn="l">
              <a:defRPr/>
            </a:pPr>
            <a:r>
              <a:rPr/>
              <a:t>Milestones 2–3 (ACUs + composability required for publishing and remixing)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 MILESTONE 6</a:t>
            </a:r>
            <a:endParaRPr/>
          </a:p>
          <a:p>
            <a:pPr algn="l">
              <a:defRPr/>
            </a:pPr>
            <a:r>
              <a:rPr/>
              <a:t># **Consent &amp; Contribution Framework: The Trust Architecture**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What We Build</a:t>
            </a:r>
            <a:endParaRPr/>
          </a:p>
          <a:p>
            <a:pPr algn="l">
              <a:defRPr/>
            </a:pPr>
            <a:r>
              <a:rPr/>
              <a:t>The complete consent, privacy, and data contribution infrastructure — the legal, technical, and UX foundation that makes opt-in training contribution safe, transparent, and trustworthy.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Deliverables</a:t>
            </a:r>
            <a:endParaRPr/>
          </a:p>
          <a:p>
            <a:pPr algn="l">
              <a:defRPr/>
            </a:pPr>
            <a:r>
              <a:rPr/>
              <a:t>- **Consent UX**: clear, intuitive opt-in flow — users explicitly select which ACUs (conversations, fragments, projects) they want to contribute for training</a:t>
            </a:r>
            <a:endParaRPr/>
          </a:p>
          <a:p>
            <a:pPr algn="l">
              <a:defRPr/>
            </a:pPr>
            <a:r>
              <a:rPr/>
              <a:t>- **Granularity controls**: contribute at the level of individual conversation, thread segment, project folder, or domain category</a:t>
            </a:r>
            <a:endParaRPr/>
          </a:p>
          <a:p>
            <a:pPr algn="l">
              <a:defRPr/>
            </a:pPr>
            <a:r>
              <a:rPr/>
              <a:t>- **Automated PII pipeline**: multi-stage sensitive data detection and stripping — names, emails, addresses, financial data, health information, proprietary content</a:t>
            </a:r>
            <a:endParaRPr/>
          </a:p>
          <a:p>
            <a:pPr algn="l">
              <a:defRPr/>
            </a:pPr>
            <a:r>
              <a:rPr/>
              <a:t>- **Anonymization layer**: contributed data is de-identified before entering the training pipeline</a:t>
            </a:r>
            <a:endParaRPr/>
          </a:p>
          <a:p>
            <a:pPr algn="l">
              <a:defRPr/>
            </a:pPr>
            <a:r>
              <a:rPr/>
              <a:t>- **User-side review**: before final submission, users see exactly what will be shared and can edit/redact/withdraw</a:t>
            </a:r>
            <a:endParaRPr/>
          </a:p>
          <a:p>
            <a:pPr algn="l">
              <a:defRPr/>
            </a:pPr>
            <a:r>
              <a:rPr/>
              <a:t>- **Audit trail**: every contribution is logged with timestamp, consent version, scope, and revocation status</a:t>
            </a:r>
            <a:endParaRPr/>
          </a:p>
          <a:p>
            <a:pPr algn="l">
              <a:defRPr/>
            </a:pPr>
            <a:r>
              <a:rPr/>
              <a:t>- **Revocation mechanism**: users can withdraw contributed ACUs from future training runs at any time (removed from pipeline; not retroactively unlearned from already-trained models, disclosed clearly)</a:t>
            </a:r>
            <a:endParaRPr/>
          </a:p>
          <a:p>
            <a:pPr algn="l">
              <a:defRPr/>
            </a:pPr>
            <a:r>
              <a:rPr/>
              <a:t>- **Legal framework**: Terms of Contribution (separate from general ToS), clear IP assignment for training use, transparent revenue-sharing terms</a:t>
            </a:r>
            <a:endParaRPr/>
          </a:p>
          <a:p>
            <a:pPr algn="l">
              <a:defRPr/>
            </a:pPr>
            <a:r>
              <a:rPr/>
              <a:t>- **Contribution quality scoring (v1)**: initial heuristics for evaluating contribution value — depth, domain, uniqueness, conversation complexity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Why It Matters</a:t>
            </a:r>
            <a:endParaRPr/>
          </a:p>
          <a:p>
            <a:pPr algn="l">
              <a:defRPr/>
            </a:pPr>
            <a:r>
              <a:rPr/>
              <a:t>**Trust is the entire business.** If users don't trust the contribution framework, the flywheel never spins. This milestone is about building the most transparent, user-respecting data contribution system ever created — and being able to prove it to users, regulators, and enterprise customers. The quality scoring system also begins to solve the "junk data" problem before it starts.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Success Criteria</a:t>
            </a:r>
            <a:endParaRPr/>
          </a:p>
          <a:p>
            <a:pPr algn="l">
              <a:defRPr/>
            </a:pPr>
            <a:r>
              <a:rPr/>
              <a:t>- ✅ End-to-end contribution flow functional (select → review → consent → submit → audit)</a:t>
            </a:r>
            <a:endParaRPr/>
          </a:p>
          <a:p>
            <a:pPr algn="l">
              <a:defRPr/>
            </a:pPr>
            <a:r>
              <a:rPr/>
              <a:t>- ✅ PII detection pipeline achieves &gt;99% recall on standard PII categories</a:t>
            </a:r>
            <a:endParaRPr/>
          </a:p>
          <a:p>
            <a:pPr algn="l">
              <a:defRPr/>
            </a:pPr>
            <a:r>
              <a:rPr/>
              <a:t>- ✅ Revocation mechanism functional and verified</a:t>
            </a:r>
            <a:endParaRPr/>
          </a:p>
          <a:p>
            <a:pPr algn="l">
              <a:defRPr/>
            </a:pPr>
            <a:r>
              <a:rPr/>
              <a:t>- ✅ Legal framework reviewed and approved by external privacy counsel</a:t>
            </a:r>
            <a:endParaRPr/>
          </a:p>
          <a:p>
            <a:pPr algn="l">
              <a:defRPr/>
            </a:pPr>
            <a:r>
              <a:rPr/>
              <a:t>- ✅ User trust signal: **&gt;70% of users who view the contribution flow rate it as "clear and trustworthy" in survey**</a:t>
            </a:r>
            <a:endParaRPr/>
          </a:p>
          <a:p>
            <a:pPr algn="l">
              <a:defRPr/>
            </a:pPr>
            <a:r>
              <a:rPr/>
              <a:t>- ✅ **Initial opt-in rate: &gt;20% of eligible users contribute at least one ACU within first 30 days of framework launch**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Key Metrics</a:t>
            </a:r>
            <a:endParaRPr/>
          </a:p>
          <a:p>
            <a:pPr algn="l">
              <a:defRPr/>
            </a:pPr>
            <a:r>
              <a:rPr/>
              <a:t>| Metric | Target |</a:t>
            </a:r>
            <a:endParaRPr/>
          </a:p>
          <a:p>
            <a:pPr algn="l">
              <a:defRPr/>
            </a:pPr>
            <a:r>
              <a:rPr/>
              <a:t>|---|---|</a:t>
            </a:r>
            <a:endParaRPr/>
          </a:p>
          <a:p>
            <a:pPr algn="l">
              <a:defRPr/>
            </a:pPr>
            <a:r>
              <a:rPr/>
              <a:t>| Opt-in rate (within 30 days of launch) | &gt;20% |</a:t>
            </a:r>
            <a:endParaRPr/>
          </a:p>
          <a:p>
            <a:pPr algn="l">
              <a:defRPr/>
            </a:pPr>
            <a:r>
              <a:rPr/>
              <a:t>| PII detection recall | &gt;99% |</a:t>
            </a:r>
            <a:endParaRPr/>
          </a:p>
          <a:p>
            <a:pPr algn="l">
              <a:defRPr/>
            </a:pPr>
            <a:r>
              <a:rPr/>
              <a:t>| User trust rating (post-flow survey) | &gt;70% "clear and trustworthy" |</a:t>
            </a:r>
            <a:endParaRPr/>
          </a:p>
          <a:p>
            <a:pPr algn="l">
              <a:defRPr/>
            </a:pPr>
            <a:r>
              <a:rPr/>
              <a:t>| Avg. ACUs contributed per opted-in user | &gt;25 |</a:t>
            </a:r>
            <a:endParaRPr/>
          </a:p>
          <a:p>
            <a:pPr algn="l">
              <a:defRPr/>
            </a:pPr>
            <a:r>
              <a:rPr/>
              <a:t>| Revocation rate (users who opt in then withdraw) | &lt;5% |</a:t>
            </a:r>
            <a:endParaRPr/>
          </a:p>
          <a:p>
            <a:pPr algn="l">
              <a:defRPr/>
            </a:pPr>
            <a:r>
              <a:rPr/>
              <a:t>| Legal/compliance review | Complete, externally validated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Timeline</a:t>
            </a:r>
            <a:endParaRPr/>
          </a:p>
          <a:p>
            <a:pPr algn="l">
              <a:defRPr/>
            </a:pPr>
            <a:r>
              <a:rPr/>
              <a:t>**Months 10–13**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Dependencies</a:t>
            </a:r>
            <a:endParaRPr/>
          </a:p>
          <a:p>
            <a:pPr algn="l">
              <a:defRPr/>
            </a:pPr>
            <a:r>
              <a:rPr/>
              <a:t>Milestone 2 (ACU architecture, permissions model, provenance ledger)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r>
              <a:rPr/>
              <a:t>//////// MILESTONES 1 - 6 --&gt;&gt; MVP POC ////////</a:t>
            </a: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 MILESTONE 7</a:t>
            </a:r>
            <a:endParaRPr/>
          </a:p>
          <a:p>
            <a:pPr algn="l">
              <a:defRPr/>
            </a:pPr>
            <a:r>
              <a:rPr/>
              <a:t># **Scale: 100K Active Users &amp; Contribution Critical Mass**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What We Build</a:t>
            </a:r>
            <a:endParaRPr/>
          </a:p>
          <a:p>
            <a:pPr algn="l">
              <a:defRPr/>
            </a:pPr>
            <a:r>
              <a:rPr/>
              <a:t>This is a **growth milestone**, not a feature milestone. The goal is to reach **100,000 monthly active users** with a meaningful and growing percentage opting in to data contribution — creating a training dataset of sufficient scale and quality to train commercially viable models.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Growth Strategy</a:t>
            </a:r>
            <a:endParaRPr/>
          </a:p>
          <a:p>
            <a:pPr algn="l">
              <a:defRPr/>
            </a:pPr>
            <a:r>
              <a:rPr/>
              <a:t>- **Organic / social-first**: published conversations drive discovery and signups (Milestone 5 network effects)</a:t>
            </a:r>
            <a:endParaRPr/>
          </a:p>
          <a:p>
            <a:pPr algn="l">
              <a:defRPr/>
            </a:pPr>
            <a:r>
              <a:rPr/>
              <a:t>- **Creator partnerships**: onboard 50–100 high-profile AI creators / thought leaders who publish workflows and build audiences on VIVIM</a:t>
            </a:r>
            <a:endParaRPr/>
          </a:p>
          <a:p>
            <a:pPr algn="l">
              <a:defRPr/>
            </a:pPr>
            <a:r>
              <a:rPr/>
              <a:t>- **Community-led growth**: domain-specific communities (AI engineers, legal professionals, medical researchers, educators, writers) seeded with curated conversation libraries and templates</a:t>
            </a:r>
            <a:endParaRPr/>
          </a:p>
          <a:p>
            <a:pPr algn="l">
              <a:defRPr/>
            </a:pPr>
            <a:r>
              <a:rPr/>
              <a:t>- **Referral incentives**: users who refer contributors receive a small dividend multiplier</a:t>
            </a:r>
            <a:endParaRPr/>
          </a:p>
          <a:p>
            <a:pPr algn="l">
              <a:defRPr/>
            </a:pPr>
            <a:r>
              <a:rPr/>
              <a:t>- **Content marketing**: "best AI conversations of the week" editorial curation — shareable, linkable, indexable</a:t>
            </a:r>
            <a:endParaRPr/>
          </a:p>
          <a:p>
            <a:pPr algn="l">
              <a:defRPr/>
            </a:pPr>
            <a:r>
              <a:rPr/>
              <a:t>- **Strategic integrations**: browser extension, API connectors, and import tools that reduce onboarding friction to near-zero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Contribution Scaling</a:t>
            </a:r>
            <a:endParaRPr/>
          </a:p>
          <a:p>
            <a:pPr algn="l">
              <a:defRPr/>
            </a:pPr>
            <a:r>
              <a:rPr/>
              <a:t>- Targeted campaigns to increase opt-in rate from initial ~20% toward **30–40%**</a:t>
            </a:r>
            <a:endParaRPr/>
          </a:p>
          <a:p>
            <a:pPr algn="l">
              <a:defRPr/>
            </a:pPr>
            <a:r>
              <a:rPr/>
              <a:t>- Domain-specific contribution drives (e.g., "Legal AI Conversations Week" — higher dividend weight for expert-domain contributions during the campaign)</a:t>
            </a:r>
            <a:endParaRPr/>
          </a:p>
          <a:p>
            <a:pPr algn="l">
              <a:defRPr/>
            </a:pPr>
            <a:r>
              <a:rPr/>
              <a:t>- Contribution leaderboards and recognition (non-monetary status signals alongside financial dividend)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Why It Matters</a:t>
            </a:r>
            <a:endParaRPr/>
          </a:p>
          <a:p>
            <a:pPr algn="l">
              <a:defRPr/>
            </a:pPr>
            <a:r>
              <a:rPr/>
              <a:t>**The dataset is the business.** Without sufficient scale and quality of contributed data, VIVIM cannot train commercially competitive models. This milestone proves that the consent-first, compensated contribution model actually works at scale — that users will share high-quality data when the incentives and trust are right.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Success Criteria</a:t>
            </a:r>
            <a:endParaRPr/>
          </a:p>
          <a:p>
            <a:pPr algn="l">
              <a:defRPr/>
            </a:pPr>
            <a:r>
              <a:rPr/>
              <a:t>- ✅ **100K monthly active users**</a:t>
            </a:r>
            <a:endParaRPr/>
          </a:p>
          <a:p>
            <a:pPr algn="l">
              <a:defRPr/>
            </a:pPr>
            <a:r>
              <a:rPr/>
              <a:t>- ✅ **30K+ opted-in contributors** (30%+ opt-in rate)</a:t>
            </a:r>
            <a:endParaRPr/>
          </a:p>
          <a:p>
            <a:pPr algn="l">
              <a:defRPr/>
            </a:pPr>
            <a:r>
              <a:rPr/>
              <a:t>- ✅ **2M+ contributed ACUs** in the training pipeline</a:t>
            </a:r>
            <a:endParaRPr/>
          </a:p>
          <a:p>
            <a:pPr algn="l">
              <a:defRPr/>
            </a:pPr>
            <a:r>
              <a:rPr/>
              <a:t>- ✅ Domain diversity: contributions spanning &gt;20 distinct professional/creative domains</a:t>
            </a:r>
            <a:endParaRPr/>
          </a:p>
          <a:p>
            <a:pPr algn="l">
              <a:defRPr/>
            </a:pPr>
            <a:r>
              <a:rPr/>
              <a:t>- ✅ Contribution quality distribution: &gt;40% of contributed ACUs score "high quality" on internal rubric</a:t>
            </a:r>
            <a:endParaRPr/>
          </a:p>
          <a:p>
            <a:pPr algn="l">
              <a:defRPr/>
            </a:pPr>
            <a:r>
              <a:rPr/>
              <a:t>- ✅ Organic growth rate: &gt;40% of new signups from social/referral (not paid)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Key Metrics</a:t>
            </a:r>
            <a:endParaRPr/>
          </a:p>
          <a:p>
            <a:pPr algn="l">
              <a:defRPr/>
            </a:pPr>
            <a:r>
              <a:rPr/>
              <a:t>| Metric | Target |</a:t>
            </a:r>
            <a:endParaRPr/>
          </a:p>
          <a:p>
            <a:pPr algn="l">
              <a:defRPr/>
            </a:pPr>
            <a:r>
              <a:rPr/>
              <a:t>|---|---|</a:t>
            </a:r>
            <a:endParaRPr/>
          </a:p>
          <a:p>
            <a:pPr algn="l">
              <a:defRPr/>
            </a:pPr>
            <a:r>
              <a:rPr/>
              <a:t>| Monthly active users (MAU) | 100K |</a:t>
            </a:r>
            <a:endParaRPr/>
          </a:p>
          <a:p>
            <a:pPr algn="l">
              <a:defRPr/>
            </a:pPr>
            <a:r>
              <a:rPr/>
              <a:t>| Opted-in contributors | 30K+ |</a:t>
            </a:r>
            <a:endParaRPr/>
          </a:p>
          <a:p>
            <a:pPr algn="l">
              <a:defRPr/>
            </a:pPr>
            <a:r>
              <a:rPr/>
              <a:t>| Contributed ACUs (cumulative) | 2M+ |</a:t>
            </a:r>
            <a:endParaRPr/>
          </a:p>
          <a:p>
            <a:pPr algn="l">
              <a:defRPr/>
            </a:pPr>
            <a:r>
              <a:rPr/>
              <a:t>| Opt-in rate | &gt;30% |</a:t>
            </a:r>
            <a:endParaRPr/>
          </a:p>
          <a:p>
            <a:pPr algn="l">
              <a:defRPr/>
            </a:pPr>
            <a:r>
              <a:rPr/>
              <a:t>| Organic signup share | &gt;40% |</a:t>
            </a:r>
            <a:endParaRPr/>
          </a:p>
          <a:p>
            <a:pPr algn="l">
              <a:defRPr/>
            </a:pPr>
            <a:r>
              <a:rPr/>
              <a:t>| Domain diversity | &gt;20 distinct domains |</a:t>
            </a:r>
            <a:endParaRPr/>
          </a:p>
          <a:p>
            <a:pPr algn="l">
              <a:defRPr/>
            </a:pPr>
            <a:r>
              <a:rPr/>
              <a:t>| High-quality contribution rate | &gt;40% |</a:t>
            </a:r>
            <a:endParaRPr/>
          </a:p>
          <a:p>
            <a:pPr algn="l">
              <a:defRPr/>
            </a:pPr>
            <a:r>
              <a:rPr/>
              <a:t>| 30-day retention (overall) | &gt;45% |</a:t>
            </a:r>
            <a:endParaRPr/>
          </a:p>
          <a:p>
            <a:pPr algn="l">
              <a:defRPr/>
            </a:pPr>
            <a:r>
              <a:rPr/>
              <a:t>| 30-day retention (context engine users) | &gt;65%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Timeline</a:t>
            </a:r>
            <a:endParaRPr/>
          </a:p>
          <a:p>
            <a:pPr algn="l">
              <a:defRPr/>
            </a:pPr>
            <a:r>
              <a:rPr/>
              <a:t>**Months 12–15**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Dependencies</a:t>
            </a:r>
            <a:endParaRPr/>
          </a:p>
          <a:p>
            <a:pPr algn="l">
              <a:defRPr/>
            </a:pPr>
            <a:r>
              <a:rPr/>
              <a:t>Milestones 1–6 (full product + consent framework must be live)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 MILESTONE 8</a:t>
            </a:r>
            <a:endParaRPr/>
          </a:p>
          <a:p>
            <a:pPr algn="l">
              <a:defRPr/>
            </a:pPr>
            <a:r>
              <a:rPr/>
              <a:t># **First Model Training: The Dataset Comes Alive**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What We Build</a:t>
            </a:r>
            <a:endParaRPr/>
          </a:p>
          <a:p>
            <a:pPr algn="l">
              <a:defRPr/>
            </a:pPr>
            <a:r>
              <a:rPr/>
              <a:t>The model training infrastructure and the **first VIVIM-trained proprietary model** — built exclusively on consented, contributed, provenance-verified human-AI interaction data.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Deliverables</a:t>
            </a:r>
            <a:endParaRPr/>
          </a:p>
          <a:p>
            <a:pPr algn="l">
              <a:defRPr/>
            </a:pPr>
            <a:r>
              <a:rPr/>
              <a:t>- **Training data pipeline**: automated flow from contributed ACU pool → cleaning → deduplication → quality filtering → formatting → training-ready dataset</a:t>
            </a:r>
            <a:endParaRPr/>
          </a:p>
          <a:p>
            <a:pPr algn="l">
              <a:defRPr/>
            </a:pPr>
            <a:r>
              <a:rPr/>
              <a:t>- **Quality filtering layer**: multi-stage curation — removes low-quality, repetitive, or potentially harmful content; weights high-value contributions</a:t>
            </a:r>
            <a:endParaRPr/>
          </a:p>
          <a:p>
            <a:pPr algn="l">
              <a:defRPr/>
            </a:pPr>
            <a:r>
              <a:rPr/>
              <a:t>- **Provenance tagging**: every training example is traceable to its contributing user(s) and consent record — creating the **clean chain of custody** that is our legal and enterprise superpower</a:t>
            </a:r>
            <a:endParaRPr/>
          </a:p>
          <a:p>
            <a:pPr algn="l">
              <a:defRPr/>
            </a:pPr>
            <a:r>
              <a:rPr/>
              <a:t>- **First model training run**: fine-tune on a strong open-weight base model (e.g., Llama, Mistral) using the VIVIM contributed dataset</a:t>
            </a:r>
            <a:endParaRPr/>
          </a:p>
          <a:p>
            <a:pPr algn="l">
              <a:defRPr/>
            </a:pPr>
            <a:r>
              <a:rPr/>
              <a:t>- **Evaluation framework**: benchmark VIVIM-trained model against base model and competitors on:</a:t>
            </a:r>
            <a:endParaRPr/>
          </a:p>
          <a:p>
            <a:pPr algn="l">
              <a:defRPr/>
            </a:pPr>
            <a:r>
              <a:rPr/>
              <a:t>  - General reasoning and instruction following</a:t>
            </a:r>
            <a:endParaRPr/>
          </a:p>
          <a:p>
            <a:pPr algn="l">
              <a:defRPr/>
            </a:pPr>
            <a:r>
              <a:rPr/>
              <a:t>  - Conversational depth and context handling</a:t>
            </a:r>
            <a:endParaRPr/>
          </a:p>
          <a:p>
            <a:pPr algn="l">
              <a:defRPr/>
            </a:pPr>
            <a:r>
              <a:rPr/>
              <a:t>  - Domain-specific performance (in verticals with sufficient contributed data)</a:t>
            </a:r>
            <a:endParaRPr/>
          </a:p>
          <a:p>
            <a:pPr algn="l">
              <a:defRPr/>
            </a:pPr>
            <a:r>
              <a:rPr/>
              <a:t>  - Human preference evaluations (blind A/B testing)</a:t>
            </a:r>
            <a:endParaRPr/>
          </a:p>
          <a:p>
            <a:pPr algn="l">
              <a:defRPr/>
            </a:pPr>
            <a:r>
              <a:rPr/>
              <a:t>- **Model card and documentation**: transparent disclosure of training data characteristics, consent methodology, and performance benchmarks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Why It Matters</a:t>
            </a:r>
            <a:endParaRPr/>
          </a:p>
          <a:p>
            <a:pPr algn="l">
              <a:defRPr/>
            </a:pPr>
            <a:r>
              <a:rPr/>
              <a:t>This is the moment VIVIM transitions from **product company** to **AI company with a unique data asset.** The quality and differentiation of this first model determines whether the licensing/API revenue stream is viable — and whether the flywheel can sustain itself. The provenance documentation also becomes a tangible sales asset for enterprise customers who need auditable, rights-cleared AI.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Success Criteria</a:t>
            </a:r>
            <a:endParaRPr/>
          </a:p>
          <a:p>
            <a:pPr algn="l">
              <a:defRPr/>
            </a:pPr>
            <a:r>
              <a:rPr/>
              <a:t>- ✅ Training pipeline operational end-to-end</a:t>
            </a:r>
            <a:endParaRPr/>
          </a:p>
          <a:p>
            <a:pPr algn="l">
              <a:defRPr/>
            </a:pPr>
            <a:r>
              <a:rPr/>
              <a:t>- ✅ First VIVIM model trained and internally evaluated</a:t>
            </a:r>
            <a:endParaRPr/>
          </a:p>
          <a:p>
            <a:pPr algn="l">
              <a:defRPr/>
            </a:pPr>
            <a:r>
              <a:rPr/>
              <a:t>- ✅ Model demonstrates measurable improvement over base model on target benchmarks (especially conversational reasoning and domain tasks)</a:t>
            </a:r>
            <a:endParaRPr/>
          </a:p>
          <a:p>
            <a:pPr algn="l">
              <a:defRPr/>
            </a:pPr>
            <a:r>
              <a:rPr/>
              <a:t>- ✅ Human preference evaluation: **VIVIM model preferred &gt;55% of the time** vs. base model in blind testing</a:t>
            </a:r>
            <a:endParaRPr/>
          </a:p>
          <a:p>
            <a:pPr algn="l">
              <a:defRPr/>
            </a:pPr>
            <a:r>
              <a:rPr/>
              <a:t>- ✅ Full provenance documentation: every training example traceable to consented contribution</a:t>
            </a:r>
            <a:endParaRPr/>
          </a:p>
          <a:p>
            <a:pPr algn="l">
              <a:defRPr/>
            </a:pPr>
            <a:r>
              <a:rPr/>
              <a:t>- ✅ Model card published with transparent methodology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Key Metrics</a:t>
            </a:r>
            <a:endParaRPr/>
          </a:p>
          <a:p>
            <a:pPr algn="l">
              <a:defRPr/>
            </a:pPr>
            <a:r>
              <a:rPr/>
              <a:t>| Metric | Target |</a:t>
            </a:r>
            <a:endParaRPr/>
          </a:p>
          <a:p>
            <a:pPr algn="l">
              <a:defRPr/>
            </a:pPr>
            <a:r>
              <a:rPr/>
              <a:t>|---|---|</a:t>
            </a:r>
            <a:endParaRPr/>
          </a:p>
          <a:p>
            <a:pPr algn="l">
              <a:defRPr/>
            </a:pPr>
            <a:r>
              <a:rPr/>
              <a:t>| Training dataset size (contributed ACUs used) | 1M+ high-quality examples |</a:t>
            </a:r>
            <a:endParaRPr/>
          </a:p>
          <a:p>
            <a:pPr algn="l">
              <a:defRPr/>
            </a:pPr>
            <a:r>
              <a:rPr/>
              <a:t>| Benchmark improvement over base model | &gt;5% on target evaluations |</a:t>
            </a:r>
            <a:endParaRPr/>
          </a:p>
          <a:p>
            <a:pPr algn="l">
              <a:defRPr/>
            </a:pPr>
            <a:r>
              <a:rPr/>
              <a:t>| Human preference rate vs. base model | &gt;55% |</a:t>
            </a:r>
            <a:endParaRPr/>
          </a:p>
          <a:p>
            <a:pPr algn="l">
              <a:defRPr/>
            </a:pPr>
            <a:r>
              <a:rPr/>
              <a:t>| Provenance coverage (% of training data with full audit trail) | 100% |</a:t>
            </a:r>
            <a:endParaRPr/>
          </a:p>
          <a:p>
            <a:pPr algn="l">
              <a:defRPr/>
            </a:pPr>
            <a:r>
              <a:rPr/>
              <a:t>| Training cost efficiency | Within budget projections |</a:t>
            </a:r>
            <a:endParaRPr/>
          </a:p>
          <a:p>
            <a:pPr algn="l">
              <a:defRPr/>
            </a:pPr>
            <a:r>
              <a:rPr/>
              <a:t>| Time from pipeline start to trained model | &lt;8 weeks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Timeline</a:t>
            </a:r>
            <a:endParaRPr/>
          </a:p>
          <a:p>
            <a:pPr algn="l">
              <a:defRPr/>
            </a:pPr>
            <a:r>
              <a:rPr/>
              <a:t>**Months 14–17**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Dependencies</a:t>
            </a:r>
            <a:endParaRPr/>
          </a:p>
          <a:p>
            <a:pPr algn="l">
              <a:defRPr/>
            </a:pPr>
            <a:r>
              <a:rPr/>
              <a:t>Milestone 7 (sufficient contributed data at quality threshold)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 MILESTONE 9</a:t>
            </a:r>
            <a:endParaRPr/>
          </a:p>
          <a:p>
            <a:pPr algn="l">
              <a:defRPr/>
            </a:pPr>
            <a:r>
              <a:rPr/>
              <a:t># **First Model Revenue: The Flywheel Begins to Turn**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What We Build</a:t>
            </a:r>
            <a:endParaRPr/>
          </a:p>
          <a:p>
            <a:pPr algn="l">
              <a:defRPr/>
            </a:pPr>
            <a:r>
              <a:rPr/>
              <a:t>The commercialization infrastructure — and the **first paying customers** for VIVIM-trained models.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Deliverables</a:t>
            </a:r>
            <a:endParaRPr/>
          </a:p>
          <a:p>
            <a:pPr algn="l">
              <a:defRPr/>
            </a:pPr>
            <a:r>
              <a:rPr/>
              <a:t>- **API platform**: hosted inference API for the VIVIM-trained model — usage-based pricing, developer documentation, SDKs</a:t>
            </a:r>
            <a:endParaRPr/>
          </a:p>
          <a:p>
            <a:pPr algn="l">
              <a:defRPr/>
            </a:pPr>
            <a:r>
              <a:rPr/>
              <a:t>- **Enterprise licensing pipeline**: direct sales to enterprises that need AI models with **clean, auditable, consent-verified training data provenance**</a:t>
            </a:r>
            <a:endParaRPr/>
          </a:p>
          <a:p>
            <a:pPr algn="l">
              <a:defRPr/>
            </a:pPr>
            <a:r>
              <a:rPr/>
              <a:t>- **Vertical model pilots**: begin fine-tuning domain-specific models in 2–3 high-value verticals where contributed data is richest (likely: software engineering, legal, creative writing, or research)</a:t>
            </a:r>
            <a:endParaRPr/>
          </a:p>
          <a:p>
            <a:pPr algn="l">
              <a:defRPr/>
            </a:pPr>
            <a:r>
              <a:rPr/>
              <a:t>- **Research partnership agreements**: formalize 1–3 partnerships with academic institutions or commercial research labs for access to anonymized, consented interaction datasets</a:t>
            </a:r>
            <a:endParaRPr/>
          </a:p>
          <a:p>
            <a:pPr algn="l">
              <a:defRPr/>
            </a:pPr>
            <a:r>
              <a:rPr/>
              <a:t>- **Revenue attribution system**: infrastructure that tracks which models generate which revenue — required for accurate dividend calculation in Milestone 10</a:t>
            </a:r>
            <a:endParaRPr/>
          </a:p>
          <a:p>
            <a:pPr algn="l">
              <a:defRPr/>
            </a:pPr>
            <a:r>
              <a:rPr/>
              <a:t>- **Pricing strategy**: tiered pricing based on model capability, vertical specialization, and data provenance guarantees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Go-to-Market (Model Sales)</a:t>
            </a:r>
            <a:endParaRPr/>
          </a:p>
          <a:p>
            <a:pPr algn="l">
              <a:defRPr/>
            </a:pPr>
            <a:r>
              <a:rPr/>
              <a:t>- **Enterprise pitch**: "The only AI models with a fully auditable, consent-verified chain of custody. Zero regulatory risk on training data provenance."</a:t>
            </a:r>
            <a:endParaRPr/>
          </a:p>
          <a:p>
            <a:pPr algn="l">
              <a:defRPr/>
            </a:pPr>
            <a:r>
              <a:rPr/>
              <a:t>- **Developer pitch**: "Models trained on authentic human-AI interaction — not web scrapes. Better at conversation, reasoning, and context handling."</a:t>
            </a:r>
            <a:endParaRPr/>
          </a:p>
          <a:p>
            <a:pPr algn="l">
              <a:defRPr/>
            </a:pPr>
            <a:r>
              <a:rPr/>
              <a:t>- **Research pitch**: "Access to the world's first large-scale, consented, structured human-AI interaction dataset — with full ethical review."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Why It Matters</a:t>
            </a:r>
            <a:endParaRPr/>
          </a:p>
          <a:p>
            <a:pPr algn="l">
              <a:defRPr/>
            </a:pPr>
            <a:r>
              <a:rPr/>
              <a:t>**Revenue proves the thesis.** This is the milestone where the entire business model either validates or doesn't. If enterprises and developers will pay a premium for consent-verified, high-quality models — and if the revenue is meaningful — then the dividend flywheel becomes economically real. This is also the milestone where VIVIM's **regulatory moat** becomes a tangible sales advantage.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Success Criteria</a:t>
            </a:r>
            <a:endParaRPr/>
          </a:p>
          <a:p>
            <a:pPr algn="l">
              <a:defRPr/>
            </a:pPr>
            <a:r>
              <a:rPr/>
              <a:t>- ✅ API platform live with usage-based billing</a:t>
            </a:r>
            <a:endParaRPr/>
          </a:p>
          <a:p>
            <a:pPr algn="l">
              <a:defRPr/>
            </a:pPr>
            <a:r>
              <a:rPr/>
              <a:t>- ✅ **First 10+ paying API customers** (developers or small teams)</a:t>
            </a:r>
            <a:endParaRPr/>
          </a:p>
          <a:p>
            <a:pPr algn="l">
              <a:defRPr/>
            </a:pPr>
            <a:r>
              <a:rPr/>
              <a:t>- ✅ **First 3+ enterprise licensing deals** (signed or in advanced pipeline)</a:t>
            </a:r>
            <a:endParaRPr/>
          </a:p>
          <a:p>
            <a:pPr algn="l">
              <a:defRPr/>
            </a:pPr>
            <a:r>
              <a:rPr/>
              <a:t>- ✅ **First $500K+ in annualized model revenue** (API + licensing combined)</a:t>
            </a:r>
            <a:endParaRPr/>
          </a:p>
          <a:p>
            <a:pPr algn="l">
              <a:defRPr/>
            </a:pPr>
            <a:r>
              <a:rPr/>
              <a:t>- ✅ Revenue attribution system functional — every dollar traceable to model → training data → contributing users</a:t>
            </a:r>
            <a:endParaRPr/>
          </a:p>
          <a:p>
            <a:pPr algn="l">
              <a:defRPr/>
            </a:pPr>
            <a:r>
              <a:rPr/>
              <a:t>- ✅ At least 1 vertical model pilot underway with domain-specific performance data</a:t>
            </a:r>
            <a:endParaRPr/>
          </a:p>
          <a:p>
            <a:pPr algn="l">
              <a:defRPr/>
            </a:pPr>
            <a:r>
              <a:rPr/>
              <a:t>- ✅ At least 1 signed research partnership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Key Metrics</a:t>
            </a:r>
            <a:endParaRPr/>
          </a:p>
          <a:p>
            <a:pPr algn="l">
              <a:defRPr/>
            </a:pPr>
            <a:r>
              <a:rPr/>
              <a:t>| Metric | Target |</a:t>
            </a:r>
            <a:endParaRPr/>
          </a:p>
          <a:p>
            <a:pPr algn="l">
              <a:defRPr/>
            </a:pPr>
            <a:r>
              <a:rPr/>
              <a:t>|---|---|</a:t>
            </a:r>
            <a:endParaRPr/>
          </a:p>
          <a:p>
            <a:pPr algn="l">
              <a:defRPr/>
            </a:pPr>
            <a:r>
              <a:rPr/>
              <a:t>| API customers (paying) | 10+ |</a:t>
            </a:r>
            <a:endParaRPr/>
          </a:p>
          <a:p>
            <a:pPr algn="l">
              <a:defRPr/>
            </a:pPr>
            <a:r>
              <a:rPr/>
              <a:t>| Enterprise licenses (signed or pipeline) | 3+ signed, 10+ pipeline |</a:t>
            </a:r>
            <a:endParaRPr/>
          </a:p>
          <a:p>
            <a:pPr algn="l">
              <a:defRPr/>
            </a:pPr>
            <a:r>
              <a:rPr/>
              <a:t>| Annualized model revenue (ARR) | $500K+ |</a:t>
            </a:r>
            <a:endParaRPr/>
          </a:p>
          <a:p>
            <a:pPr algn="l">
              <a:defRPr/>
            </a:pPr>
            <a:r>
              <a:rPr/>
              <a:t>| API usage growth (month-over-month) | &gt;20% |</a:t>
            </a:r>
            <a:endParaRPr/>
          </a:p>
          <a:p>
            <a:pPr algn="l">
              <a:defRPr/>
            </a:pPr>
            <a:r>
              <a:rPr/>
              <a:t>| Revenue per model line (tracked) | Segmented and attributable |</a:t>
            </a:r>
            <a:endParaRPr/>
          </a:p>
          <a:p>
            <a:pPr algn="l">
              <a:defRPr/>
            </a:pPr>
            <a:r>
              <a:rPr/>
              <a:t>| Research partnerships | 1+ signed |</a:t>
            </a:r>
            <a:endParaRPr/>
          </a:p>
          <a:p>
            <a:pPr algn="l">
              <a:defRPr/>
            </a:pPr>
            <a:r>
              <a:rPr/>
              <a:t>| Vertical model pilots | 2–3 underway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Timeline</a:t>
            </a:r>
            <a:endParaRPr/>
          </a:p>
          <a:p>
            <a:pPr algn="l">
              <a:defRPr/>
            </a:pPr>
            <a:r>
              <a:rPr/>
              <a:t>**Months 17–20**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Dependencies</a:t>
            </a:r>
            <a:endParaRPr/>
          </a:p>
          <a:p>
            <a:pPr algn="l">
              <a:defRPr/>
            </a:pPr>
            <a:r>
              <a:rPr/>
              <a:t>Milestone 8 (trained model with demonstrated quality + provenance documentation)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 MILESTONE 10</a:t>
            </a:r>
            <a:endParaRPr/>
          </a:p>
          <a:p>
            <a:pPr algn="l">
              <a:defRPr/>
            </a:pPr>
            <a:r>
              <a:rPr/>
              <a:t># **First User Dividend Distribution: The Flywheel Proves Itself**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What We Build</a:t>
            </a:r>
            <a:endParaRPr/>
          </a:p>
          <a:p>
            <a:pPr algn="l">
              <a:defRPr/>
            </a:pPr>
            <a:r>
              <a:rPr/>
              <a:t>The **dividend calculation, accounting, and distribution infrastructure** — and the execution of the **first-ever user dividend payout from AI model revenue.**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This is the defining moment. The flywheel spins.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Deliverables</a:t>
            </a:r>
            <a:endParaRPr/>
          </a:p>
          <a:p>
            <a:pPr algn="l">
              <a:defRPr/>
            </a:pPr>
            <a:r>
              <a:rPr/>
              <a:t>- **Dividend calculation engine**: automated system that computes each contributor's share based on:</a:t>
            </a:r>
            <a:endParaRPr/>
          </a:p>
          <a:p>
            <a:pPr algn="l">
              <a:defRPr/>
            </a:pPr>
            <a:r>
              <a:rPr/>
              <a:t>  - Volume of contributed ACUs used in training</a:t>
            </a:r>
            <a:endParaRPr/>
          </a:p>
          <a:p>
            <a:pPr algn="l">
              <a:defRPr/>
            </a:pPr>
            <a:r>
              <a:rPr/>
              <a:t>  - Quality/uniqueness weighting of contributions</a:t>
            </a:r>
            <a:endParaRPr/>
          </a:p>
          <a:p>
            <a:pPr algn="l">
              <a:defRPr/>
            </a:pPr>
            <a:r>
              <a:rPr/>
              <a:t>  - Domain value multipliers (where applicable)</a:t>
            </a:r>
            <a:endParaRPr/>
          </a:p>
          <a:p>
            <a:pPr algn="l">
              <a:defRPr/>
            </a:pPr>
            <a:r>
              <a:rPr/>
              <a:t>  - Consistency bonuses for sustained contributors</a:t>
            </a:r>
            <a:endParaRPr/>
          </a:p>
          <a:p>
            <a:pPr algn="l">
              <a:defRPr/>
            </a:pPr>
            <a:r>
              <a:rPr/>
              <a:t>  - Revenue attribution per model line</a:t>
            </a:r>
            <a:endParaRPr/>
          </a:p>
          <a:p>
            <a:pPr algn="l">
              <a:defRPr/>
            </a:pPr>
            <a:r>
              <a:rPr/>
              <a:t>- **Payout infrastructure**: integration with payment processors for direct deposit, digital wallet, or equivalent payout mechanism — supporting domestic and international contributors</a:t>
            </a:r>
            <a:endParaRPr/>
          </a:p>
          <a:p>
            <a:pPr algn="l">
              <a:defRPr/>
            </a:pPr>
            <a:r>
              <a:rPr/>
              <a:t>- **Dividend Dashboard (v1)**: user-facing transparency portal showing:</a:t>
            </a:r>
            <a:endParaRPr/>
          </a:p>
          <a:p>
            <a:pPr algn="l">
              <a:defRPr/>
            </a:pPr>
            <a:r>
              <a:rPr/>
              <a:t>  - Total contributions and their training status</a:t>
            </a:r>
            <a:endParaRPr/>
          </a:p>
          <a:p>
            <a:pPr algn="l">
              <a:defRPr/>
            </a:pPr>
            <a:r>
              <a:rPr/>
              <a:t>  - Which models their data trained</a:t>
            </a:r>
            <a:endParaRPr/>
          </a:p>
          <a:p>
            <a:pPr algn="l">
              <a:defRPr/>
            </a:pPr>
            <a:r>
              <a:rPr/>
              <a:t>  - Revenue those models generated</a:t>
            </a:r>
            <a:endParaRPr/>
          </a:p>
          <a:p>
            <a:pPr algn="l">
              <a:defRPr/>
            </a:pPr>
            <a:r>
              <a:rPr/>
              <a:t>  - Their individual dividend — earned, pending, and projected</a:t>
            </a:r>
            <a:endParaRPr/>
          </a:p>
          <a:p>
            <a:pPr algn="l">
              <a:defRPr/>
            </a:pPr>
            <a:r>
              <a:rPr/>
              <a:t>  - Historical payout record</a:t>
            </a:r>
            <a:endParaRPr/>
          </a:p>
          <a:p>
            <a:pPr algn="l">
              <a:defRPr/>
            </a:pPr>
            <a:r>
              <a:rPr/>
              <a:t>- **First distribution event**: execute the first dividend payout cycle to all eligible contributors</a:t>
            </a:r>
            <a:endParaRPr/>
          </a:p>
          <a:p>
            <a:pPr algn="l">
              <a:defRPr/>
            </a:pPr>
            <a:r>
              <a:rPr/>
              <a:t>- **Communications campaign**: announce the first dividend publicly — press, social, community — with contributor testimonials and aggregate statistics (anonymized)</a:t>
            </a:r>
            <a:endParaRPr/>
          </a:p>
          <a:p>
            <a:pPr algn="l">
              <a:defRPr/>
            </a:pPr>
            <a:r>
              <a:rPr/>
              <a:t>- **Feedback loop**: post-distribution survey and behavioral analysis — does receiving a dividend increase contribution rate, retention, referrals?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The Moment</a:t>
            </a:r>
            <a:endParaRPr/>
          </a:p>
          <a:p>
            <a:pPr algn="l">
              <a:defRPr/>
            </a:pPr>
            <a:r>
              <a:rPr/>
              <a:t>This is the moment VIVIM proves its thesis to users, investors, and the market:</a:t>
            </a:r>
            <a:endParaRPr/>
          </a:p>
          <a:p>
            <a:pPr algn="l">
              <a:defRPr/>
            </a:pPr>
            <a:r>
              <a:rPr/>
              <a:t>&gt; **"You shared your AI conversations. We trained models. Those models earned revenue. Here is your share."**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This single event transforms the narrative from "interesting concept" to **"working economic model."** It is the proof point that the consented data flywheel is real and sustainable.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Why It Matters</a:t>
            </a:r>
            <a:endParaRPr/>
          </a:p>
          <a:p>
            <a:pPr algn="l">
              <a:defRPr/>
            </a:pPr>
            <a:r>
              <a:rPr/>
              <a:t>- **For users**: proof that their data has real financial value — and that VIVIM delivers on its core promise</a:t>
            </a:r>
            <a:endParaRPr/>
          </a:p>
          <a:p>
            <a:pPr algn="l">
              <a:defRPr/>
            </a:pPr>
            <a:r>
              <a:rPr/>
              <a:t>- **For growth**: nothing is more viral than "I got paid for my AI conversations" — this becomes the most powerful acquisition message possible</a:t>
            </a:r>
            <a:endParaRPr/>
          </a:p>
          <a:p>
            <a:pPr algn="l">
              <a:defRPr/>
            </a:pPr>
            <a:r>
              <a:rPr/>
              <a:t>- **For investors**: de-risks the entire business model — contribution rates, model quality, revenue generation, and distribution mechanics are all proven in one milestone</a:t>
            </a:r>
            <a:endParaRPr/>
          </a:p>
          <a:p>
            <a:pPr algn="l">
              <a:defRPr/>
            </a:pPr>
            <a:r>
              <a:rPr/>
              <a:t>- **For the market**: establishes a new paradigm — the first time AI users have been compensated for the value they create</a:t>
            </a:r>
            <a:endParaRPr/>
          </a:p>
          <a:p>
            <a:pPr algn="l">
              <a:defRPr/>
            </a:pPr>
            <a:r>
              <a:rPr/>
              <a:t>- **For regulation**: demonstrates a viable, consent-first alternative to the extractive data practices facing legal challenge worldwide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Success Criteria</a:t>
            </a:r>
            <a:endParaRPr/>
          </a:p>
          <a:p>
            <a:pPr algn="l">
              <a:defRPr/>
            </a:pPr>
            <a:r>
              <a:rPr/>
              <a:t>- ✅ Dividend calculation engine operational and audited</a:t>
            </a:r>
            <a:endParaRPr/>
          </a:p>
          <a:p>
            <a:pPr algn="l">
              <a:defRPr/>
            </a:pPr>
            <a:r>
              <a:rPr/>
              <a:t>- ✅ Payout infrastructure tested and functional (domestic + international)</a:t>
            </a:r>
            <a:endParaRPr/>
          </a:p>
          <a:p>
            <a:pPr algn="l">
              <a:defRPr/>
            </a:pPr>
            <a:r>
              <a:rPr/>
              <a:t>- ✅ Dividend Dashboard live for all contributors</a:t>
            </a:r>
            <a:endParaRPr/>
          </a:p>
          <a:p>
            <a:pPr algn="l">
              <a:defRPr/>
            </a:pPr>
            <a:r>
              <a:rPr/>
              <a:t>- ✅ **First dividend distributed to all eligible contributors**</a:t>
            </a:r>
            <a:endParaRPr/>
          </a:p>
          <a:p>
            <a:pPr algn="l">
              <a:defRPr/>
            </a:pPr>
            <a:r>
              <a:rPr/>
              <a:t>- ✅ Total dividend pool: **minimum $100K+ distributed** in first payout cycle</a:t>
            </a:r>
            <a:endParaRPr/>
          </a:p>
          <a:p>
            <a:pPr algn="l">
              <a:defRPr/>
            </a:pPr>
            <a:r>
              <a:rPr/>
              <a:t>- ✅ **Post-dividend opt-in rate increases by &gt;10 percentage points** (e.g., from 30% → 40%+)</a:t>
            </a:r>
            <a:endParaRPr/>
          </a:p>
          <a:p>
            <a:pPr algn="l">
              <a:defRPr/>
            </a:pPr>
            <a:r>
              <a:rPr/>
              <a:t>- ✅ **Post-dividend referral rate increases by &gt;25%**</a:t>
            </a:r>
            <a:endParaRPr/>
          </a:p>
          <a:p>
            <a:pPr algn="l">
              <a:defRPr/>
            </a:pPr>
            <a:r>
              <a:rPr/>
              <a:t>- ✅ Press coverage and social amplification of the distribution event</a:t>
            </a:r>
            <a:endParaRPr/>
          </a:p>
          <a:p>
            <a:pPr algn="l">
              <a:defRPr/>
            </a:pPr>
            <a:r>
              <a:rPr/>
              <a:t>- ✅ Net Promoter Score among dividend recipients: **&gt;70**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Key Metrics</a:t>
            </a:r>
            <a:endParaRPr/>
          </a:p>
          <a:p>
            <a:pPr algn="l">
              <a:defRPr/>
            </a:pPr>
            <a:r>
              <a:rPr/>
              <a:t>| Metric | Target |</a:t>
            </a:r>
            <a:endParaRPr/>
          </a:p>
          <a:p>
            <a:pPr algn="l">
              <a:defRPr/>
            </a:pPr>
            <a:r>
              <a:rPr/>
              <a:t>|---|---|</a:t>
            </a:r>
            <a:endParaRPr/>
          </a:p>
          <a:p>
            <a:pPr algn="l">
              <a:defRPr/>
            </a:pPr>
            <a:r>
              <a:rPr/>
              <a:t>| Total dividend distributed (first cycle) | $100K+ |</a:t>
            </a:r>
            <a:endParaRPr/>
          </a:p>
          <a:p>
            <a:pPr algn="l">
              <a:defRPr/>
            </a:pPr>
            <a:r>
              <a:rPr/>
              <a:t>| Number of contributors paid | 10K+ |</a:t>
            </a:r>
            <a:endParaRPr/>
          </a:p>
          <a:p>
            <a:pPr algn="l">
              <a:defRPr/>
            </a:pPr>
            <a:r>
              <a:rPr/>
              <a:t>| Average payout per contributor | Tracked and published (transparency) |</a:t>
            </a:r>
            <a:endParaRPr/>
          </a:p>
          <a:p>
            <a:pPr algn="l">
              <a:defRPr/>
            </a:pPr>
            <a:r>
              <a:rPr/>
              <a:t>| Top-decile contributor payout | Tracked and highlighted (aspirational signal) |</a:t>
            </a:r>
            <a:endParaRPr/>
          </a:p>
          <a:p>
            <a:pPr algn="l">
              <a:defRPr/>
            </a:pPr>
            <a:r>
              <a:rPr/>
              <a:t>| Post-dividend opt-in rate increase | &gt;10 percentage points |</a:t>
            </a:r>
            <a:endParaRPr/>
          </a:p>
          <a:p>
            <a:pPr algn="l">
              <a:defRPr/>
            </a:pPr>
            <a:r>
              <a:rPr/>
              <a:t>| Post-dividend referral rate increase | &gt;25% |</a:t>
            </a:r>
            <a:endParaRPr/>
          </a:p>
          <a:p>
            <a:pPr algn="l">
              <a:defRPr/>
            </a:pPr>
            <a:r>
              <a:rPr/>
              <a:t>| Post-dividend 30-day retention (contributors) | &gt;80% |</a:t>
            </a:r>
            <a:endParaRPr/>
          </a:p>
          <a:p>
            <a:pPr algn="l">
              <a:defRPr/>
            </a:pPr>
            <a:r>
              <a:rPr/>
              <a:t>| Dividend Dashboard engagement (% of contributors who check) | &gt;90% |</a:t>
            </a:r>
            <a:endParaRPr/>
          </a:p>
          <a:p>
            <a:pPr algn="l">
              <a:defRPr/>
            </a:pPr>
            <a:r>
              <a:rPr/>
              <a:t>| NPS among dividend recipients | &gt;70 |</a:t>
            </a:r>
            <a:endParaRPr/>
          </a:p>
          <a:p>
            <a:pPr algn="l">
              <a:defRPr/>
            </a:pPr>
            <a:r>
              <a:rPr/>
              <a:t>| Press/media mentions of distribution event | 20+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Timeline</a:t>
            </a:r>
            <a:endParaRPr/>
          </a:p>
          <a:p>
            <a:pPr algn="l">
              <a:defRPr/>
            </a:pPr>
            <a:r>
              <a:rPr/>
              <a:t>**Months 20–22**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Dependencies</a:t>
            </a:r>
            <a:endParaRPr/>
          </a:p>
          <a:p>
            <a:pPr algn="l">
              <a:defRPr/>
            </a:pPr>
            <a:r>
              <a:rPr/>
              <a:t>Milestone 9 (model revenue must be real and attributable)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 MILESTONE SUMMARY — THE PATH TO THE FLYWHEEL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# | Milestone | Core Deliverable | Timeline | Key Proof Point |</a:t>
            </a:r>
            <a:endParaRPr/>
          </a:p>
          <a:p>
            <a:pPr algn="l">
              <a:defRPr/>
            </a:pPr>
            <a:r>
              <a:rPr/>
              <a:t>|---|---|---|---|---|</a:t>
            </a:r>
            <a:endParaRPr/>
          </a:p>
          <a:p>
            <a:pPr algn="l">
              <a:defRPr/>
            </a:pPr>
            <a:r>
              <a:rPr/>
              <a:t>| **1** | Sovereign Chat Layer | Multi-provider BYOK chat | Months 1–3 | Users prefer unified interface; &gt;60% W1 retention |</a:t>
            </a:r>
            <a:endParaRPr/>
          </a:p>
          <a:p>
            <a:pPr algn="l">
              <a:defRPr/>
            </a:pPr>
            <a:r>
              <a:rPr/>
              <a:t>| **2** | Atomic Chat Units | Owned, portable, composable conversation objects | Months 3–5 | 100K+ ACUs created; full export/import functional |</a:t>
            </a:r>
            <a:endParaRPr/>
          </a:p>
          <a:p>
            <a:pPr algn="l">
              <a:defRPr/>
            </a:pPr>
            <a:r>
              <a:rPr/>
              <a:t>| **3** | Fork / Mux / Remux | Composable conversation operations | Months 5–7 | &gt;30% weekly adoption of compose features |</a:t>
            </a:r>
            <a:endParaRPr/>
          </a:p>
          <a:p>
            <a:pPr algn="l">
              <a:defRPr/>
            </a:pPr>
            <a:r>
              <a:rPr/>
              <a:t>| **4** | Context Engine v1 | Dynamic second brain with cross-provider memory | Months 6–9 | &gt;2x retention for context users vs. non-context users |</a:t>
            </a:r>
            <a:endParaRPr/>
          </a:p>
          <a:p>
            <a:pPr algn="l">
              <a:defRPr/>
            </a:pPr>
            <a:r>
              <a:rPr/>
              <a:t>| **5** | Social Layer | Publishing, following, remixing, discovery | Months 8–11 | &gt;15% monthly publish rate; viral coefficient &gt;0.3 |</a:t>
            </a:r>
            <a:endParaRPr/>
          </a:p>
          <a:p>
            <a:pPr algn="l">
              <a:defRPr/>
            </a:pPr>
            <a:r>
              <a:rPr/>
              <a:t>| **6** | Consent Framework | Trust architecture for opt-in data contribution | Months 10–13 | &gt;20% initial opt-in; &gt;70% trust rating |</a:t>
            </a:r>
            <a:endParaRPr/>
          </a:p>
          <a:p>
            <a:pPr algn="l">
              <a:defRPr/>
            </a:pPr>
            <a:r>
              <a:rPr/>
              <a:t>| **7** | 100K Users + Critical Mass | Growth to scale with 30K+ contributors | Months 12–15 | 2M+ contributed ACUs; &gt;30% opt-in rate |</a:t>
            </a:r>
            <a:endParaRPr/>
          </a:p>
          <a:p>
            <a:pPr algn="l">
              <a:defRPr/>
            </a:pPr>
            <a:r>
              <a:rPr/>
              <a:t>| **8** | First Model Training | VIVIM-trained model with full provenance | Months 14–17 | &gt;55% human preference vs. base model |</a:t>
            </a:r>
            <a:endParaRPr/>
          </a:p>
          <a:p>
            <a:pPr algn="l">
              <a:defRPr/>
            </a:pPr>
            <a:r>
              <a:rPr/>
              <a:t>| **9** | First Model Revenue | API + enterprise licensing live | Months 17–20 | $500K+ ARR; 10+ paying customers |</a:t>
            </a:r>
            <a:endParaRPr/>
          </a:p>
          <a:p>
            <a:pPr algn="l">
              <a:defRPr/>
            </a:pPr>
            <a:r>
              <a:rPr/>
              <a:t>| **10** | First Dividend Distribution | Contributors get paid | Months 20–22 | **$100K+ distributed; opt-in rate jumps &gt;10pts**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 THE FLYWHEEL VISUALIZATION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```</a:t>
            </a:r>
            <a:endParaRPr/>
          </a:p>
          <a:p>
            <a:pPr algn="l">
              <a:defRPr/>
            </a:pPr>
            <a:r>
              <a:rPr/>
              <a:t>  MILESTONE 1–5: Build the product people love</a:t>
            </a:r>
            <a:endParaRPr/>
          </a:p>
          <a:p>
            <a:pPr algn="l">
              <a:defRPr/>
            </a:pPr>
            <a:r>
              <a:rPr/>
              <a:t>        │</a:t>
            </a:r>
            <a:endParaRPr/>
          </a:p>
          <a:p>
            <a:pPr algn="l">
              <a:defRPr/>
            </a:pPr>
            <a:r>
              <a:rPr/>
              <a:t>        ▼</a:t>
            </a:r>
            <a:endParaRPr/>
          </a:p>
          <a:p>
            <a:pPr algn="l">
              <a:defRPr/>
            </a:pPr>
            <a:r>
              <a:rPr/>
              <a:t>  MILESTONE 6: Build the trust to share</a:t>
            </a:r>
            <a:endParaRPr/>
          </a:p>
          <a:p>
            <a:pPr algn="l">
              <a:defRPr/>
            </a:pPr>
            <a:r>
              <a:rPr/>
              <a:t>        │</a:t>
            </a:r>
            <a:endParaRPr/>
          </a:p>
          <a:p>
            <a:pPr algn="l">
              <a:defRPr/>
            </a:pPr>
            <a:r>
              <a:rPr/>
              <a:t>        ▼</a:t>
            </a:r>
            <a:endParaRPr/>
          </a:p>
          <a:p>
            <a:pPr algn="l">
              <a:defRPr/>
            </a:pPr>
            <a:r>
              <a:rPr/>
              <a:t>  MILESTONE 7: Scale users + contributions</a:t>
            </a:r>
            <a:endParaRPr/>
          </a:p>
          <a:p>
            <a:pPr algn="l">
              <a:defRPr/>
            </a:pPr>
            <a:r>
              <a:rPr/>
              <a:t>        │</a:t>
            </a:r>
            <a:endParaRPr/>
          </a:p>
          <a:p>
            <a:pPr algn="l">
              <a:defRPr/>
            </a:pPr>
            <a:r>
              <a:rPr/>
              <a:t>        ▼</a:t>
            </a:r>
            <a:endParaRPr/>
          </a:p>
          <a:p>
            <a:pPr algn="l">
              <a:defRPr/>
            </a:pPr>
            <a:r>
              <a:rPr/>
              <a:t>  MILESTONE 8: Train models on consented data</a:t>
            </a:r>
            <a:endParaRPr/>
          </a:p>
          <a:p>
            <a:pPr algn="l">
              <a:defRPr/>
            </a:pPr>
            <a:r>
              <a:rPr/>
              <a:t>        │</a:t>
            </a:r>
            <a:endParaRPr/>
          </a:p>
          <a:p>
            <a:pPr algn="l">
              <a:defRPr/>
            </a:pPr>
            <a:r>
              <a:rPr/>
              <a:t>        ▼</a:t>
            </a:r>
            <a:endParaRPr/>
          </a:p>
          <a:p>
            <a:pPr algn="l">
              <a:defRPr/>
            </a:pPr>
            <a:r>
              <a:rPr/>
              <a:t>  MILESTONE 9: Sell models → generate revenue</a:t>
            </a:r>
            <a:endParaRPr/>
          </a:p>
          <a:p>
            <a:pPr algn="l">
              <a:defRPr/>
            </a:pPr>
            <a:r>
              <a:rPr/>
              <a:t>        │</a:t>
            </a:r>
            <a:endParaRPr/>
          </a:p>
          <a:p>
            <a:pPr algn="l">
              <a:defRPr/>
            </a:pPr>
            <a:r>
              <a:rPr/>
              <a:t>        ▼</a:t>
            </a:r>
            <a:endParaRPr/>
          </a:p>
          <a:p>
            <a:pPr algn="l">
              <a:defRPr/>
            </a:pPr>
            <a:r>
              <a:rPr/>
              <a:t>  MILESTONE 10: Pay users → prove the model</a:t>
            </a:r>
            <a:endParaRPr/>
          </a:p>
          <a:p>
            <a:pPr algn="l">
              <a:defRPr/>
            </a:pPr>
            <a:r>
              <a:rPr/>
              <a:t>        │</a:t>
            </a:r>
            <a:endParaRPr/>
          </a:p>
          <a:p>
            <a:pPr algn="l">
              <a:defRPr/>
            </a:pPr>
            <a:r>
              <a:rPr/>
              <a:t>        ▼</a:t>
            </a:r>
            <a:endParaRPr/>
          </a:p>
          <a:p>
            <a:pPr algn="l">
              <a:defRPr/>
            </a:pPr>
            <a:r>
              <a:rPr/>
              <a:t>  ┌─────────────────────────────────────┐</a:t>
            </a:r>
            <a:endParaRPr/>
          </a:p>
          <a:p>
            <a:pPr algn="l">
              <a:defRPr/>
            </a:pPr>
            <a:r>
              <a:rPr/>
              <a:t>  │         THE FLYWHEEL SPINS          │</a:t>
            </a:r>
            <a:endParaRPr/>
          </a:p>
          <a:p>
            <a:pPr algn="l">
              <a:defRPr/>
            </a:pPr>
            <a:r>
              <a:rPr/>
              <a:t>  │                                     │</a:t>
            </a:r>
            <a:endParaRPr/>
          </a:p>
          <a:p>
            <a:pPr algn="l">
              <a:defRPr/>
            </a:pPr>
            <a:r>
              <a:rPr/>
              <a:t>  │  More dividends → More trust        │</a:t>
            </a:r>
            <a:endParaRPr/>
          </a:p>
          <a:p>
            <a:pPr algn="l">
              <a:defRPr/>
            </a:pPr>
            <a:r>
              <a:rPr/>
              <a:t>  │  → More contributions → Better data │</a:t>
            </a:r>
            <a:endParaRPr/>
          </a:p>
          <a:p>
            <a:pPr algn="l">
              <a:defRPr/>
            </a:pPr>
            <a:r>
              <a:rPr/>
              <a:t>  │  → Better models → More revenue     │</a:t>
            </a:r>
            <a:endParaRPr/>
          </a:p>
          <a:p>
            <a:pPr algn="l">
              <a:defRPr/>
            </a:pPr>
            <a:r>
              <a:rPr/>
              <a:t>  │  → Bigger dividends → More users    │</a:t>
            </a:r>
            <a:endParaRPr/>
          </a:p>
          <a:p>
            <a:pPr algn="l">
              <a:defRPr/>
            </a:pPr>
            <a:r>
              <a:rPr/>
              <a:t>  │  → More contributions → 🔄          │</a:t>
            </a:r>
            <a:endParaRPr/>
          </a:p>
          <a:p>
            <a:pPr algn="l">
              <a:defRPr/>
            </a:pPr>
            <a:r>
              <a:rPr/>
              <a:t>  └─────────────────────────────────────┘</a:t>
            </a:r>
            <a:endParaRPr/>
          </a:p>
          <a:p>
            <a:pPr algn="l">
              <a:defRPr/>
            </a:pPr>
            <a:r>
              <a:rPr/>
              <a:t>```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 POST-FLYWHEEL: WHAT COMES NEXT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Once Milestone 10 is achieved, the following accelerators unlock: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 **Vertical model expansion**: fine-tuned models across 10+ professional domains</a:t>
            </a:r>
            <a:endParaRPr/>
          </a:p>
          <a:p>
            <a:pPr algn="l">
              <a:defRPr/>
            </a:pPr>
            <a:r>
              <a:rPr/>
              <a:t>- **Enterprise tier**: team workspaces with shared second brains and compliance controls</a:t>
            </a:r>
            <a:endParaRPr/>
          </a:p>
          <a:p>
            <a:pPr algn="l">
              <a:defRPr/>
            </a:pPr>
            <a:r>
              <a:rPr/>
              <a:t>- **Conversation marketplace**: paid templates, expert workflows, and remixable conversation packs</a:t>
            </a:r>
            <a:endParaRPr/>
          </a:p>
          <a:p>
            <a:pPr algn="l">
              <a:defRPr/>
            </a:pPr>
            <a:r>
              <a:rPr/>
              <a:t>- **Mobile-native experience**: full VIVIM on iOS/Android</a:t>
            </a:r>
            <a:endParaRPr/>
          </a:p>
          <a:p>
            <a:pPr algn="l">
              <a:defRPr/>
            </a:pPr>
            <a:r>
              <a:rPr/>
              <a:t>- **Scaled dividend program**: quarterly distributions growing with revenue</a:t>
            </a:r>
            <a:endParaRPr/>
          </a:p>
          <a:p>
            <a:pPr algn="l">
              <a:defRPr/>
            </a:pPr>
            <a:r>
              <a:rPr/>
              <a:t>- **International expansion**: localized experience, multi-language context engine</a:t>
            </a:r>
            <a:endParaRPr/>
          </a:p>
          <a:p>
            <a:pPr algn="l">
              <a:defRPr/>
            </a:pPr>
            <a:r>
              <a:rPr/>
              <a:t>- **Research program**: formal academic partnerships leveraging the world's first consent-verified human-AI interaction dataset</a:t>
            </a:r>
            <a:endParaRPr/>
          </a:p>
          <a:p>
            <a:pPr algn="l">
              <a:defRPr/>
            </a:pPr>
            <a:r>
              <a:rPr/>
              <a:t>- **VIVIM as primary AI interface**: the default home for how humans interact with artificial intelligence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&gt; *"The path from Milestone 1 to Milestone 10 is the path from 'interesting product' to 'new economic paradigm.' Every milestone de-risks the next. And when the first dividend hits a contributor's account, the flywheel doesn't just start — it accelerates."*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 **Your AI. Your Data. Your Dividend.**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/////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 VIVIM — Development &amp; Growth Milestones</a:t>
            </a:r>
            <a:endParaRPr/>
          </a:p>
          <a:p>
            <a:pPr algn="l">
              <a:defRPr/>
            </a:pPr>
            <a:r>
              <a:rPr/>
              <a:t>## From Zero to First User Dividend Distribution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 EXECUTIVE SUMMARY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**Timeline:** 18 months from kickoff to first dividend distribution</a:t>
            </a:r>
            <a:endParaRPr/>
          </a:p>
          <a:p>
            <a:pPr algn="l">
              <a:defRPr/>
            </a:pPr>
            <a:r>
              <a:rPr/>
              <a:t>**Total Milestones:** 10 sequential phases</a:t>
            </a:r>
            <a:endParaRPr/>
          </a:p>
          <a:p>
            <a:pPr algn="l">
              <a:defRPr/>
            </a:pPr>
            <a:r>
              <a:rPr/>
              <a:t>**End State:** Functioning flywheel with users earning real money from model revenue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```</a:t>
            </a:r>
            <a:endParaRPr/>
          </a:p>
          <a:p>
            <a:pPr algn="l">
              <a:defRPr/>
            </a:pPr>
            <a:r>
              <a:rPr/>
              <a:t>M1 → M2 → M3 → M4 → M5 → M6 → M7 → M8 → M9 → M10</a:t>
            </a:r>
            <a:endParaRPr/>
          </a:p>
          <a:p>
            <a:pPr algn="l">
              <a:defRPr/>
            </a:pPr>
            <a:r>
              <a:rPr/>
              <a:t>│     │     │     │     │     │     │     │     │     │</a:t>
            </a:r>
            <a:endParaRPr/>
          </a:p>
          <a:p>
            <a:pPr algn="l">
              <a:defRPr/>
            </a:pPr>
            <a:r>
              <a:rPr/>
              <a:t>▼     ▼     ▼     ▼     ▼     ▼     ▼     ▼     ▼     ▼</a:t>
            </a:r>
            <a:endParaRPr/>
          </a:p>
          <a:p>
            <a:pPr algn="l">
              <a:defRPr/>
            </a:pPr>
            <a:r>
              <a:rPr/>
              <a:t>Core  Mux   Own   Store  Compose Context Social Consent Train  Pay</a:t>
            </a:r>
            <a:endParaRPr/>
          </a:p>
          <a:p>
            <a:pPr algn="l">
              <a:defRPr/>
            </a:pPr>
            <a:r>
              <a:rPr/>
              <a:t>Infra Layer Prim. Layer  Engine  Engine Layer  System Pipeline Users</a:t>
            </a:r>
            <a:endParaRPr/>
          </a:p>
          <a:p>
            <a:pPr algn="l">
              <a:defRPr/>
            </a:pPr>
            <a:r>
              <a:rPr/>
              <a:t>```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 MILESTONE 1: CORE INFRASTRUCTURE</a:t>
            </a:r>
            <a:endParaRPr/>
          </a:p>
          <a:p>
            <a:pPr algn="l">
              <a:defRPr/>
            </a:pPr>
            <a:r>
              <a:rPr/>
              <a:t>## "The Foundation"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Timeline: Months 1–2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Objective</a:t>
            </a:r>
            <a:endParaRPr/>
          </a:p>
          <a:p>
            <a:pPr algn="l">
              <a:defRPr/>
            </a:pPr>
            <a:r>
              <a:rPr/>
              <a:t>Stand up the foundational technical infrastructure that all subsequent systems will build upon — authentication, database architecture, API gateway, security framework, and deployment pipeline.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Key Deliverables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Deliverable | Description |</a:t>
            </a:r>
            <a:endParaRPr/>
          </a:p>
          <a:p>
            <a:pPr algn="l">
              <a:defRPr/>
            </a:pPr>
            <a:r>
              <a:rPr/>
              <a:t>|-------------|-------------|</a:t>
            </a:r>
            <a:endParaRPr/>
          </a:p>
          <a:p>
            <a:pPr algn="l">
              <a:defRPr/>
            </a:pPr>
            <a:r>
              <a:rPr/>
              <a:t>| **User Authentication System** | Secure auth with email, OAuth (Google, GitHub, Apple), and future wallet connection hooks |</a:t>
            </a:r>
            <a:endParaRPr/>
          </a:p>
          <a:p>
            <a:pPr algn="l">
              <a:defRPr/>
            </a:pPr>
            <a:r>
              <a:rPr/>
              <a:t>| **Database Architecture** | Scalable multi-tenant data layer (PostgreSQL + vector DB for embeddings + time-series for analytics) |</a:t>
            </a:r>
            <a:endParaRPr/>
          </a:p>
          <a:p>
            <a:pPr algn="l">
              <a:defRPr/>
            </a:pPr>
            <a:r>
              <a:rPr/>
              <a:t>| **API Gateway** | Rate-limited, authenticated API layer for all internal and external services |</a:t>
            </a:r>
            <a:endParaRPr/>
          </a:p>
          <a:p>
            <a:pPr algn="l">
              <a:defRPr/>
            </a:pPr>
            <a:r>
              <a:rPr/>
              <a:t>| **Security Framework** | End-to-end encryption at rest and in transit, SOC 2 prep, audit logging |</a:t>
            </a:r>
            <a:endParaRPr/>
          </a:p>
          <a:p>
            <a:pPr algn="l">
              <a:defRPr/>
            </a:pPr>
            <a:r>
              <a:rPr/>
              <a:t>| **CI/CD Pipeline** | Automated testing, staging, and production deployment infrastructure |</a:t>
            </a:r>
            <a:endParaRPr/>
          </a:p>
          <a:p>
            <a:pPr algn="l">
              <a:defRPr/>
            </a:pPr>
            <a:r>
              <a:rPr/>
              <a:t>| **Monitoring Stack** | Observability (logging, metrics, alerting) across all services |</a:t>
            </a:r>
            <a:endParaRPr/>
          </a:p>
          <a:p>
            <a:pPr algn="l">
              <a:defRPr/>
            </a:pPr>
            <a:r>
              <a:rPr/>
              <a:t>| **Admin Dashboard v0** | Internal tooling for user management, system health, and debugging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Success Metrics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Metric | Target |</a:t>
            </a:r>
            <a:endParaRPr/>
          </a:p>
          <a:p>
            <a:pPr algn="l">
              <a:defRPr/>
            </a:pPr>
            <a:r>
              <a:rPr/>
              <a:t>|--------|--------|</a:t>
            </a:r>
            <a:endParaRPr/>
          </a:p>
          <a:p>
            <a:pPr algn="l">
              <a:defRPr/>
            </a:pPr>
            <a:r>
              <a:rPr/>
              <a:t>| System uptime | 99.9% |</a:t>
            </a:r>
            <a:endParaRPr/>
          </a:p>
          <a:p>
            <a:pPr algn="l">
              <a:defRPr/>
            </a:pPr>
            <a:r>
              <a:rPr/>
              <a:t>| Auth flow completion rate | &gt;95% |</a:t>
            </a:r>
            <a:endParaRPr/>
          </a:p>
          <a:p>
            <a:pPr algn="l">
              <a:defRPr/>
            </a:pPr>
            <a:r>
              <a:rPr/>
              <a:t>| API latency (p95) | &lt;100ms |</a:t>
            </a:r>
            <a:endParaRPr/>
          </a:p>
          <a:p>
            <a:pPr algn="l">
              <a:defRPr/>
            </a:pPr>
            <a:r>
              <a:rPr/>
              <a:t>| Security audit pass | Zero critical vulnerabilities |</a:t>
            </a:r>
            <a:endParaRPr/>
          </a:p>
          <a:p>
            <a:pPr algn="l">
              <a:defRPr/>
            </a:pPr>
            <a:r>
              <a:rPr/>
              <a:t>| Deploy frequency | Multiple times per day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Dependencies</a:t>
            </a:r>
            <a:endParaRPr/>
          </a:p>
          <a:p>
            <a:pPr algn="l">
              <a:defRPr/>
            </a:pPr>
            <a:r>
              <a:rPr/>
              <a:t>- Cloud infrastructure decisions (AWS/GCP/hybrid)</a:t>
            </a:r>
            <a:endParaRPr/>
          </a:p>
          <a:p>
            <a:pPr algn="l">
              <a:defRPr/>
            </a:pPr>
            <a:r>
              <a:rPr/>
              <a:t>- Security and compliance consultant engagement</a:t>
            </a:r>
            <a:endParaRPr/>
          </a:p>
          <a:p>
            <a:pPr algn="l">
              <a:defRPr/>
            </a:pPr>
            <a:r>
              <a:rPr/>
              <a:t>- Core engineering team (minimum 3 senior engineers)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Risks &amp; Mitigations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Risk | Mitigation |</a:t>
            </a:r>
            <a:endParaRPr/>
          </a:p>
          <a:p>
            <a:pPr algn="l">
              <a:defRPr/>
            </a:pPr>
            <a:r>
              <a:rPr/>
              <a:t>|------|------------|</a:t>
            </a:r>
            <a:endParaRPr/>
          </a:p>
          <a:p>
            <a:pPr algn="l">
              <a:defRPr/>
            </a:pPr>
            <a:r>
              <a:rPr/>
              <a:t>| Over-engineering early | Time-box to 8 weeks; MVP mindset |</a:t>
            </a:r>
            <a:endParaRPr/>
          </a:p>
          <a:p>
            <a:pPr algn="l">
              <a:defRPr/>
            </a:pPr>
            <a:r>
              <a:rPr/>
              <a:t>| Security gaps | External audit at week 6 |</a:t>
            </a:r>
            <a:endParaRPr/>
          </a:p>
          <a:p>
            <a:pPr algn="l">
              <a:defRPr/>
            </a:pPr>
            <a:r>
              <a:rPr/>
              <a:t>| Scaling unknowns | Design for 10x current needs, no more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Business Impact</a:t>
            </a:r>
            <a:endParaRPr/>
          </a:p>
          <a:p>
            <a:pPr algn="l">
              <a:defRPr/>
            </a:pPr>
            <a:r>
              <a:rPr/>
              <a:t>- Enables all subsequent development</a:t>
            </a:r>
            <a:endParaRPr/>
          </a:p>
          <a:p>
            <a:pPr algn="l">
              <a:defRPr/>
            </a:pPr>
            <a:r>
              <a:rPr/>
              <a:t>- Establishes security posture for enterprise conversations later</a:t>
            </a:r>
            <a:endParaRPr/>
          </a:p>
          <a:p>
            <a:pPr algn="l">
              <a:defRPr/>
            </a:pPr>
            <a:r>
              <a:rPr/>
              <a:t>- Sets engineering velocity baseline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Resources Required</a:t>
            </a:r>
            <a:endParaRPr/>
          </a:p>
          <a:p>
            <a:pPr algn="l">
              <a:defRPr/>
            </a:pPr>
            <a:r>
              <a:rPr/>
              <a:t>- 3–4 engineers (infra, backend, security)</a:t>
            </a:r>
            <a:endParaRPr/>
          </a:p>
          <a:p>
            <a:pPr algn="l">
              <a:defRPr/>
            </a:pPr>
            <a:r>
              <a:rPr/>
              <a:t>- Cloud budget: ~$5K/month</a:t>
            </a:r>
            <a:endParaRPr/>
          </a:p>
          <a:p>
            <a:pPr algn="l">
              <a:defRPr/>
            </a:pPr>
            <a:r>
              <a:rPr/>
              <a:t>- Security consultant: 20 hours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Exit Criteria</a:t>
            </a:r>
            <a:endParaRPr/>
          </a:p>
          <a:p>
            <a:pPr algn="l">
              <a:defRPr/>
            </a:pPr>
            <a:r>
              <a:rPr/>
              <a:t>✅ User can create account, authenticate, and access empty dashboard</a:t>
            </a:r>
            <a:endParaRPr/>
          </a:p>
          <a:p>
            <a:pPr algn="l">
              <a:defRPr/>
            </a:pPr>
            <a:r>
              <a:rPr/>
              <a:t>✅ All services deployed and monitored</a:t>
            </a:r>
            <a:endParaRPr/>
          </a:p>
          <a:p>
            <a:pPr algn="l">
              <a:defRPr/>
            </a:pPr>
            <a:r>
              <a:rPr/>
              <a:t>✅ Security audit complete with zero critical findings</a:t>
            </a:r>
            <a:endParaRPr/>
          </a:p>
          <a:p>
            <a:pPr algn="l">
              <a:defRPr/>
            </a:pPr>
            <a:r>
              <a:rPr/>
              <a:t>✅ CI/CD running with &gt;80% test coverage on core modules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 MILESTONE 2: UNIVERSAL MUX LAYER</a:t>
            </a:r>
            <a:endParaRPr/>
          </a:p>
          <a:p>
            <a:pPr algn="l">
              <a:defRPr/>
            </a:pPr>
            <a:r>
              <a:rPr/>
              <a:t>## "One Interface, Every Model"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Timeline: Months 2–4 (overlaps M1)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Objective</a:t>
            </a:r>
            <a:endParaRPr/>
          </a:p>
          <a:p>
            <a:pPr algn="l">
              <a:defRPr/>
            </a:pPr>
            <a:r>
              <a:rPr/>
              <a:t>Build the provider-agnostic abstraction layer that allows users to connect their own API keys and interact with any supported LLM through a single, unified interface — the foundational BYOK experience.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Key Deliverables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Deliverable | Description |</a:t>
            </a:r>
            <a:endParaRPr/>
          </a:p>
          <a:p>
            <a:pPr algn="l">
              <a:defRPr/>
            </a:pPr>
            <a:r>
              <a:rPr/>
              <a:t>|-------------|-------------|</a:t>
            </a:r>
            <a:endParaRPr/>
          </a:p>
          <a:p>
            <a:pPr algn="l">
              <a:defRPr/>
            </a:pPr>
            <a:r>
              <a:rPr/>
              <a:t>| **Provider Adapter Framework** | Pluggable architecture for adding new LLM providers |</a:t>
            </a:r>
            <a:endParaRPr/>
          </a:p>
          <a:p>
            <a:pPr algn="l">
              <a:defRPr/>
            </a:pPr>
            <a:r>
              <a:rPr/>
              <a:t>| **Initial Provider Integrations** | OpenAI (GPT-4/4o), Anthropic (Claude 3.5/4), Google (Gemini), Perplexity, Mistral, Groq, DeepSeek, Llama (via Replicate/Together) |</a:t>
            </a:r>
            <a:endParaRPr/>
          </a:p>
          <a:p>
            <a:pPr algn="l">
              <a:defRPr/>
            </a:pPr>
            <a:r>
              <a:rPr/>
              <a:t>| **BYOK Key Management** | Secure storage and validation of user API keys (encrypted, never logged) |</a:t>
            </a:r>
            <a:endParaRPr/>
          </a:p>
          <a:p>
            <a:pPr algn="l">
              <a:defRPr/>
            </a:pPr>
            <a:r>
              <a:rPr/>
              <a:t>| **Unified Chat Interface** | Single conversation UI that works identically across all providers |</a:t>
            </a:r>
            <a:endParaRPr/>
          </a:p>
          <a:p>
            <a:pPr algn="l">
              <a:defRPr/>
            </a:pPr>
            <a:r>
              <a:rPr/>
              <a:t>| **Model Selector** | Easy switching between models mid-conversation or per-message |</a:t>
            </a:r>
            <a:endParaRPr/>
          </a:p>
          <a:p>
            <a:pPr algn="l">
              <a:defRPr/>
            </a:pPr>
            <a:r>
              <a:rPr/>
              <a:t>| **Streaming Support** | Real-time token streaming for all supported providers |</a:t>
            </a:r>
            <a:endParaRPr/>
          </a:p>
          <a:p>
            <a:pPr algn="l">
              <a:defRPr/>
            </a:pPr>
            <a:r>
              <a:rPr/>
              <a:t>| **Error Handling &amp; Fallbacks** | Graceful degradation, clear error messages, optional auto-fallback |</a:t>
            </a:r>
            <a:endParaRPr/>
          </a:p>
          <a:p>
            <a:pPr algn="l">
              <a:defRPr/>
            </a:pPr>
            <a:r>
              <a:rPr/>
              <a:t>| **Usage Tracking** | Per-provider token counting and cost estimation (user-facing)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Success Metrics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Metric | Target |</a:t>
            </a:r>
            <a:endParaRPr/>
          </a:p>
          <a:p>
            <a:pPr algn="l">
              <a:defRPr/>
            </a:pPr>
            <a:r>
              <a:rPr/>
              <a:t>|--------|--------|</a:t>
            </a:r>
            <a:endParaRPr/>
          </a:p>
          <a:p>
            <a:pPr algn="l">
              <a:defRPr/>
            </a:pPr>
            <a:r>
              <a:rPr/>
              <a:t>| Providers integrated | ≥8 |</a:t>
            </a:r>
            <a:endParaRPr/>
          </a:p>
          <a:p>
            <a:pPr algn="l">
              <a:defRPr/>
            </a:pPr>
            <a:r>
              <a:rPr/>
              <a:t>| Key validation success rate | &gt;98% |</a:t>
            </a:r>
            <a:endParaRPr/>
          </a:p>
          <a:p>
            <a:pPr algn="l">
              <a:defRPr/>
            </a:pPr>
            <a:r>
              <a:rPr/>
              <a:t>| Message delivery success rate | &gt;99.5% |</a:t>
            </a:r>
            <a:endParaRPr/>
          </a:p>
          <a:p>
            <a:pPr algn="l">
              <a:defRPr/>
            </a:pPr>
            <a:r>
              <a:rPr/>
              <a:t>| Streaming latency overhead | &lt;50ms added |</a:t>
            </a:r>
            <a:endParaRPr/>
          </a:p>
          <a:p>
            <a:pPr algn="l">
              <a:defRPr/>
            </a:pPr>
            <a:r>
              <a:rPr/>
              <a:t>| User-reported model switching friction | &lt;10% report issues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Dependencies</a:t>
            </a:r>
            <a:endParaRPr/>
          </a:p>
          <a:p>
            <a:pPr algn="l">
              <a:defRPr/>
            </a:pPr>
            <a:r>
              <a:rPr/>
              <a:t>- M1 complete (auth, database, API gateway)</a:t>
            </a:r>
            <a:endParaRPr/>
          </a:p>
          <a:p>
            <a:pPr algn="l">
              <a:defRPr/>
            </a:pPr>
            <a:r>
              <a:rPr/>
              <a:t>- API documentation and access for all providers</a:t>
            </a:r>
            <a:endParaRPr/>
          </a:p>
          <a:p>
            <a:pPr algn="l">
              <a:defRPr/>
            </a:pPr>
            <a:r>
              <a:rPr/>
              <a:t>- Legal review of ToS for each provider's API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Risks &amp; Mitigations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Risk | Mitigation |</a:t>
            </a:r>
            <a:endParaRPr/>
          </a:p>
          <a:p>
            <a:pPr algn="l">
              <a:defRPr/>
            </a:pPr>
            <a:r>
              <a:rPr/>
              <a:t>|------|------------|</a:t>
            </a:r>
            <a:endParaRPr/>
          </a:p>
          <a:p>
            <a:pPr algn="l">
              <a:defRPr/>
            </a:pPr>
            <a:r>
              <a:rPr/>
              <a:t>| Provider API changes | Abstract aggressively; monitor changelogs; integration tests |</a:t>
            </a:r>
            <a:endParaRPr/>
          </a:p>
          <a:p>
            <a:pPr algn="l">
              <a:defRPr/>
            </a:pPr>
            <a:r>
              <a:rPr/>
              <a:t>| Rate limiting variance | Per-provider rate limit awareness; user warnings |</a:t>
            </a:r>
            <a:endParaRPr/>
          </a:p>
          <a:p>
            <a:pPr algn="l">
              <a:defRPr/>
            </a:pPr>
            <a:r>
              <a:rPr/>
              <a:t>| Key security | HSM or equivalent for key storage; never log keys |</a:t>
            </a:r>
            <a:endParaRPr/>
          </a:p>
          <a:p>
            <a:pPr algn="l">
              <a:defRPr/>
            </a:pPr>
            <a:r>
              <a:rPr/>
              <a:t>| Provider blocks BYOK use | Legal review; fallback providers always available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Business Impact</a:t>
            </a:r>
            <a:endParaRPr/>
          </a:p>
          <a:p>
            <a:pPr algn="l">
              <a:defRPr/>
            </a:pPr>
            <a:r>
              <a:rPr/>
              <a:t>- Core UX differentiator vs. single-provider apps</a:t>
            </a:r>
            <a:endParaRPr/>
          </a:p>
          <a:p>
            <a:pPr algn="l">
              <a:defRPr/>
            </a:pPr>
            <a:r>
              <a:rPr/>
              <a:t>- Foundation for all composability features</a:t>
            </a:r>
            <a:endParaRPr/>
          </a:p>
          <a:p>
            <a:pPr algn="l">
              <a:defRPr/>
            </a:pPr>
            <a:r>
              <a:rPr/>
              <a:t>- User lock-in begins (conversation history)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Resources Required</a:t>
            </a:r>
            <a:endParaRPr/>
          </a:p>
          <a:p>
            <a:pPr algn="l">
              <a:defRPr/>
            </a:pPr>
            <a:r>
              <a:rPr/>
              <a:t>- 2–3 engineers (API integration specialists)</a:t>
            </a:r>
            <a:endParaRPr/>
          </a:p>
          <a:p>
            <a:pPr algn="l">
              <a:defRPr/>
            </a:pPr>
            <a:r>
              <a:rPr/>
              <a:t>- Provider API costs for testing: ~$2K/month</a:t>
            </a:r>
            <a:endParaRPr/>
          </a:p>
          <a:p>
            <a:pPr algn="l">
              <a:defRPr/>
            </a:pPr>
            <a:r>
              <a:rPr/>
              <a:t>- Legal review: 10 hours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Exit Criteria</a:t>
            </a:r>
            <a:endParaRPr/>
          </a:p>
          <a:p>
            <a:pPr algn="l">
              <a:defRPr/>
            </a:pPr>
            <a:r>
              <a:rPr/>
              <a:t>✅ User can add keys for 8+ providers</a:t>
            </a:r>
            <a:endParaRPr/>
          </a:p>
          <a:p>
            <a:pPr algn="l">
              <a:defRPr/>
            </a:pPr>
            <a:r>
              <a:rPr/>
              <a:t>✅ User can chat with any connected provider through unified UI</a:t>
            </a:r>
            <a:endParaRPr/>
          </a:p>
          <a:p>
            <a:pPr algn="l">
              <a:defRPr/>
            </a:pPr>
            <a:r>
              <a:rPr/>
              <a:t>✅ Model switching works mid-conversation</a:t>
            </a:r>
            <a:endParaRPr/>
          </a:p>
          <a:p>
            <a:pPr algn="l">
              <a:defRPr/>
            </a:pPr>
            <a:r>
              <a:rPr/>
              <a:t>✅ Streaming works for all providers</a:t>
            </a:r>
            <a:endParaRPr/>
          </a:p>
          <a:p>
            <a:pPr algn="l">
              <a:defRPr/>
            </a:pPr>
            <a:r>
              <a:rPr/>
              <a:t>✅ Usage/cost dashboard functional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 MILESTONE 3: ATOMIC CHAT UNITS™</a:t>
            </a:r>
            <a:endParaRPr/>
          </a:p>
          <a:p>
            <a:pPr algn="l">
              <a:defRPr/>
            </a:pPr>
            <a:r>
              <a:rPr/>
              <a:t>## "The Ownership Primitive"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Timeline: Months 3–5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Objective</a:t>
            </a:r>
            <a:endParaRPr/>
          </a:p>
          <a:p>
            <a:pPr algn="l">
              <a:defRPr/>
            </a:pPr>
            <a:r>
              <a:rPr/>
              <a:t>Define and implement the Atomic Chat Unit (ACU) — the fundamental primitive that makes every conversation fragment a discrete, owned, portable, composable, and potentially monetizable asset.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Key Deliverables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Deliverable | Description |</a:t>
            </a:r>
            <a:endParaRPr/>
          </a:p>
          <a:p>
            <a:pPr algn="l">
              <a:defRPr/>
            </a:pPr>
            <a:r>
              <a:rPr/>
              <a:t>|-------------|-------------|</a:t>
            </a:r>
            <a:endParaRPr/>
          </a:p>
          <a:p>
            <a:pPr algn="l">
              <a:defRPr/>
            </a:pPr>
            <a:r>
              <a:rPr/>
              <a:t>| **ACU Data Schema** | Canonical structure: content, metadata, ownership, permissions, provenance hash, timestamps, relationships |</a:t>
            </a:r>
            <a:endParaRPr/>
          </a:p>
          <a:p>
            <a:pPr algn="l">
              <a:defRPr/>
            </a:pPr>
            <a:r>
              <a:rPr/>
              <a:t>| **ACU Generation Pipeline** | Every message automatically wrapped as an ACU on creation |</a:t>
            </a:r>
            <a:endParaRPr/>
          </a:p>
          <a:p>
            <a:pPr algn="l">
              <a:defRPr/>
            </a:pPr>
            <a:r>
              <a:rPr/>
              <a:t>| **Ownership Model** | Clear user ownership with cryptographic proof of authorship |</a:t>
            </a:r>
            <a:endParaRPr/>
          </a:p>
          <a:p>
            <a:pPr algn="l">
              <a:defRPr/>
            </a:pPr>
            <a:r>
              <a:rPr/>
              <a:t>| **Provenance Hash** | SHA-256 or equivalent hash of content + metadata for verifiability |</a:t>
            </a:r>
            <a:endParaRPr/>
          </a:p>
          <a:p>
            <a:pPr algn="l">
              <a:defRPr/>
            </a:pPr>
            <a:r>
              <a:rPr/>
              <a:t>| **Permission System** | Granular flags: private / shared / training-eligible / public |</a:t>
            </a:r>
            <a:endParaRPr/>
          </a:p>
          <a:p>
            <a:pPr algn="l">
              <a:defRPr/>
            </a:pPr>
            <a:r>
              <a:rPr/>
              <a:t>| **ACU Relationships** | Parent/child threading, fork references, remix attribution |</a:t>
            </a:r>
            <a:endParaRPr/>
          </a:p>
          <a:p>
            <a:pPr algn="l">
              <a:defRPr/>
            </a:pPr>
            <a:r>
              <a:rPr/>
              <a:t>| **ACU Export** | User can export any ACU(s) in standard formats (JSON, Markdown, PDF) |</a:t>
            </a:r>
            <a:endParaRPr/>
          </a:p>
          <a:p>
            <a:pPr algn="l">
              <a:defRPr/>
            </a:pPr>
            <a:r>
              <a:rPr/>
              <a:t>| **ACU API** | Programmatic access to user's own ACUs (read, update permissions, export)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ACU Schema (Simplified)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```json</a:t>
            </a:r>
            <a:endParaRPr/>
          </a:p>
          <a:p>
            <a:pPr algn="l">
              <a:defRPr/>
            </a:pPr>
            <a:r>
              <a:rPr/>
              <a:t>{</a:t>
            </a:r>
            <a:endParaRPr/>
          </a:p>
          <a:p>
            <a:pPr algn="l">
              <a:defRPr/>
            </a:pPr>
            <a:r>
              <a:rPr/>
              <a:t>  "acu_id": "uuid",</a:t>
            </a:r>
            <a:endParaRPr/>
          </a:p>
          <a:p>
            <a:pPr algn="l">
              <a:defRPr/>
            </a:pPr>
            <a:r>
              <a:rPr/>
              <a:t>  "owner_id": "user_uuid",</a:t>
            </a:r>
            <a:endParaRPr/>
          </a:p>
          <a:p>
            <a:pPr algn="l">
              <a:defRPr/>
            </a:pPr>
            <a:r>
              <a:rPr/>
              <a:t>  "created_at": "ISO8601",</a:t>
            </a:r>
            <a:endParaRPr/>
          </a:p>
          <a:p>
            <a:pPr algn="l">
              <a:defRPr/>
            </a:pPr>
            <a:r>
              <a:rPr/>
              <a:t>  "content": {</a:t>
            </a:r>
            <a:endParaRPr/>
          </a:p>
          <a:p>
            <a:pPr algn="l">
              <a:defRPr/>
            </a:pPr>
            <a:r>
              <a:rPr/>
              <a:t>    "role": "user | assistant",</a:t>
            </a:r>
            <a:endParaRPr/>
          </a:p>
          <a:p>
            <a:pPr algn="l">
              <a:defRPr/>
            </a:pPr>
            <a:r>
              <a:rPr/>
              <a:t>    "text": "...",</a:t>
            </a:r>
            <a:endParaRPr/>
          </a:p>
          <a:p>
            <a:pPr algn="l">
              <a:defRPr/>
            </a:pPr>
            <a:r>
              <a:rPr/>
              <a:t>    "model": "gpt-4 | claude-3 | etc",</a:t>
            </a:r>
            <a:endParaRPr/>
          </a:p>
          <a:p>
            <a:pPr algn="l">
              <a:defRPr/>
            </a:pPr>
            <a:r>
              <a:rPr/>
              <a:t>    "tokens": 1234</a:t>
            </a:r>
            <a:endParaRPr/>
          </a:p>
          <a:p>
            <a:pPr algn="l">
              <a:defRPr/>
            </a:pPr>
            <a:r>
              <a:rPr/>
              <a:t>  },</a:t>
            </a:r>
            <a:endParaRPr/>
          </a:p>
          <a:p>
            <a:pPr algn="l">
              <a:defRPr/>
            </a:pPr>
            <a:r>
              <a:rPr/>
              <a:t>  "provenance": {</a:t>
            </a:r>
            <a:endParaRPr/>
          </a:p>
          <a:p>
            <a:pPr algn="l">
              <a:defRPr/>
            </a:pPr>
            <a:r>
              <a:rPr/>
              <a:t>    "hash": "sha256:...",</a:t>
            </a:r>
            <a:endParaRPr/>
          </a:p>
          <a:p>
            <a:pPr algn="l">
              <a:defRPr/>
            </a:pPr>
            <a:r>
              <a:rPr/>
              <a:t>    "parent_acu_id": "uuid | null",</a:t>
            </a:r>
            <a:endParaRPr/>
          </a:p>
          <a:p>
            <a:pPr algn="l">
              <a:defRPr/>
            </a:pPr>
            <a:r>
              <a:rPr/>
              <a:t>    "fork_source_id": "uuid | null",</a:t>
            </a:r>
            <a:endParaRPr/>
          </a:p>
          <a:p>
            <a:pPr algn="l">
              <a:defRPr/>
            </a:pPr>
            <a:r>
              <a:rPr/>
              <a:t>    "remix_attribution": ["user_uuid", ...]</a:t>
            </a:r>
            <a:endParaRPr/>
          </a:p>
          <a:p>
            <a:pPr algn="l">
              <a:defRPr/>
            </a:pPr>
            <a:r>
              <a:rPr/>
              <a:t>  },</a:t>
            </a:r>
            <a:endParaRPr/>
          </a:p>
          <a:p>
            <a:pPr algn="l">
              <a:defRPr/>
            </a:pPr>
            <a:r>
              <a:rPr/>
              <a:t>  "permissions": {</a:t>
            </a:r>
            <a:endParaRPr/>
          </a:p>
          <a:p>
            <a:pPr algn="l">
              <a:defRPr/>
            </a:pPr>
            <a:r>
              <a:rPr/>
              <a:t>    "visibility": "private | social | public",</a:t>
            </a:r>
            <a:endParaRPr/>
          </a:p>
          <a:p>
            <a:pPr algn="l">
              <a:defRPr/>
            </a:pPr>
            <a:r>
              <a:rPr/>
              <a:t>    "training_eligible": false,</a:t>
            </a:r>
            <a:endParaRPr/>
          </a:p>
          <a:p>
            <a:pPr algn="l">
              <a:defRPr/>
            </a:pPr>
            <a:r>
              <a:rPr/>
              <a:t>    "training_opted_in_at": null,</a:t>
            </a:r>
            <a:endParaRPr/>
          </a:p>
          <a:p>
            <a:pPr algn="l">
              <a:defRPr/>
            </a:pPr>
            <a:r>
              <a:rPr/>
              <a:t>    "revoked_at": null</a:t>
            </a:r>
            <a:endParaRPr/>
          </a:p>
          <a:p>
            <a:pPr algn="l">
              <a:defRPr/>
            </a:pPr>
            <a:r>
              <a:rPr/>
              <a:t>  },</a:t>
            </a:r>
            <a:endParaRPr/>
          </a:p>
          <a:p>
            <a:pPr algn="l">
              <a:defRPr/>
            </a:pPr>
            <a:r>
              <a:rPr/>
              <a:t>  "metadata": {</a:t>
            </a:r>
            <a:endParaRPr/>
          </a:p>
          <a:p>
            <a:pPr algn="l">
              <a:defRPr/>
            </a:pPr>
            <a:r>
              <a:rPr/>
              <a:t>    "tags": [],</a:t>
            </a:r>
            <a:endParaRPr/>
          </a:p>
          <a:p>
            <a:pPr algn="l">
              <a:defRPr/>
            </a:pPr>
            <a:r>
              <a:rPr/>
              <a:t>    "project_id": "uuid | null",</a:t>
            </a:r>
            <a:endParaRPr/>
          </a:p>
          <a:p>
            <a:pPr algn="l">
              <a:defRPr/>
            </a:pPr>
            <a:r>
              <a:rPr/>
              <a:t>    "context_snapshot_id": "uuid"</a:t>
            </a:r>
            <a:endParaRPr/>
          </a:p>
          <a:p>
            <a:pPr algn="l">
              <a:defRPr/>
            </a:pPr>
            <a:r>
              <a:rPr/>
              <a:t>  }</a:t>
            </a:r>
            <a:endParaRPr/>
          </a:p>
          <a:p>
            <a:pPr algn="l">
              <a:defRPr/>
            </a:pPr>
            <a:r>
              <a:rPr/>
              <a:t>}</a:t>
            </a:r>
            <a:endParaRPr/>
          </a:p>
          <a:p>
            <a:pPr algn="l">
              <a:defRPr/>
            </a:pPr>
            <a:r>
              <a:rPr/>
              <a:t>```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Success Metrics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Metric | Target |</a:t>
            </a:r>
            <a:endParaRPr/>
          </a:p>
          <a:p>
            <a:pPr algn="l">
              <a:defRPr/>
            </a:pPr>
            <a:r>
              <a:rPr/>
              <a:t>|--------|--------|</a:t>
            </a:r>
            <a:endParaRPr/>
          </a:p>
          <a:p>
            <a:pPr algn="l">
              <a:defRPr/>
            </a:pPr>
            <a:r>
              <a:rPr/>
              <a:t>| ACU creation latency | &lt;10ms overhead per message |</a:t>
            </a:r>
            <a:endParaRPr/>
          </a:p>
          <a:p>
            <a:pPr algn="l">
              <a:defRPr/>
            </a:pPr>
            <a:r>
              <a:rPr/>
              <a:t>| Export success rate | 100% |</a:t>
            </a:r>
            <a:endParaRPr/>
          </a:p>
          <a:p>
            <a:pPr algn="l">
              <a:defRPr/>
            </a:pPr>
            <a:r>
              <a:rPr/>
              <a:t>| Provenance hash collision | 0 (by design) |</a:t>
            </a:r>
            <a:endParaRPr/>
          </a:p>
          <a:p>
            <a:pPr algn="l">
              <a:defRPr/>
            </a:pPr>
            <a:r>
              <a:rPr/>
              <a:t>| Permission update latency | &lt;100ms |</a:t>
            </a:r>
            <a:endParaRPr/>
          </a:p>
          <a:p>
            <a:pPr algn="l">
              <a:defRPr/>
            </a:pPr>
            <a:r>
              <a:rPr/>
              <a:t>| API uptime | 99.9%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Dependencies</a:t>
            </a:r>
            <a:endParaRPr/>
          </a:p>
          <a:p>
            <a:pPr algn="l">
              <a:defRPr/>
            </a:pPr>
            <a:r>
              <a:rPr/>
              <a:t>- M2 complete (messages flowing through system)</a:t>
            </a:r>
            <a:endParaRPr/>
          </a:p>
          <a:p>
            <a:pPr algn="l">
              <a:defRPr/>
            </a:pPr>
            <a:r>
              <a:rPr/>
              <a:t>- Legal sign-off on ownership language</a:t>
            </a:r>
            <a:endParaRPr/>
          </a:p>
          <a:p>
            <a:pPr algn="l">
              <a:defRPr/>
            </a:pPr>
            <a:r>
              <a:rPr/>
              <a:t>- Decision on on-chain vs. off-chain provenance (can defer chain integration)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Risks &amp; Mitigations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Risk | Mitigation |</a:t>
            </a:r>
            <a:endParaRPr/>
          </a:p>
          <a:p>
            <a:pPr algn="l">
              <a:defRPr/>
            </a:pPr>
            <a:r>
              <a:rPr/>
              <a:t>|------|------------|</a:t>
            </a:r>
            <a:endParaRPr/>
          </a:p>
          <a:p>
            <a:pPr algn="l">
              <a:defRPr/>
            </a:pPr>
            <a:r>
              <a:rPr/>
              <a:t>| Schema changes later | Version schema from day 1; migration tooling |</a:t>
            </a:r>
            <a:endParaRPr/>
          </a:p>
          <a:p>
            <a:pPr algn="l">
              <a:defRPr/>
            </a:pPr>
            <a:r>
              <a:rPr/>
              <a:t>| Performance overhead | Async hashing; batch writes |</a:t>
            </a:r>
            <a:endParaRPr/>
          </a:p>
          <a:p>
            <a:pPr algn="l">
              <a:defRPr/>
            </a:pPr>
            <a:r>
              <a:rPr/>
              <a:t>| Legal ambiguity on ownership | Early legal review; conservative claims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Business Impact</a:t>
            </a:r>
            <a:endParaRPr/>
          </a:p>
          <a:p>
            <a:pPr algn="l">
              <a:defRPr/>
            </a:pPr>
            <a:r>
              <a:rPr/>
              <a:t>- Enables true data ownership claim (marketing + legal)</a:t>
            </a:r>
            <a:endParaRPr/>
          </a:p>
          <a:p>
            <a:pPr algn="l">
              <a:defRPr/>
            </a:pPr>
            <a:r>
              <a:rPr/>
              <a:t>- Foundation for consent/dividend system</a:t>
            </a:r>
            <a:endParaRPr/>
          </a:p>
          <a:p>
            <a:pPr algn="l">
              <a:defRPr/>
            </a:pPr>
            <a:r>
              <a:rPr/>
              <a:t>- Creates exportable, portable artifact (anti-lock-in positioning)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Resources Required</a:t>
            </a:r>
            <a:endParaRPr/>
          </a:p>
          <a:p>
            <a:pPr algn="l">
              <a:defRPr/>
            </a:pPr>
            <a:r>
              <a:rPr/>
              <a:t>- 2 engineers (data modeling, API)</a:t>
            </a:r>
            <a:endParaRPr/>
          </a:p>
          <a:p>
            <a:pPr algn="l">
              <a:defRPr/>
            </a:pPr>
            <a:r>
              <a:rPr/>
              <a:t>- Legal counsel: 15 hours</a:t>
            </a:r>
            <a:endParaRPr/>
          </a:p>
          <a:p>
            <a:pPr algn="l">
              <a:defRPr/>
            </a:pPr>
            <a:r>
              <a:rPr/>
              <a:t>- Technical writer for ACU documentation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Exit Criteria</a:t>
            </a:r>
            <a:endParaRPr/>
          </a:p>
          <a:p>
            <a:pPr algn="l">
              <a:defRPr/>
            </a:pPr>
            <a:r>
              <a:rPr/>
              <a:t>✅ Every message auto-generates an ACU with full schema</a:t>
            </a:r>
            <a:endParaRPr/>
          </a:p>
          <a:p>
            <a:pPr algn="l">
              <a:defRPr/>
            </a:pPr>
            <a:r>
              <a:rPr/>
              <a:t>✅ Users can view, search, and export their ACU library</a:t>
            </a:r>
            <a:endParaRPr/>
          </a:p>
          <a:p>
            <a:pPr algn="l">
              <a:defRPr/>
            </a:pPr>
            <a:r>
              <a:rPr/>
              <a:t>✅ Permission system functional (private by default)</a:t>
            </a:r>
            <a:endParaRPr/>
          </a:p>
          <a:p>
            <a:pPr algn="l">
              <a:defRPr/>
            </a:pPr>
            <a:r>
              <a:rPr/>
              <a:t>✅ Provenance hashes verifiable</a:t>
            </a:r>
            <a:endParaRPr/>
          </a:p>
          <a:p>
            <a:pPr algn="l">
              <a:defRPr/>
            </a:pPr>
            <a:r>
              <a:rPr/>
              <a:t>✅ API documented and functional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 MILESTONE 4: SOVEREIGN STORAGE LAYER</a:t>
            </a:r>
            <a:endParaRPr/>
          </a:p>
          <a:p>
            <a:pPr algn="l">
              <a:defRPr/>
            </a:pPr>
            <a:r>
              <a:rPr/>
              <a:t>## "Your Data, Your Control"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Timeline: Months 4–6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Objective</a:t>
            </a:r>
            <a:endParaRPr/>
          </a:p>
          <a:p>
            <a:pPr algn="l">
              <a:defRPr/>
            </a:pPr>
            <a:r>
              <a:rPr/>
              <a:t>Implement the encrypted, user-controlled storage layer that guarantees data sovereignty — ensuring users truly own their data with options for self-custody, portability, and deletion.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Key Deliverables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Deliverable | Description |</a:t>
            </a:r>
            <a:endParaRPr/>
          </a:p>
          <a:p>
            <a:pPr algn="l">
              <a:defRPr/>
            </a:pPr>
            <a:r>
              <a:rPr/>
              <a:t>|-------------|-------------|</a:t>
            </a:r>
            <a:endParaRPr/>
          </a:p>
          <a:p>
            <a:pPr algn="l">
              <a:defRPr/>
            </a:pPr>
            <a:r>
              <a:rPr/>
              <a:t>| **Encrypted Storage** | AES-256 encryption at rest for all user content |</a:t>
            </a:r>
            <a:endParaRPr/>
          </a:p>
          <a:p>
            <a:pPr algn="l">
              <a:defRPr/>
            </a:pPr>
            <a:r>
              <a:rPr/>
              <a:t>| **User-Controlled Encryption Keys** | Optional user-managed keys (advanced users); default: platform-managed with user-revocable access |</a:t>
            </a:r>
            <a:endParaRPr/>
          </a:p>
          <a:p>
            <a:pPr algn="l">
              <a:defRPr/>
            </a:pPr>
            <a:r>
              <a:rPr/>
              <a:t>| **Full Data Export** | One-click export of all user data (conversations, ACUs, settings, context) in portable formats |</a:t>
            </a:r>
            <a:endParaRPr/>
          </a:p>
          <a:p>
            <a:pPr algn="l">
              <a:defRPr/>
            </a:pPr>
            <a:r>
              <a:rPr/>
              <a:t>| **Data Deletion** | Hard delete with cryptographic verification; GDPR/CCPA compliant |</a:t>
            </a:r>
            <a:endParaRPr/>
          </a:p>
          <a:p>
            <a:pPr algn="l">
              <a:defRPr/>
            </a:pPr>
            <a:r>
              <a:rPr/>
              <a:t>| **Storage Dashboard** | User-facing view of storage usage, data locations, encryption status |</a:t>
            </a:r>
            <a:endParaRPr/>
          </a:p>
          <a:p>
            <a:pPr algn="l">
              <a:defRPr/>
            </a:pPr>
            <a:r>
              <a:rPr/>
              <a:t>| **Backup &amp; Recovery** | User-initiated backup; recovery flow for lost access |</a:t>
            </a:r>
            <a:endParaRPr/>
          </a:p>
          <a:p>
            <a:pPr algn="l">
              <a:defRPr/>
            </a:pPr>
            <a:r>
              <a:rPr/>
              <a:t>| **Retention Policies** | User-configurable auto-delete rules (optional) |</a:t>
            </a:r>
            <a:endParaRPr/>
          </a:p>
          <a:p>
            <a:pPr algn="l">
              <a:defRPr/>
            </a:pPr>
            <a:r>
              <a:rPr/>
              <a:t>| **Audit Log** | User-visible log of all data access (who, when, what)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Success Metrics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Metric | Target |</a:t>
            </a:r>
            <a:endParaRPr/>
          </a:p>
          <a:p>
            <a:pPr algn="l">
              <a:defRPr/>
            </a:pPr>
            <a:r>
              <a:rPr/>
              <a:t>|--------|--------|</a:t>
            </a:r>
            <a:endParaRPr/>
          </a:p>
          <a:p>
            <a:pPr algn="l">
              <a:defRPr/>
            </a:pPr>
            <a:r>
              <a:rPr/>
              <a:t>| Encryption coverage | 100% of user content |</a:t>
            </a:r>
            <a:endParaRPr/>
          </a:p>
          <a:p>
            <a:pPr algn="l">
              <a:defRPr/>
            </a:pPr>
            <a:r>
              <a:rPr/>
              <a:t>| Export completion rate | 100% |</a:t>
            </a:r>
            <a:endParaRPr/>
          </a:p>
          <a:p>
            <a:pPr algn="l">
              <a:defRPr/>
            </a:pPr>
            <a:r>
              <a:rPr/>
              <a:t>| Deletion verification | Cryptographic proof provided |</a:t>
            </a:r>
            <a:endParaRPr/>
          </a:p>
          <a:p>
            <a:pPr algn="l">
              <a:defRPr/>
            </a:pPr>
            <a:r>
              <a:rPr/>
              <a:t>| GDPR deletion request time | &lt;72 hours |</a:t>
            </a:r>
            <a:endParaRPr/>
          </a:p>
          <a:p>
            <a:pPr algn="l">
              <a:defRPr/>
            </a:pPr>
            <a:r>
              <a:rPr/>
              <a:t>| Data breach incidents | 0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Dependencies</a:t>
            </a:r>
            <a:endParaRPr/>
          </a:p>
          <a:p>
            <a:pPr algn="l">
              <a:defRPr/>
            </a:pPr>
            <a:r>
              <a:rPr/>
              <a:t>- M3 complete (ACU schema and storage)</a:t>
            </a:r>
            <a:endParaRPr/>
          </a:p>
          <a:p>
            <a:pPr algn="l">
              <a:defRPr/>
            </a:pPr>
            <a:r>
              <a:rPr/>
              <a:t>- Compliance/legal review (GDPR, CCPA, SOC 2 prep)</a:t>
            </a:r>
            <a:endParaRPr/>
          </a:p>
          <a:p>
            <a:pPr algn="l">
              <a:defRPr/>
            </a:pPr>
            <a:r>
              <a:rPr/>
              <a:t>- Key management infrastructure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Risks &amp; Mitigations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Risk | Mitigation |</a:t>
            </a:r>
            <a:endParaRPr/>
          </a:p>
          <a:p>
            <a:pPr algn="l">
              <a:defRPr/>
            </a:pPr>
            <a:r>
              <a:rPr/>
              <a:t>|------|------------|</a:t>
            </a:r>
            <a:endParaRPr/>
          </a:p>
          <a:p>
            <a:pPr algn="l">
              <a:defRPr/>
            </a:pPr>
            <a:r>
              <a:rPr/>
              <a:t>| Key loss (user-managed) | Clear warnings; recovery options; default to platform-managed |</a:t>
            </a:r>
            <a:endParaRPr/>
          </a:p>
          <a:p>
            <a:pPr algn="l">
              <a:defRPr/>
            </a:pPr>
            <a:r>
              <a:rPr/>
              <a:t>| Compliance gaps | External compliance audit at milestone end |</a:t>
            </a:r>
            <a:endParaRPr/>
          </a:p>
          <a:p>
            <a:pPr algn="l">
              <a:defRPr/>
            </a:pPr>
            <a:r>
              <a:rPr/>
              <a:t>| Performance impact of encryption | Hardware acceleration; efficient key caching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Business Impact</a:t>
            </a:r>
            <a:endParaRPr/>
          </a:p>
          <a:p>
            <a:pPr algn="l">
              <a:defRPr/>
            </a:pPr>
            <a:r>
              <a:rPr/>
              <a:t>- Core trust differentiator ("we can't read your data even if we wanted to")</a:t>
            </a:r>
            <a:endParaRPr/>
          </a:p>
          <a:p>
            <a:pPr algn="l">
              <a:defRPr/>
            </a:pPr>
            <a:r>
              <a:rPr/>
              <a:t>- Enterprise readiness signal</a:t>
            </a:r>
            <a:endParaRPr/>
          </a:p>
          <a:p>
            <a:pPr algn="l">
              <a:defRPr/>
            </a:pPr>
            <a:r>
              <a:rPr/>
              <a:t>- Regulatory compliance foundation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Resources Required</a:t>
            </a:r>
            <a:endParaRPr/>
          </a:p>
          <a:p>
            <a:pPr algn="l">
              <a:defRPr/>
            </a:pPr>
            <a:r>
              <a:rPr/>
              <a:t>- 2 engineers (security, infrastructure)</a:t>
            </a:r>
            <a:endParaRPr/>
          </a:p>
          <a:p>
            <a:pPr algn="l">
              <a:defRPr/>
            </a:pPr>
            <a:r>
              <a:rPr/>
              <a:t>- Compliance consultant: 30 hours</a:t>
            </a:r>
            <a:endParaRPr/>
          </a:p>
          <a:p>
            <a:pPr algn="l">
              <a:defRPr/>
            </a:pPr>
            <a:r>
              <a:rPr/>
              <a:t>- Legal review: 10 hours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Exit Criteria</a:t>
            </a:r>
            <a:endParaRPr/>
          </a:p>
          <a:p>
            <a:pPr algn="l">
              <a:defRPr/>
            </a:pPr>
            <a:r>
              <a:rPr/>
              <a:t>✅ All user data encrypted at rest with user-revocable access</a:t>
            </a:r>
            <a:endParaRPr/>
          </a:p>
          <a:p>
            <a:pPr algn="l">
              <a:defRPr/>
            </a:pPr>
            <a:r>
              <a:rPr/>
              <a:t>✅ Full export functional and tested</a:t>
            </a:r>
            <a:endParaRPr/>
          </a:p>
          <a:p>
            <a:pPr algn="l">
              <a:defRPr/>
            </a:pPr>
            <a:r>
              <a:rPr/>
              <a:t>✅ Hard delete with verification working</a:t>
            </a:r>
            <a:endParaRPr/>
          </a:p>
          <a:p>
            <a:pPr algn="l">
              <a:defRPr/>
            </a:pPr>
            <a:r>
              <a:rPr/>
              <a:t>✅ Audit log visible to users</a:t>
            </a:r>
            <a:endParaRPr/>
          </a:p>
          <a:p>
            <a:pPr algn="l">
              <a:defRPr/>
            </a:pPr>
            <a:r>
              <a:rPr/>
              <a:t>✅ Initial compliance audit passed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 MILESTONE 5: COMPOSE ENGINE</a:t>
            </a:r>
            <a:endParaRPr/>
          </a:p>
          <a:p>
            <a:pPr algn="l">
              <a:defRPr/>
            </a:pPr>
            <a:r>
              <a:rPr/>
              <a:t>## "Fork, Mux, Remux"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Timeline: Months 5–7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Objective</a:t>
            </a:r>
            <a:endParaRPr/>
          </a:p>
          <a:p>
            <a:pPr algn="l">
              <a:defRPr/>
            </a:pPr>
            <a:r>
              <a:rPr/>
              <a:t>Build the composability engine that allows users to fork, branch, merge, splice, and remix conversations and ACUs across models and projects — turning static chat logs into dynamic, modular building blocks.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Key Deliverables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Deliverable | Description |</a:t>
            </a:r>
            <a:endParaRPr/>
          </a:p>
          <a:p>
            <a:pPr algn="l">
              <a:defRPr/>
            </a:pPr>
            <a:r>
              <a:rPr/>
              <a:t>|-------------|-------------|</a:t>
            </a:r>
            <a:endParaRPr/>
          </a:p>
          <a:p>
            <a:pPr algn="l">
              <a:defRPr/>
            </a:pPr>
            <a:r>
              <a:rPr/>
              <a:t>| **Fork** | Create a new conversation branch from any point in an existing thread |</a:t>
            </a:r>
            <a:endParaRPr/>
          </a:p>
          <a:p>
            <a:pPr algn="l">
              <a:defRPr/>
            </a:pPr>
            <a:r>
              <a:rPr/>
              <a:t>| **Mux** | Combine selected segments from multiple conversations into a new composite thread |</a:t>
            </a:r>
            <a:endParaRPr/>
          </a:p>
          <a:p>
            <a:pPr algn="l">
              <a:defRPr/>
            </a:pPr>
            <a:r>
              <a:rPr/>
              <a:t>| **Remux** | Restructure and reorder ACUs to create new prompts, documents, or conversation flows |</a:t>
            </a:r>
            <a:endParaRPr/>
          </a:p>
          <a:p>
            <a:pPr algn="l">
              <a:defRPr/>
            </a:pPr>
            <a:r>
              <a:rPr/>
              <a:t>| **Cross-Model Forking** | Fork a Claude conversation and continue it with GPT (or any other provider) |</a:t>
            </a:r>
            <a:endParaRPr/>
          </a:p>
          <a:p>
            <a:pPr algn="l">
              <a:defRPr/>
            </a:pPr>
            <a:r>
              <a:rPr/>
              <a:t>| **Visual Thread Editor** | Drag-and-drop interface for composing and rearranging ACUs |</a:t>
            </a:r>
            <a:endParaRPr/>
          </a:p>
          <a:p>
            <a:pPr algn="l">
              <a:defRPr/>
            </a:pPr>
            <a:r>
              <a:rPr/>
              <a:t>| **Version History** | Non-destructive editing; full history of all forks and compositions |</a:t>
            </a:r>
            <a:endParaRPr/>
          </a:p>
          <a:p>
            <a:pPr algn="l">
              <a:defRPr/>
            </a:pPr>
            <a:r>
              <a:rPr/>
              <a:t>| **Attribution Preservation** | All remix operations maintain provenance chain |</a:t>
            </a:r>
            <a:endParaRPr/>
          </a:p>
          <a:p>
            <a:pPr algn="l">
              <a:defRPr/>
            </a:pPr>
            <a:r>
              <a:rPr/>
              <a:t>| **Template Save** | Save composed structures as reusable templates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User Flow Example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```</a:t>
            </a:r>
            <a:endParaRPr/>
          </a:p>
          <a:p>
            <a:pPr algn="l">
              <a:defRPr/>
            </a:pPr>
            <a:r>
              <a:rPr/>
              <a:t>Original Claude conversation (ACUs 1–5)</a:t>
            </a:r>
            <a:endParaRPr/>
          </a:p>
          <a:p>
            <a:pPr algn="l">
              <a:defRPr/>
            </a:pPr>
            <a:r>
              <a:rPr/>
              <a:t>        │</a:t>
            </a:r>
            <a:endParaRPr/>
          </a:p>
          <a:p>
            <a:pPr algn="l">
              <a:defRPr/>
            </a:pPr>
            <a:r>
              <a:rPr/>
              <a:t>        ├──→ Fork at ACU 3 → Continue with GPT (new branch)</a:t>
            </a:r>
            <a:endParaRPr/>
          </a:p>
          <a:p>
            <a:pPr algn="l">
              <a:defRPr/>
            </a:pPr>
            <a:r>
              <a:rPr/>
              <a:t>        │</a:t>
            </a:r>
            <a:endParaRPr/>
          </a:p>
          <a:p>
            <a:pPr algn="l">
              <a:defRPr/>
            </a:pPr>
            <a:r>
              <a:rPr/>
              <a:t>        ├──→ Mux: ACU 2 + ACU from different convo → New composite</a:t>
            </a:r>
            <a:endParaRPr/>
          </a:p>
          <a:p>
            <a:pPr algn="l">
              <a:defRPr/>
            </a:pPr>
            <a:r>
              <a:rPr/>
              <a:t>        │</a:t>
            </a:r>
            <a:endParaRPr/>
          </a:p>
          <a:p>
            <a:pPr algn="l">
              <a:defRPr/>
            </a:pPr>
            <a:r>
              <a:rPr/>
              <a:t>        └──→ Remux: Reorder ACUs 1,3,5 → Export as document</a:t>
            </a:r>
            <a:endParaRPr/>
          </a:p>
          <a:p>
            <a:pPr algn="l">
              <a:defRPr/>
            </a:pPr>
            <a:r>
              <a:rPr/>
              <a:t>```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Success Metrics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Metric | Target |</a:t>
            </a:r>
            <a:endParaRPr/>
          </a:p>
          <a:p>
            <a:pPr algn="l">
              <a:defRPr/>
            </a:pPr>
            <a:r>
              <a:rPr/>
              <a:t>|--------|--------|</a:t>
            </a:r>
            <a:endParaRPr/>
          </a:p>
          <a:p>
            <a:pPr algn="l">
              <a:defRPr/>
            </a:pPr>
            <a:r>
              <a:rPr/>
              <a:t>| Fork creation time | &lt;2 seconds |</a:t>
            </a:r>
            <a:endParaRPr/>
          </a:p>
          <a:p>
            <a:pPr algn="l">
              <a:defRPr/>
            </a:pPr>
            <a:r>
              <a:rPr/>
              <a:t>| Cross-model fork success | &gt;99% |</a:t>
            </a:r>
            <a:endParaRPr/>
          </a:p>
          <a:p>
            <a:pPr algn="l">
              <a:defRPr/>
            </a:pPr>
            <a:r>
              <a:rPr/>
              <a:t>| Mux/remux operations per active user | Track growth week-over-week |</a:t>
            </a:r>
            <a:endParaRPr/>
          </a:p>
          <a:p>
            <a:pPr algn="l">
              <a:defRPr/>
            </a:pPr>
            <a:r>
              <a:rPr/>
              <a:t>| Attribution chain integrity | 100% (no orphaned provenance) |</a:t>
            </a:r>
            <a:endParaRPr/>
          </a:p>
          <a:p>
            <a:pPr algn="l">
              <a:defRPr/>
            </a:pPr>
            <a:r>
              <a:rPr/>
              <a:t>| User satisfaction (compose features) | &gt;4.2/5 in survey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Dependencies</a:t>
            </a:r>
            <a:endParaRPr/>
          </a:p>
          <a:p>
            <a:pPr algn="l">
              <a:defRPr/>
            </a:pPr>
            <a:r>
              <a:rPr/>
              <a:t>- M3 complete (ACU system)</a:t>
            </a:r>
            <a:endParaRPr/>
          </a:p>
          <a:p>
            <a:pPr algn="l">
              <a:defRPr/>
            </a:pPr>
            <a:r>
              <a:rPr/>
              <a:t>- M2 complete (multi-provider support)</a:t>
            </a:r>
            <a:endParaRPr/>
          </a:p>
          <a:p>
            <a:pPr algn="l">
              <a:defRPr/>
            </a:pPr>
            <a:r>
              <a:rPr/>
              <a:t>- UI/UX design for visual editor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Risks &amp; Mitigations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Risk | Mitigation |</a:t>
            </a:r>
            <a:endParaRPr/>
          </a:p>
          <a:p>
            <a:pPr algn="l">
              <a:defRPr/>
            </a:pPr>
            <a:r>
              <a:rPr/>
              <a:t>|------|------------|</a:t>
            </a:r>
            <a:endParaRPr/>
          </a:p>
          <a:p>
            <a:pPr algn="l">
              <a:defRPr/>
            </a:pPr>
            <a:r>
              <a:rPr/>
              <a:t>| UI complexity | Progressive disclosure; start with simple fork, unlock advanced |</a:t>
            </a:r>
            <a:endParaRPr/>
          </a:p>
          <a:p>
            <a:pPr algn="l">
              <a:defRPr/>
            </a:pPr>
            <a:r>
              <a:rPr/>
              <a:t>| Context loss on cross-model fork | Auto-inject context summary at fork point |</a:t>
            </a:r>
            <a:endParaRPr/>
          </a:p>
          <a:p>
            <a:pPr algn="l">
              <a:defRPr/>
            </a:pPr>
            <a:r>
              <a:rPr/>
              <a:t>| Attribution complexity | Strict provenance chain; never allow orphans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Business Impact</a:t>
            </a:r>
            <a:endParaRPr/>
          </a:p>
          <a:p>
            <a:pPr algn="l">
              <a:defRPr/>
            </a:pPr>
            <a:r>
              <a:rPr/>
              <a:t>- Primary UX differentiator vs. all competitors</a:t>
            </a:r>
            <a:endParaRPr/>
          </a:p>
          <a:p>
            <a:pPr algn="l">
              <a:defRPr/>
            </a:pPr>
            <a:r>
              <a:rPr/>
              <a:t>- Creates "workflow lock-in" — users build valuable compositions</a:t>
            </a:r>
            <a:endParaRPr/>
          </a:p>
          <a:p>
            <a:pPr algn="l">
              <a:defRPr/>
            </a:pPr>
            <a:r>
              <a:rPr/>
              <a:t>- Enables social remixing foundation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Resources Required</a:t>
            </a:r>
            <a:endParaRPr/>
          </a:p>
          <a:p>
            <a:pPr algn="l">
              <a:defRPr/>
            </a:pPr>
            <a:r>
              <a:rPr/>
              <a:t>- 2 backend engineers</a:t>
            </a:r>
            <a:endParaRPr/>
          </a:p>
          <a:p>
            <a:pPr algn="l">
              <a:defRPr/>
            </a:pPr>
            <a:r>
              <a:rPr/>
              <a:t>- 1 frontend engineer (visual editor)</a:t>
            </a:r>
            <a:endParaRPr/>
          </a:p>
          <a:p>
            <a:pPr algn="l">
              <a:defRPr/>
            </a:pPr>
            <a:r>
              <a:rPr/>
              <a:t>- UX designer: 40 hours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Exit Criteria</a:t>
            </a:r>
            <a:endParaRPr/>
          </a:p>
          <a:p>
            <a:pPr algn="l">
              <a:defRPr/>
            </a:pPr>
            <a:r>
              <a:rPr/>
              <a:t>✅ Fork works within and across providers</a:t>
            </a:r>
            <a:endParaRPr/>
          </a:p>
          <a:p>
            <a:pPr algn="l">
              <a:defRPr/>
            </a:pPr>
            <a:r>
              <a:rPr/>
              <a:t>✅ Mux combines ACUs from multiple conversations</a:t>
            </a:r>
            <a:endParaRPr/>
          </a:p>
          <a:p>
            <a:pPr algn="l">
              <a:defRPr/>
            </a:pPr>
            <a:r>
              <a:rPr/>
              <a:t>✅ Remux reorders/restructures ACUs</a:t>
            </a:r>
            <a:endParaRPr/>
          </a:p>
          <a:p>
            <a:pPr algn="l">
              <a:defRPr/>
            </a:pPr>
            <a:r>
              <a:rPr/>
              <a:t>✅ Visual editor functional</a:t>
            </a:r>
            <a:endParaRPr/>
          </a:p>
          <a:p>
            <a:pPr algn="l">
              <a:defRPr/>
            </a:pPr>
            <a:r>
              <a:rPr/>
              <a:t>✅ Attribution chain 100% preserved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 MILESTONE 6: CONTEXT ENGINE</a:t>
            </a:r>
            <a:endParaRPr/>
          </a:p>
          <a:p>
            <a:pPr algn="l">
              <a:defRPr/>
            </a:pPr>
            <a:r>
              <a:rPr/>
              <a:t>## "The Second Brain"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Timeline: Months 6–9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Objective</a:t>
            </a:r>
            <a:endParaRPr/>
          </a:p>
          <a:p>
            <a:pPr algn="l">
              <a:defRPr/>
            </a:pPr>
            <a:r>
              <a:rPr/>
              <a:t>Build the dynamic context engine that transforms stored conversations into working memory — automatically surfacing relevant history, preferences, entities, and project context to enhance every interaction.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Key Deliverables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Deliverable | Description |</a:t>
            </a:r>
            <a:endParaRPr/>
          </a:p>
          <a:p>
            <a:pPr algn="l">
              <a:defRPr/>
            </a:pPr>
            <a:r>
              <a:rPr/>
              <a:t>|-------------|-------------|</a:t>
            </a:r>
            <a:endParaRPr/>
          </a:p>
          <a:p>
            <a:pPr algn="l">
              <a:defRPr/>
            </a:pPr>
            <a:r>
              <a:rPr/>
              <a:t>| **Vector Embedding Pipeline** | Embed all ACUs for semantic search and retrieval |</a:t>
            </a:r>
            <a:endParaRPr/>
          </a:p>
          <a:p>
            <a:pPr algn="l">
              <a:defRPr/>
            </a:pPr>
            <a:r>
              <a:rPr/>
              <a:t>| **Context Retrieval System** | RAG-style retrieval of relevant ACUs based on current conversation |</a:t>
            </a:r>
            <a:endParaRPr/>
          </a:p>
          <a:p>
            <a:pPr algn="l">
              <a:defRPr/>
            </a:pPr>
            <a:r>
              <a:rPr/>
              <a:t>| **Entity Extraction** | Automatically identify people, projects, topics, dates across conversations |</a:t>
            </a:r>
            <a:endParaRPr/>
          </a:p>
          <a:p>
            <a:pPr algn="l">
              <a:defRPr/>
            </a:pPr>
            <a:r>
              <a:rPr/>
              <a:t>| **Entity Graph** | Relationship mapping between extracted entities |</a:t>
            </a:r>
            <a:endParaRPr/>
          </a:p>
          <a:p>
            <a:pPr algn="l">
              <a:defRPr/>
            </a:pPr>
            <a:r>
              <a:rPr/>
              <a:t>| **User Preference Learning** | Infer and store preferences (communication style, domains, recurring needs) |</a:t>
            </a:r>
            <a:endParaRPr/>
          </a:p>
          <a:p>
            <a:pPr algn="l">
              <a:defRPr/>
            </a:pPr>
            <a:r>
              <a:rPr/>
              <a:t>| **Context Injection** | Auto-inject relevant context into prompts (user-configurable verbosity) |</a:t>
            </a:r>
            <a:endParaRPr/>
          </a:p>
          <a:p>
            <a:pPr algn="l">
              <a:defRPr/>
            </a:pPr>
            <a:r>
              <a:rPr/>
              <a:t>| **Project Workspaces** | Group conversations by project with project-specific context |</a:t>
            </a:r>
            <a:endParaRPr/>
          </a:p>
          <a:p>
            <a:pPr algn="l">
              <a:defRPr/>
            </a:pPr>
            <a:r>
              <a:rPr/>
              <a:t>| **Temporal Awareness** | Understand deadlines, recency, time-based relevance |</a:t>
            </a:r>
            <a:endParaRPr/>
          </a:p>
          <a:p>
            <a:pPr algn="l">
              <a:defRPr/>
            </a:pPr>
            <a:r>
              <a:rPr/>
              <a:t>| **Context Dashboard** | User-visible representation of "what VIVIM knows about you"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Context Injection Example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```</a:t>
            </a:r>
            <a:endParaRPr/>
          </a:p>
          <a:p>
            <a:pPr algn="l">
              <a:defRPr/>
            </a:pPr>
            <a:r>
              <a:rPr/>
              <a:t>User prompt: "Help me draft the investor update"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VIVIM auto-injects:</a:t>
            </a:r>
            <a:endParaRPr/>
          </a:p>
          <a:p>
            <a:pPr algn="l">
              <a:defRPr/>
            </a:pPr>
            <a:r>
              <a:rPr/>
              <a:t>- Last 3 investor updates (content + structure)</a:t>
            </a:r>
            <a:endParaRPr/>
          </a:p>
          <a:p>
            <a:pPr algn="l">
              <a:defRPr/>
            </a:pPr>
            <a:r>
              <a:rPr/>
              <a:t>- Recent conversations about metrics, roadmap, challenges</a:t>
            </a:r>
            <a:endParaRPr/>
          </a:p>
          <a:p>
            <a:pPr algn="l">
              <a:defRPr/>
            </a:pPr>
            <a:r>
              <a:rPr/>
              <a:t>- Investor names and preferences from entity graph</a:t>
            </a:r>
            <a:endParaRPr/>
          </a:p>
          <a:p>
            <a:pPr algn="l">
              <a:defRPr/>
            </a:pPr>
            <a:r>
              <a:rPr/>
              <a:t>- Deadline from calendar integration (future)</a:t>
            </a:r>
            <a:endParaRPr/>
          </a:p>
          <a:p>
            <a:pPr algn="l">
              <a:defRPr/>
            </a:pPr>
            <a:r>
              <a:rPr/>
              <a:t>```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Success Metrics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Metric | Target |</a:t>
            </a:r>
            <a:endParaRPr/>
          </a:p>
          <a:p>
            <a:pPr algn="l">
              <a:defRPr/>
            </a:pPr>
            <a:r>
              <a:rPr/>
              <a:t>|--------|--------|</a:t>
            </a:r>
            <a:endParaRPr/>
          </a:p>
          <a:p>
            <a:pPr algn="l">
              <a:defRPr/>
            </a:pPr>
            <a:r>
              <a:rPr/>
              <a:t>| Context retrieval latency | &lt;500ms |</a:t>
            </a:r>
            <a:endParaRPr/>
          </a:p>
          <a:p>
            <a:pPr algn="l">
              <a:defRPr/>
            </a:pPr>
            <a:r>
              <a:rPr/>
              <a:t>| Retrieval relevance (user rating) | &gt;4.0/5 |</a:t>
            </a:r>
            <a:endParaRPr/>
          </a:p>
          <a:p>
            <a:pPr algn="l">
              <a:defRPr/>
            </a:pPr>
            <a:r>
              <a:rPr/>
              <a:t>| Entity extraction accuracy | &gt;90% |</a:t>
            </a:r>
            <a:endParaRPr/>
          </a:p>
          <a:p>
            <a:pPr algn="l">
              <a:defRPr/>
            </a:pPr>
            <a:r>
              <a:rPr/>
              <a:t>| User engagement with context features | &gt;40% of active users |</a:t>
            </a:r>
            <a:endParaRPr/>
          </a:p>
          <a:p>
            <a:pPr algn="l">
              <a:defRPr/>
            </a:pPr>
            <a:r>
              <a:rPr/>
              <a:t>| Prompt length reduction (user-reported) | 30–50%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Dependencies</a:t>
            </a:r>
            <a:endParaRPr/>
          </a:p>
          <a:p>
            <a:pPr algn="l">
              <a:defRPr/>
            </a:pPr>
            <a:r>
              <a:rPr/>
              <a:t>- M3 + M4 complete (ACUs stored and accessible)</a:t>
            </a:r>
            <a:endParaRPr/>
          </a:p>
          <a:p>
            <a:pPr algn="l">
              <a:defRPr/>
            </a:pPr>
            <a:r>
              <a:rPr/>
              <a:t>- Vector database (Pinecone, Weaviate, or pgvector)</a:t>
            </a:r>
            <a:endParaRPr/>
          </a:p>
          <a:p>
            <a:pPr algn="l">
              <a:defRPr/>
            </a:pPr>
            <a:r>
              <a:rPr/>
              <a:t>- Embedding model selection (OpenAI, Cohere, or open-source)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Risks &amp; Mitigations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Risk | Mitigation |</a:t>
            </a:r>
            <a:endParaRPr/>
          </a:p>
          <a:p>
            <a:pPr algn="l">
              <a:defRPr/>
            </a:pPr>
            <a:r>
              <a:rPr/>
              <a:t>|------|------------|</a:t>
            </a:r>
            <a:endParaRPr/>
          </a:p>
          <a:p>
            <a:pPr algn="l">
              <a:defRPr/>
            </a:pPr>
            <a:r>
              <a:rPr/>
              <a:t>| Retrieval quality | Continuous eval loop; user feedback; hybrid search |</a:t>
            </a:r>
            <a:endParaRPr/>
          </a:p>
          <a:p>
            <a:pPr algn="l">
              <a:defRPr/>
            </a:pPr>
            <a:r>
              <a:rPr/>
              <a:t>| Cost of embeddings | Batch processing; caching; efficient models |</a:t>
            </a:r>
            <a:endParaRPr/>
          </a:p>
          <a:p>
            <a:pPr algn="l">
              <a:defRPr/>
            </a:pPr>
            <a:r>
              <a:rPr/>
              <a:t>| Context overload | User controls for verbosity; smart truncation |</a:t>
            </a:r>
            <a:endParaRPr/>
          </a:p>
          <a:p>
            <a:pPr algn="l">
              <a:defRPr/>
            </a:pPr>
            <a:r>
              <a:rPr/>
              <a:t>| Privacy concerns | Clear UI showing what's injected; user override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Business Impact</a:t>
            </a:r>
            <a:endParaRPr/>
          </a:p>
          <a:p>
            <a:pPr algn="l">
              <a:defRPr/>
            </a:pPr>
            <a:r>
              <a:rPr/>
              <a:t>- Massive UX improvement (the "magic" moment)</a:t>
            </a:r>
            <a:endParaRPr/>
          </a:p>
          <a:p>
            <a:pPr algn="l">
              <a:defRPr/>
            </a:pPr>
            <a:r>
              <a:rPr/>
              <a:t>- Strongest retention driver ("it knows me")</a:t>
            </a:r>
            <a:endParaRPr/>
          </a:p>
          <a:p>
            <a:pPr algn="l">
              <a:defRPr/>
            </a:pPr>
            <a:r>
              <a:rPr/>
              <a:t>- Deep switching cost (your context graph is non-portable)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Resources Required</a:t>
            </a:r>
            <a:endParaRPr/>
          </a:p>
          <a:p>
            <a:pPr algn="l">
              <a:defRPr/>
            </a:pPr>
            <a:r>
              <a:rPr/>
              <a:t>- 2–3 ML engineers</a:t>
            </a:r>
            <a:endParaRPr/>
          </a:p>
          <a:p>
            <a:pPr algn="l">
              <a:defRPr/>
            </a:pPr>
            <a:r>
              <a:rPr/>
              <a:t>- 1 backend engineer</a:t>
            </a:r>
            <a:endParaRPr/>
          </a:p>
          <a:p>
            <a:pPr algn="l">
              <a:defRPr/>
            </a:pPr>
            <a:r>
              <a:rPr/>
              <a:t>- Vector DB costs: ~$1K/month initially</a:t>
            </a:r>
            <a:endParaRPr/>
          </a:p>
          <a:p>
            <a:pPr algn="l">
              <a:defRPr/>
            </a:pPr>
            <a:r>
              <a:rPr/>
              <a:t>- Embedding costs: ~$2K/month initially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Exit Criteria</a:t>
            </a:r>
            <a:endParaRPr/>
          </a:p>
          <a:p>
            <a:pPr algn="l">
              <a:defRPr/>
            </a:pPr>
            <a:r>
              <a:rPr/>
              <a:t>✅ All ACUs embedded and searchable</a:t>
            </a:r>
            <a:endParaRPr/>
          </a:p>
          <a:p>
            <a:pPr algn="l">
              <a:defRPr/>
            </a:pPr>
            <a:r>
              <a:rPr/>
              <a:t>✅ Context auto-retrieved for new conversations</a:t>
            </a:r>
            <a:endParaRPr/>
          </a:p>
          <a:p>
            <a:pPr algn="l">
              <a:defRPr/>
            </a:pPr>
            <a:r>
              <a:rPr/>
              <a:t>✅ Entities extracted and graphed</a:t>
            </a:r>
            <a:endParaRPr/>
          </a:p>
          <a:p>
            <a:pPr algn="l">
              <a:defRPr/>
            </a:pPr>
            <a:r>
              <a:rPr/>
              <a:t>✅ User can view/edit their context profile</a:t>
            </a:r>
            <a:endParaRPr/>
          </a:p>
          <a:p>
            <a:pPr algn="l">
              <a:defRPr/>
            </a:pPr>
            <a:r>
              <a:rPr/>
              <a:t>✅ Measurable improvement in output quality (user survey)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 MILESTONE 7: SOCIAL LAYER</a:t>
            </a:r>
            <a:endParaRPr/>
          </a:p>
          <a:p>
            <a:pPr algn="l">
              <a:defRPr/>
            </a:pPr>
            <a:r>
              <a:rPr/>
              <a:t>## "Instagram for AI Conversations"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Timeline: Months 8–11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Objective</a:t>
            </a:r>
            <a:endParaRPr/>
          </a:p>
          <a:p>
            <a:pPr algn="l">
              <a:defRPr/>
            </a:pPr>
            <a:r>
              <a:rPr/>
              <a:t>Build the social network layer that transforms VIVIM from a personal tool into a platform — enabling users to share, discover, follow, and remix AI conversations and reasoning chains.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Key Deliverables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Deliverable | Description |</a:t>
            </a:r>
            <a:endParaRPr/>
          </a:p>
          <a:p>
            <a:pPr algn="l">
              <a:defRPr/>
            </a:pPr>
            <a:r>
              <a:rPr/>
              <a:t>|-------------|-------------|</a:t>
            </a:r>
            <a:endParaRPr/>
          </a:p>
          <a:p>
            <a:pPr algn="l">
              <a:defRPr/>
            </a:pPr>
            <a:r>
              <a:rPr/>
              <a:t>| **User Profiles** | Public profile with bio, avatar, shared content, follower/following counts |</a:t>
            </a:r>
            <a:endParaRPr/>
          </a:p>
          <a:p>
            <a:pPr algn="l">
              <a:defRPr/>
            </a:pPr>
            <a:r>
              <a:rPr/>
              <a:t>| **Publish Flow** | Select ACUs or threads → set visibility → publish to feed |</a:t>
            </a:r>
            <a:endParaRPr/>
          </a:p>
          <a:p>
            <a:pPr algn="l">
              <a:defRPr/>
            </a:pPr>
            <a:r>
              <a:rPr/>
              <a:t>| **Feed** | Personalized feed of content from followed users + discovery |</a:t>
            </a:r>
            <a:endParaRPr/>
          </a:p>
          <a:p>
            <a:pPr algn="l">
              <a:defRPr/>
            </a:pPr>
            <a:r>
              <a:rPr/>
              <a:t>| **Follow System** | Follow users; see their public shares in your feed |</a:t>
            </a:r>
            <a:endParaRPr/>
          </a:p>
          <a:p>
            <a:pPr algn="l">
              <a:defRPr/>
            </a:pPr>
            <a:r>
              <a:rPr/>
              <a:t>| **Remix / Fork** | Fork any public thread into your own workspace (attribution preserved) |</a:t>
            </a:r>
            <a:endParaRPr/>
          </a:p>
          <a:p>
            <a:pPr algn="l">
              <a:defRPr/>
            </a:pPr>
            <a:r>
              <a:rPr/>
              <a:t>| **Reactions &amp; Comments** | Lightweight engagement (likes, bookmarks, comments) |</a:t>
            </a:r>
            <a:endParaRPr/>
          </a:p>
          <a:p>
            <a:pPr algn="l">
              <a:defRPr/>
            </a:pPr>
            <a:r>
              <a:rPr/>
              <a:t>| **Discovery** | Trending, curated collections, topic-based browsing, search |</a:t>
            </a:r>
            <a:endParaRPr/>
          </a:p>
          <a:p>
            <a:pPr algn="l">
              <a:defRPr/>
            </a:pPr>
            <a:r>
              <a:rPr/>
              <a:t>| **Attribution Display** | Clear provenance on remixed content ("forked from @user") |</a:t>
            </a:r>
            <a:endParaRPr/>
          </a:p>
          <a:p>
            <a:pPr algn="l">
              <a:defRPr/>
            </a:pPr>
            <a:r>
              <a:rPr/>
              <a:t>| **Privacy Controls** | Granular: private / followers-only / public per-share |</a:t>
            </a:r>
            <a:endParaRPr/>
          </a:p>
          <a:p>
            <a:pPr algn="l">
              <a:defRPr/>
            </a:pPr>
            <a:r>
              <a:rPr/>
              <a:t>| **Notifications** | New followers, remixes of your content, engagement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Success Metrics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Metric | Target |</a:t>
            </a:r>
            <a:endParaRPr/>
          </a:p>
          <a:p>
            <a:pPr algn="l">
              <a:defRPr/>
            </a:pPr>
            <a:r>
              <a:rPr/>
              <a:t>|--------|--------|</a:t>
            </a:r>
            <a:endParaRPr/>
          </a:p>
          <a:p>
            <a:pPr algn="l">
              <a:defRPr/>
            </a:pPr>
            <a:r>
              <a:rPr/>
              <a:t>| % of users who publish ≥1 share | &gt;15% (month 1) → &gt;30% (month 6) |</a:t>
            </a:r>
            <a:endParaRPr/>
          </a:p>
          <a:p>
            <a:pPr algn="l">
              <a:defRPr/>
            </a:pPr>
            <a:r>
              <a:rPr/>
              <a:t>| % of users who follow ≥1 person | &gt;40% |</a:t>
            </a:r>
            <a:endParaRPr/>
          </a:p>
          <a:p>
            <a:pPr algn="l">
              <a:defRPr/>
            </a:pPr>
            <a:r>
              <a:rPr/>
              <a:t>| Avg. shares per publishing user | &gt;5/month |</a:t>
            </a:r>
            <a:endParaRPr/>
          </a:p>
          <a:p>
            <a:pPr algn="l">
              <a:defRPr/>
            </a:pPr>
            <a:r>
              <a:rPr/>
              <a:t>| Remix rate (forks of public content) | &gt;10% of shares get forked |</a:t>
            </a:r>
            <a:endParaRPr/>
          </a:p>
          <a:p>
            <a:pPr algn="l">
              <a:defRPr/>
            </a:pPr>
            <a:r>
              <a:rPr/>
              <a:t>| Feed engagement (scrolls, clicks) | &gt;3 min avg. session on feed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Dependencies</a:t>
            </a:r>
            <a:endParaRPr/>
          </a:p>
          <a:p>
            <a:pPr algn="l">
              <a:defRPr/>
            </a:pPr>
            <a:r>
              <a:rPr/>
              <a:t>- M5 complete (compose engine for remixing)</a:t>
            </a:r>
            <a:endParaRPr/>
          </a:p>
          <a:p>
            <a:pPr algn="l">
              <a:defRPr/>
            </a:pPr>
            <a:r>
              <a:rPr/>
              <a:t>- M3 complete (ACU permissions system)</a:t>
            </a:r>
            <a:endParaRPr/>
          </a:p>
          <a:p>
            <a:pPr algn="l">
              <a:defRPr/>
            </a:pPr>
            <a:r>
              <a:rPr/>
              <a:t>- Content moderation strategy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Risks &amp; Mitigations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Risk | Mitigation |</a:t>
            </a:r>
            <a:endParaRPr/>
          </a:p>
          <a:p>
            <a:pPr algn="l">
              <a:defRPr/>
            </a:pPr>
            <a:r>
              <a:rPr/>
              <a:t>|------|------------|</a:t>
            </a:r>
            <a:endParaRPr/>
          </a:p>
          <a:p>
            <a:pPr algn="l">
              <a:defRPr/>
            </a:pPr>
            <a:r>
              <a:rPr/>
              <a:t>| Low initial content | Seed with curated power users; team shares; invite-only beta |</a:t>
            </a:r>
            <a:endParaRPr/>
          </a:p>
          <a:p>
            <a:pPr algn="l">
              <a:defRPr/>
            </a:pPr>
            <a:r>
              <a:rPr/>
              <a:t>| Spam/abuse | Moderation system; rate limits; report flow |</a:t>
            </a:r>
            <a:endParaRPr/>
          </a:p>
          <a:p>
            <a:pPr algn="l">
              <a:defRPr/>
            </a:pPr>
            <a:r>
              <a:rPr/>
              <a:t>| IP/copyright issues on remixes | Clear attribution; ToS; DMCA process |</a:t>
            </a:r>
            <a:endParaRPr/>
          </a:p>
          <a:p>
            <a:pPr algn="l">
              <a:defRPr/>
            </a:pPr>
            <a:r>
              <a:rPr/>
              <a:t>| Feed algorithm complexity | Start chronological; add ranking later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Business Impact</a:t>
            </a:r>
            <a:endParaRPr/>
          </a:p>
          <a:p>
            <a:pPr algn="l">
              <a:defRPr/>
            </a:pPr>
            <a:r>
              <a:rPr/>
              <a:t>- Network effects → viral growth potential</a:t>
            </a:r>
            <a:endParaRPr/>
          </a:p>
          <a:p>
            <a:pPr algn="l">
              <a:defRPr/>
            </a:pPr>
            <a:r>
              <a:rPr/>
              <a:t>- Content library → platform value compounds</a:t>
            </a:r>
            <a:endParaRPr/>
          </a:p>
          <a:p>
            <a:pPr algn="l">
              <a:defRPr/>
            </a:pPr>
            <a:r>
              <a:rPr/>
              <a:t>- Creator audience-building → creator loyalty</a:t>
            </a:r>
            <a:endParaRPr/>
          </a:p>
          <a:p>
            <a:pPr algn="l">
              <a:defRPr/>
            </a:pPr>
            <a:r>
              <a:rPr/>
              <a:t>- Distribution for dividend flywheel (more shares → more opt-in → more training data)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Resources Required</a:t>
            </a:r>
            <a:endParaRPr/>
          </a:p>
          <a:p>
            <a:pPr algn="l">
              <a:defRPr/>
            </a:pPr>
            <a:r>
              <a:rPr/>
              <a:t>- 2 backend engineers</a:t>
            </a:r>
            <a:endParaRPr/>
          </a:p>
          <a:p>
            <a:pPr algn="l">
              <a:defRPr/>
            </a:pPr>
            <a:r>
              <a:rPr/>
              <a:t>- 2 frontend engineers</a:t>
            </a:r>
            <a:endParaRPr/>
          </a:p>
          <a:p>
            <a:pPr algn="l">
              <a:defRPr/>
            </a:pPr>
            <a:r>
              <a:rPr/>
              <a:t>- 1 community/moderation hire</a:t>
            </a:r>
            <a:endParaRPr/>
          </a:p>
          <a:p>
            <a:pPr algn="l">
              <a:defRPr/>
            </a:pPr>
            <a:r>
              <a:rPr/>
              <a:t>- Content moderation tooling: ~$1K/month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Exit Criteria</a:t>
            </a:r>
            <a:endParaRPr/>
          </a:p>
          <a:p>
            <a:pPr algn="l">
              <a:defRPr/>
            </a:pPr>
            <a:r>
              <a:rPr/>
              <a:t>✅ Users can publish, follow, and remix</a:t>
            </a:r>
            <a:endParaRPr/>
          </a:p>
          <a:p>
            <a:pPr algn="l">
              <a:defRPr/>
            </a:pPr>
            <a:r>
              <a:rPr/>
              <a:t>✅ Feed functional with discovery</a:t>
            </a:r>
            <a:endParaRPr/>
          </a:p>
          <a:p>
            <a:pPr algn="l">
              <a:defRPr/>
            </a:pPr>
            <a:r>
              <a:rPr/>
              <a:t>✅ Attribution 100% preserved on remixes</a:t>
            </a:r>
            <a:endParaRPr/>
          </a:p>
          <a:p>
            <a:pPr algn="l">
              <a:defRPr/>
            </a:pPr>
            <a:r>
              <a:rPr/>
              <a:t>✅ Moderation system operational</a:t>
            </a:r>
            <a:endParaRPr/>
          </a:p>
          <a:p>
            <a:pPr algn="l">
              <a:defRPr/>
            </a:pPr>
            <a:r>
              <a:rPr/>
              <a:t>✅ 1,000+ public shares in first month post-launch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 MILESTONE 8: CONSENT &amp; CONTRIBUTION SYSTEM</a:t>
            </a:r>
            <a:endParaRPr/>
          </a:p>
          <a:p>
            <a:pPr algn="l">
              <a:defRPr/>
            </a:pPr>
            <a:r>
              <a:rPr/>
              <a:t>## "Opt-In, Granular, Revocable"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Timeline: Months 10–12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Objective</a:t>
            </a:r>
            <a:endParaRPr/>
          </a:p>
          <a:p>
            <a:pPr algn="l">
              <a:defRPr/>
            </a:pPr>
            <a:r>
              <a:rPr/>
              <a:t>Build the consent infrastructure that enables users to opt specific ACUs into the training pool — with full granularity, transparency, auditability, and revocability — forming the foundation for the Data Dividend Protocol.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Key Deliverables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Deliverable | Description |</a:t>
            </a:r>
            <a:endParaRPr/>
          </a:p>
          <a:p>
            <a:pPr algn="l">
              <a:defRPr/>
            </a:pPr>
            <a:r>
              <a:rPr/>
              <a:t>|-------------|-------------|</a:t>
            </a:r>
            <a:endParaRPr/>
          </a:p>
          <a:p>
            <a:pPr algn="l">
              <a:defRPr/>
            </a:pPr>
            <a:r>
              <a:rPr/>
              <a:t>| **Opt-In Flow** | Simple UI to mark ACUs as training-eligible (per-ACU, per-thread, or bulk) |</a:t>
            </a:r>
            <a:endParaRPr/>
          </a:p>
          <a:p>
            <a:pPr algn="l">
              <a:defRPr/>
            </a:pPr>
            <a:r>
              <a:rPr/>
              <a:t>| **Consent States** | Clear state machine: private → training-eligible → opted-in → revoked |</a:t>
            </a:r>
            <a:endParaRPr/>
          </a:p>
          <a:p>
            <a:pPr algn="l">
              <a:defRPr/>
            </a:pPr>
            <a:r>
              <a:rPr/>
              <a:t>| **PII Detection** | Automated scanning for sensitive data (names, emails, addresses, etc.) |</a:t>
            </a:r>
            <a:endParaRPr/>
          </a:p>
          <a:p>
            <a:pPr algn="l">
              <a:defRPr/>
            </a:pPr>
            <a:r>
              <a:rPr/>
              <a:t>| **Anonymization Pipeline** | Strip/redact identified PII before training eligibility |</a:t>
            </a:r>
            <a:endParaRPr/>
          </a:p>
          <a:p>
            <a:pPr algn="l">
              <a:defRPr/>
            </a:pPr>
            <a:r>
              <a:rPr/>
              <a:t>| **User Review Step** | Pre-submission review showing exactly what will be shared |</a:t>
            </a:r>
            <a:endParaRPr/>
          </a:p>
          <a:p>
            <a:pPr algn="l">
              <a:defRPr/>
            </a:pPr>
            <a:r>
              <a:rPr/>
              <a:t>| **Consent Ledger** | Immutable log of all consent actions (timestamps, ACU IDs, user actions) |</a:t>
            </a:r>
            <a:endParaRPr/>
          </a:p>
          <a:p>
            <a:pPr algn="l">
              <a:defRPr/>
            </a:pPr>
            <a:r>
              <a:rPr/>
              <a:t>| **Revocation Flow** | User can revoke any ACU at any time; removed from future training |</a:t>
            </a:r>
            <a:endParaRPr/>
          </a:p>
          <a:p>
            <a:pPr algn="l">
              <a:defRPr/>
            </a:pPr>
            <a:r>
              <a:rPr/>
              <a:t>| **Contribution Dashboard** | User sees: what's opted-in, what's been used, running share estimate |</a:t>
            </a:r>
            <a:endParaRPr/>
          </a:p>
          <a:p>
            <a:pPr algn="l">
              <a:defRPr/>
            </a:pPr>
            <a:r>
              <a:rPr/>
              <a:t>| **Terms &amp; Policies** | Clear legal language on data contribution, rights, dividend eligibility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Consent State Machine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```</a:t>
            </a:r>
            <a:endParaRPr/>
          </a:p>
          <a:p>
            <a:pPr algn="l">
              <a:defRPr/>
            </a:pPr>
            <a:r>
              <a:rPr/>
              <a:t>                         ┌──────────────┐</a:t>
            </a:r>
            <a:endParaRPr/>
          </a:p>
          <a:p>
            <a:pPr algn="l">
              <a:defRPr/>
            </a:pPr>
            <a:r>
              <a:rPr/>
              <a:t>                         │   PRIVATE    │ (default)</a:t>
            </a:r>
            <a:endParaRPr/>
          </a:p>
          <a:p>
            <a:pPr algn="l">
              <a:defRPr/>
            </a:pPr>
            <a:r>
              <a:rPr/>
              <a:t>                         └──────┬───────┘</a:t>
            </a:r>
            <a:endParaRPr/>
          </a:p>
          <a:p>
            <a:pPr algn="l">
              <a:defRPr/>
            </a:pPr>
            <a:r>
              <a:rPr/>
              <a:t>                                │ user opts in</a:t>
            </a:r>
            <a:endParaRPr/>
          </a:p>
          <a:p>
            <a:pPr algn="l">
              <a:defRPr/>
            </a:pPr>
            <a:r>
              <a:rPr/>
              <a:t>                                ▼</a:t>
            </a:r>
            <a:endParaRPr/>
          </a:p>
          <a:p>
            <a:pPr algn="l">
              <a:defRPr/>
            </a:pPr>
            <a:r>
              <a:rPr/>
              <a:t>                    ┌───────────────────────┐</a:t>
            </a:r>
            <a:endParaRPr/>
          </a:p>
          <a:p>
            <a:pPr algn="l">
              <a:defRPr/>
            </a:pPr>
            <a:r>
              <a:rPr/>
              <a:t>                    │  TRAINING-ELIGIBLE    │</a:t>
            </a:r>
            <a:endParaRPr/>
          </a:p>
          <a:p>
            <a:pPr algn="l">
              <a:defRPr/>
            </a:pPr>
            <a:r>
              <a:rPr/>
              <a:t>                    │  (PII scan + review)  │</a:t>
            </a:r>
            <a:endParaRPr/>
          </a:p>
          <a:p>
            <a:pPr algn="l">
              <a:defRPr/>
            </a:pPr>
            <a:r>
              <a:rPr/>
              <a:t>                    └───────────┬───────────┘</a:t>
            </a:r>
            <a:endParaRPr/>
          </a:p>
          <a:p>
            <a:pPr algn="l">
              <a:defRPr/>
            </a:pPr>
            <a:r>
              <a:rPr/>
              <a:t>                                │ user confirms</a:t>
            </a:r>
            <a:endParaRPr/>
          </a:p>
          <a:p>
            <a:pPr algn="l">
              <a:defRPr/>
            </a:pPr>
            <a:r>
              <a:rPr/>
              <a:t>                                ▼</a:t>
            </a:r>
            <a:endParaRPr/>
          </a:p>
          <a:p>
            <a:pPr algn="l">
              <a:defRPr/>
            </a:pPr>
            <a:r>
              <a:rPr/>
              <a:t>                       ┌─────────────────┐</a:t>
            </a:r>
            <a:endParaRPr/>
          </a:p>
          <a:p>
            <a:pPr algn="l">
              <a:defRPr/>
            </a:pPr>
            <a:r>
              <a:rPr/>
              <a:t>                       │   OPTED-IN      │</a:t>
            </a:r>
            <a:endParaRPr/>
          </a:p>
          <a:p>
            <a:pPr algn="l">
              <a:defRPr/>
            </a:pPr>
            <a:r>
              <a:rPr/>
              <a:t>                       │ (in training pool)</a:t>
            </a:r>
            <a:endParaRPr/>
          </a:p>
          <a:p>
            <a:pPr algn="l">
              <a:defRPr/>
            </a:pPr>
            <a:r>
              <a:rPr/>
              <a:t>                       └────────┬────────┘</a:t>
            </a:r>
            <a:endParaRPr/>
          </a:p>
          <a:p>
            <a:pPr algn="l">
              <a:defRPr/>
            </a:pPr>
            <a:r>
              <a:rPr/>
              <a:t>                                │ user revokes</a:t>
            </a:r>
            <a:endParaRPr/>
          </a:p>
          <a:p>
            <a:pPr algn="l">
              <a:defRPr/>
            </a:pPr>
            <a:r>
              <a:rPr/>
              <a:t>                                ▼</a:t>
            </a:r>
            <a:endParaRPr/>
          </a:p>
          <a:p>
            <a:pPr algn="l">
              <a:defRPr/>
            </a:pPr>
            <a:r>
              <a:rPr/>
              <a:t>                        ┌──────────────┐</a:t>
            </a:r>
            <a:endParaRPr/>
          </a:p>
          <a:p>
            <a:pPr algn="l">
              <a:defRPr/>
            </a:pPr>
            <a:r>
              <a:rPr/>
              <a:t>                        │   REVOKED    │</a:t>
            </a:r>
            <a:endParaRPr/>
          </a:p>
          <a:p>
            <a:pPr algn="l">
              <a:defRPr/>
            </a:pPr>
            <a:r>
              <a:rPr/>
              <a:t>                        │ (removed from │</a:t>
            </a:r>
            <a:endParaRPr/>
          </a:p>
          <a:p>
            <a:pPr algn="l">
              <a:defRPr/>
            </a:pPr>
            <a:r>
              <a:rPr/>
              <a:t>                        │ future training)</a:t>
            </a:r>
            <a:endParaRPr/>
          </a:p>
          <a:p>
            <a:pPr algn="l">
              <a:defRPr/>
            </a:pPr>
            <a:r>
              <a:rPr/>
              <a:t>                        └──────────────┘</a:t>
            </a:r>
            <a:endParaRPr/>
          </a:p>
          <a:p>
            <a:pPr algn="l">
              <a:defRPr/>
            </a:pPr>
            <a:r>
              <a:rPr/>
              <a:t>```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Success Metrics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Metric | Target |</a:t>
            </a:r>
            <a:endParaRPr/>
          </a:p>
          <a:p>
            <a:pPr algn="l">
              <a:defRPr/>
            </a:pPr>
            <a:r>
              <a:rPr/>
              <a:t>|--------|--------|</a:t>
            </a:r>
            <a:endParaRPr/>
          </a:p>
          <a:p>
            <a:pPr algn="l">
              <a:defRPr/>
            </a:pPr>
            <a:r>
              <a:rPr/>
              <a:t>| Opt-in rate (of active users) | 30–50% |</a:t>
            </a:r>
            <a:endParaRPr/>
          </a:p>
          <a:p>
            <a:pPr algn="l">
              <a:defRPr/>
            </a:pPr>
            <a:r>
              <a:rPr/>
              <a:t>| Avg. ACUs opted-in per contributor | &gt;50 |</a:t>
            </a:r>
            <a:endParaRPr/>
          </a:p>
          <a:p>
            <a:pPr algn="l">
              <a:defRPr/>
            </a:pPr>
            <a:r>
              <a:rPr/>
              <a:t>| PII detection accuracy | &gt;95% recall |</a:t>
            </a:r>
            <a:endParaRPr/>
          </a:p>
          <a:p>
            <a:pPr algn="l">
              <a:defRPr/>
            </a:pPr>
            <a:r>
              <a:rPr/>
              <a:t>| False positive rate (PII) | &lt;10% |</a:t>
            </a:r>
            <a:endParaRPr/>
          </a:p>
          <a:p>
            <a:pPr algn="l">
              <a:defRPr/>
            </a:pPr>
            <a:r>
              <a:rPr/>
              <a:t>| Revocation request processing | &lt;24 hours |</a:t>
            </a:r>
            <a:endParaRPr/>
          </a:p>
          <a:p>
            <a:pPr algn="l">
              <a:defRPr/>
            </a:pPr>
            <a:r>
              <a:rPr/>
              <a:t>| Consent ledger integrity | 100% auditable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Dependencies</a:t>
            </a:r>
            <a:endParaRPr/>
          </a:p>
          <a:p>
            <a:pPr algn="l">
              <a:defRPr/>
            </a:pPr>
            <a:r>
              <a:rPr/>
              <a:t>- M3 complete (ACU system with permissions)</a:t>
            </a:r>
            <a:endParaRPr/>
          </a:p>
          <a:p>
            <a:pPr algn="l">
              <a:defRPr/>
            </a:pPr>
            <a:r>
              <a:rPr/>
              <a:t>- M4 complete (secure storage)</a:t>
            </a:r>
            <a:endParaRPr/>
          </a:p>
          <a:p>
            <a:pPr algn="l">
              <a:defRPr/>
            </a:pPr>
            <a:r>
              <a:rPr/>
              <a:t>- Legal review of consent language and dividend terms</a:t>
            </a:r>
            <a:endParaRPr/>
          </a:p>
          <a:p>
            <a:pPr algn="l">
              <a:defRPr/>
            </a:pPr>
            <a:r>
              <a:rPr/>
              <a:t>- PII detection model (off-the-shelf or fine-tuned)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Risks &amp; Mitigations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Risk | Mitigation |</a:t>
            </a:r>
            <a:endParaRPr/>
          </a:p>
          <a:p>
            <a:pPr algn="l">
              <a:defRPr/>
            </a:pPr>
            <a:r>
              <a:rPr/>
              <a:t>|------|------------|</a:t>
            </a:r>
            <a:endParaRPr/>
          </a:p>
          <a:p>
            <a:pPr algn="l">
              <a:defRPr/>
            </a:pPr>
            <a:r>
              <a:rPr/>
              <a:t>| Low opt-in rate | Clear value prop (dividends); social proof; easy UX |</a:t>
            </a:r>
            <a:endParaRPr/>
          </a:p>
          <a:p>
            <a:pPr algn="l">
              <a:defRPr/>
            </a:pPr>
            <a:r>
              <a:rPr/>
              <a:t>| PII leakage | Conservative detection; human review for edge cases |</a:t>
            </a:r>
            <a:endParaRPr/>
          </a:p>
          <a:p>
            <a:pPr algn="l">
              <a:defRPr/>
            </a:pPr>
            <a:r>
              <a:rPr/>
              <a:t>| Legal challenges | External legal review; conservative consent language |</a:t>
            </a:r>
            <a:endParaRPr/>
          </a:p>
          <a:p>
            <a:pPr algn="l">
              <a:defRPr/>
            </a:pPr>
            <a:r>
              <a:rPr/>
              <a:t>| Gaming/spam contributions | Quality scoring (see M9); low-value = low dividend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Business Impact</a:t>
            </a:r>
            <a:endParaRPr/>
          </a:p>
          <a:p>
            <a:pPr algn="l">
              <a:defRPr/>
            </a:pPr>
            <a:r>
              <a:rPr/>
              <a:t>- Unlocks the entire business model (no contributions = no revenue)</a:t>
            </a:r>
            <a:endParaRPr/>
          </a:p>
          <a:p>
            <a:pPr algn="l">
              <a:defRPr/>
            </a:pPr>
            <a:r>
              <a:rPr/>
              <a:t>- Trust differentiator ("we built consent right")</a:t>
            </a:r>
            <a:endParaRPr/>
          </a:p>
          <a:p>
            <a:pPr algn="l">
              <a:defRPr/>
            </a:pPr>
            <a:r>
              <a:rPr/>
              <a:t>- Regulatory advantage (GDPR/CCPA/AI Act compliant by design)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Resources Required</a:t>
            </a:r>
            <a:endParaRPr/>
          </a:p>
          <a:p>
            <a:pPr algn="l">
              <a:defRPr/>
            </a:pPr>
            <a:r>
              <a:rPr/>
              <a:t>- 2 backend engineers</a:t>
            </a:r>
            <a:endParaRPr/>
          </a:p>
          <a:p>
            <a:pPr algn="l">
              <a:defRPr/>
            </a:pPr>
            <a:r>
              <a:rPr/>
              <a:t>- 1 ML engineer (PII detection)</a:t>
            </a:r>
            <a:endParaRPr/>
          </a:p>
          <a:p>
            <a:pPr algn="l">
              <a:defRPr/>
            </a:pPr>
            <a:r>
              <a:rPr/>
              <a:t>- Legal counsel: 40 hours</a:t>
            </a:r>
            <a:endParaRPr/>
          </a:p>
          <a:p>
            <a:pPr algn="l">
              <a:defRPr/>
            </a:pPr>
            <a:r>
              <a:rPr/>
              <a:t>- Compliance consultant: 20 hours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Exit Criteria</a:t>
            </a:r>
            <a:endParaRPr/>
          </a:p>
          <a:p>
            <a:pPr algn="l">
              <a:defRPr/>
            </a:pPr>
            <a:r>
              <a:rPr/>
              <a:t>✅ Opt-in flow functional with PII detection</a:t>
            </a:r>
            <a:endParaRPr/>
          </a:p>
          <a:p>
            <a:pPr algn="l">
              <a:defRPr/>
            </a:pPr>
            <a:r>
              <a:rPr/>
              <a:t>✅ User review step mandatory before confirmation</a:t>
            </a:r>
            <a:endParaRPr/>
          </a:p>
          <a:p>
            <a:pPr algn="l">
              <a:defRPr/>
            </a:pPr>
            <a:r>
              <a:rPr/>
              <a:t>✅ Consent ledger immutable and auditable</a:t>
            </a:r>
            <a:endParaRPr/>
          </a:p>
          <a:p>
            <a:pPr algn="l">
              <a:defRPr/>
            </a:pPr>
            <a:r>
              <a:rPr/>
              <a:t>✅ Revocation working within 24 hours</a:t>
            </a:r>
            <a:endParaRPr/>
          </a:p>
          <a:p>
            <a:pPr algn="l">
              <a:defRPr/>
            </a:pPr>
            <a:r>
              <a:rPr/>
              <a:t>✅ Legal review complete; terms published</a:t>
            </a:r>
            <a:endParaRPr/>
          </a:p>
          <a:p>
            <a:pPr algn="l">
              <a:defRPr/>
            </a:pPr>
            <a:r>
              <a:rPr/>
              <a:t>✅ First 10,000 ACUs opted-in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 MILESTONE 9: MODEL TRAINING PIPELINE</a:t>
            </a:r>
            <a:endParaRPr/>
          </a:p>
          <a:p>
            <a:pPr algn="l">
              <a:defRPr/>
            </a:pPr>
            <a:r>
              <a:rPr/>
              <a:t>## "From Data to Revenue"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Timeline: Months 11–14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Objective</a:t>
            </a:r>
            <a:endParaRPr/>
          </a:p>
          <a:p>
            <a:pPr algn="l">
              <a:defRPr/>
            </a:pPr>
            <a:r>
              <a:rPr/>
              <a:t>Build the end-to-end pipeline that transforms opted-in, anonymized ACU data into fine-tuned proprietary models — and establishes the licensing infrastructure to generate revenue from those models.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Key Deliverables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Deliverable | Description |</a:t>
            </a:r>
            <a:endParaRPr/>
          </a:p>
          <a:p>
            <a:pPr algn="l">
              <a:defRPr/>
            </a:pPr>
            <a:r>
              <a:rPr/>
              <a:t>|-------------|-------------|</a:t>
            </a:r>
            <a:endParaRPr/>
          </a:p>
          <a:p>
            <a:pPr algn="l">
              <a:defRPr/>
            </a:pPr>
            <a:r>
              <a:rPr/>
              <a:t>| **Training Data Pipeline** | Extract, transform, and load opted-in ACUs into training-ready format |</a:t>
            </a:r>
            <a:endParaRPr/>
          </a:p>
          <a:p>
            <a:pPr algn="l">
              <a:defRPr/>
            </a:pPr>
            <a:r>
              <a:rPr/>
              <a:t>| **Quality Scoring** | Score each ACU for training value (uniqueness, depth, domain signal, coherence) |</a:t>
            </a:r>
            <a:endParaRPr/>
          </a:p>
          <a:p>
            <a:pPr algn="l">
              <a:defRPr/>
            </a:pPr>
            <a:r>
              <a:rPr/>
              <a:t>| **Training Infrastructure** | Compute setup for fine-tuning (cloud GPUs, training orchestration) |</a:t>
            </a:r>
            <a:endParaRPr/>
          </a:p>
          <a:p>
            <a:pPr algn="l">
              <a:defRPr/>
            </a:pPr>
            <a:r>
              <a:rPr/>
              <a:t>| **Base Model Selection** | Choose base model(s) for fine-tuning (Llama, Mistral, etc.) |</a:t>
            </a:r>
            <a:endParaRPr/>
          </a:p>
          <a:p>
            <a:pPr algn="l">
              <a:defRPr/>
            </a:pPr>
            <a:r>
              <a:rPr/>
              <a:t>| **Fine-Tuning Pipeline** | Automated training runs with eval, checkpointing, versioning |</a:t>
            </a:r>
            <a:endParaRPr/>
          </a:p>
          <a:p>
            <a:pPr algn="l">
              <a:defRPr/>
            </a:pPr>
            <a:r>
              <a:rPr/>
              <a:t>| **Evaluation Framework** | Benchmarks to measure model improvement from VIVIM data |</a:t>
            </a:r>
            <a:endParaRPr/>
          </a:p>
          <a:p>
            <a:pPr algn="l">
              <a:defRPr/>
            </a:pPr>
            <a:r>
              <a:rPr/>
              <a:t>| **Model Registry** | Version control and deployment management for trained models |</a:t>
            </a:r>
            <a:endParaRPr/>
          </a:p>
          <a:p>
            <a:pPr algn="l">
              <a:defRPr/>
            </a:pPr>
            <a:r>
              <a:rPr/>
              <a:t>| **Licensing Infrastructure** | API access management, usage tracking, billing for enterprise/developer customers |</a:t>
            </a:r>
            <a:endParaRPr/>
          </a:p>
          <a:p>
            <a:pPr algn="l">
              <a:defRPr/>
            </a:pPr>
            <a:r>
              <a:rPr/>
              <a:t>| **First Model Release** | Ship v0.1 of VIVIM-trained model (internal + limited external beta)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Training Data Quality Scoring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Factor | Weight | Description |</a:t>
            </a:r>
            <a:endParaRPr/>
          </a:p>
          <a:p>
            <a:pPr algn="l">
              <a:defRPr/>
            </a:pPr>
            <a:r>
              <a:rPr/>
              <a:t>|--------|--------|-------------|</a:t>
            </a:r>
            <a:endParaRPr/>
          </a:p>
          <a:p>
            <a:pPr algn="l">
              <a:defRPr/>
            </a:pPr>
            <a:r>
              <a:rPr/>
              <a:t>| **Uniqueness** | 25% | How different from existing training data |</a:t>
            </a:r>
            <a:endParaRPr/>
          </a:p>
          <a:p>
            <a:pPr algn="l">
              <a:defRPr/>
            </a:pPr>
            <a:r>
              <a:rPr/>
              <a:t>| **Depth** | 25% | Multi-turn reasoning, complexity, nuance |</a:t>
            </a:r>
            <a:endParaRPr/>
          </a:p>
          <a:p>
            <a:pPr algn="l">
              <a:defRPr/>
            </a:pPr>
            <a:r>
              <a:rPr/>
              <a:t>| **Domain Signal** | 20% | Expert-level domain knowledge (legal, medical, technical) |</a:t>
            </a:r>
            <a:endParaRPr/>
          </a:p>
          <a:p>
            <a:pPr algn="l">
              <a:defRPr/>
            </a:pPr>
            <a:r>
              <a:rPr/>
              <a:t>| **Coherence** | 15% | Well-structured, clear, high-quality writing |</a:t>
            </a:r>
            <a:endParaRPr/>
          </a:p>
          <a:p>
            <a:pPr algn="l">
              <a:defRPr/>
            </a:pPr>
            <a:r>
              <a:rPr/>
              <a:t>| **Engagement** | 15% | Social signals (if shared): remixes, likes, follows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Success Metrics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Metric | Target |</a:t>
            </a:r>
            <a:endParaRPr/>
          </a:p>
          <a:p>
            <a:pPr algn="l">
              <a:defRPr/>
            </a:pPr>
            <a:r>
              <a:rPr/>
              <a:t>|--------|--------|</a:t>
            </a:r>
            <a:endParaRPr/>
          </a:p>
          <a:p>
            <a:pPr algn="l">
              <a:defRPr/>
            </a:pPr>
            <a:r>
              <a:rPr/>
              <a:t>| Training data volume | &gt;100K high-quality ACUs |</a:t>
            </a:r>
            <a:endParaRPr/>
          </a:p>
          <a:p>
            <a:pPr algn="l">
              <a:defRPr/>
            </a:pPr>
            <a:r>
              <a:rPr/>
              <a:t>| Quality score distribution | &gt;60% score ≥0.7 |</a:t>
            </a:r>
            <a:endParaRPr/>
          </a:p>
          <a:p>
            <a:pPr algn="l">
              <a:defRPr/>
            </a:pPr>
            <a:r>
              <a:rPr/>
              <a:t>| Model improvement (eval benchmarks) | Measurable lift vs. base model |</a:t>
            </a:r>
            <a:endParaRPr/>
          </a:p>
          <a:p>
            <a:pPr algn="l">
              <a:defRPr/>
            </a:pPr>
            <a:r>
              <a:rPr/>
              <a:t>| Training pipeline uptime | 99% |</a:t>
            </a:r>
            <a:endParaRPr/>
          </a:p>
          <a:p>
            <a:pPr algn="l">
              <a:defRPr/>
            </a:pPr>
            <a:r>
              <a:rPr/>
              <a:t>| Time from data → trained model | &lt;7 days |</a:t>
            </a:r>
            <a:endParaRPr/>
          </a:p>
          <a:p>
            <a:pPr algn="l">
              <a:defRPr/>
            </a:pPr>
            <a:r>
              <a:rPr/>
              <a:t>| First licensing revenue | &gt;$0 (proof of concept)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Dependencies</a:t>
            </a:r>
            <a:endParaRPr/>
          </a:p>
          <a:p>
            <a:pPr algn="l">
              <a:defRPr/>
            </a:pPr>
            <a:r>
              <a:rPr/>
              <a:t>- M8 complete (opted-in data available)</a:t>
            </a:r>
            <a:endParaRPr/>
          </a:p>
          <a:p>
            <a:pPr algn="l">
              <a:defRPr/>
            </a:pPr>
            <a:r>
              <a:rPr/>
              <a:t>- Compute budget (~$50K+ for initial training runs)</a:t>
            </a:r>
            <a:endParaRPr/>
          </a:p>
          <a:p>
            <a:pPr algn="l">
              <a:defRPr/>
            </a:pPr>
            <a:r>
              <a:rPr/>
              <a:t>- ML team with fine-tuning experience</a:t>
            </a:r>
            <a:endParaRPr/>
          </a:p>
          <a:p>
            <a:pPr algn="l">
              <a:defRPr/>
            </a:pPr>
            <a:r>
              <a:rPr/>
              <a:t>- Business development for licensing conversations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Risks &amp; Mitigations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Risk | Mitigation |</a:t>
            </a:r>
            <a:endParaRPr/>
          </a:p>
          <a:p>
            <a:pPr algn="l">
              <a:defRPr/>
            </a:pPr>
            <a:r>
              <a:rPr/>
              <a:t>|------|------------|</a:t>
            </a:r>
            <a:endParaRPr/>
          </a:p>
          <a:p>
            <a:pPr algn="l">
              <a:defRPr/>
            </a:pPr>
            <a:r>
              <a:rPr/>
              <a:t>| Insufficient data volume | Incentivize early contributors; lower quality threshold for v1 |</a:t>
            </a:r>
            <a:endParaRPr/>
          </a:p>
          <a:p>
            <a:pPr algn="l">
              <a:defRPr/>
            </a:pPr>
            <a:r>
              <a:rPr/>
              <a:t>| Model quality issues | Extensive eval; start with narrow use cases |</a:t>
            </a:r>
            <a:endParaRPr/>
          </a:p>
          <a:p>
            <a:pPr algn="l">
              <a:defRPr/>
            </a:pPr>
            <a:r>
              <a:rPr/>
              <a:t>| Compute costs | Start small; optimize; negotiate cloud credits |</a:t>
            </a:r>
            <a:endParaRPr/>
          </a:p>
          <a:p>
            <a:pPr algn="l">
              <a:defRPr/>
            </a:pPr>
            <a:r>
              <a:rPr/>
              <a:t>| No licensing demand | Pre-sell before building; focus on unique data angle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Business Impact</a:t>
            </a:r>
            <a:endParaRPr/>
          </a:p>
          <a:p>
            <a:pPr algn="l">
              <a:defRPr/>
            </a:pPr>
            <a:r>
              <a:rPr/>
              <a:t>- First proof of revenue (even $1 validates the model)</a:t>
            </a:r>
            <a:endParaRPr/>
          </a:p>
          <a:p>
            <a:pPr algn="l">
              <a:defRPr/>
            </a:pPr>
            <a:r>
              <a:rPr/>
              <a:t>- Creates asset (trained models) with compounding value</a:t>
            </a:r>
            <a:endParaRPr/>
          </a:p>
          <a:p>
            <a:pPr algn="l">
              <a:defRPr/>
            </a:pPr>
            <a:r>
              <a:rPr/>
              <a:t>- Unlocks dividend calculation (revenue to distribute)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Resources Required</a:t>
            </a:r>
            <a:endParaRPr/>
          </a:p>
          <a:p>
            <a:pPr algn="l">
              <a:defRPr/>
            </a:pPr>
            <a:r>
              <a:rPr/>
              <a:t>- 2–3 ML engineers (training, eval)</a:t>
            </a:r>
            <a:endParaRPr/>
          </a:p>
          <a:p>
            <a:pPr algn="l">
              <a:defRPr/>
            </a:pPr>
            <a:r>
              <a:rPr/>
              <a:t>- 1 MLOps engineer</a:t>
            </a:r>
            <a:endParaRPr/>
          </a:p>
          <a:p>
            <a:pPr algn="l">
              <a:defRPr/>
            </a:pPr>
            <a:r>
              <a:rPr/>
              <a:t>- Compute: ~$50K initial training budget</a:t>
            </a:r>
            <a:endParaRPr/>
          </a:p>
          <a:p>
            <a:pPr algn="l">
              <a:defRPr/>
            </a:pPr>
            <a:r>
              <a:rPr/>
              <a:t>- Business development: 1 hire or founder time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Exit Criteria</a:t>
            </a:r>
            <a:endParaRPr/>
          </a:p>
          <a:p>
            <a:pPr algn="l">
              <a:defRPr/>
            </a:pPr>
            <a:r>
              <a:rPr/>
              <a:t>✅ Training pipeline functional end-to-end</a:t>
            </a:r>
            <a:endParaRPr/>
          </a:p>
          <a:p>
            <a:pPr algn="l">
              <a:defRPr/>
            </a:pPr>
            <a:r>
              <a:rPr/>
              <a:t>✅ Quality scoring operational</a:t>
            </a:r>
            <a:endParaRPr/>
          </a:p>
          <a:p>
            <a:pPr algn="l">
              <a:defRPr/>
            </a:pPr>
            <a:r>
              <a:rPr/>
              <a:t>✅ First model trained and evaluated</a:t>
            </a:r>
            <a:endParaRPr/>
          </a:p>
          <a:p>
            <a:pPr algn="l">
              <a:defRPr/>
            </a:pPr>
            <a:r>
              <a:rPr/>
              <a:t>✅ Model outperforms base on target benchmarks</a:t>
            </a:r>
            <a:endParaRPr/>
          </a:p>
          <a:p>
            <a:pPr algn="l">
              <a:defRPr/>
            </a:pPr>
            <a:r>
              <a:rPr/>
              <a:t>✅ Licensing infrastructure ready</a:t>
            </a:r>
            <a:endParaRPr/>
          </a:p>
          <a:p>
            <a:pPr algn="l">
              <a:defRPr/>
            </a:pPr>
            <a:r>
              <a:rPr/>
              <a:t>✅ First external customer engaged (even pilot/beta)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 MILESTONE 10: DIVIDEND DISTRIBUTION</a:t>
            </a:r>
            <a:endParaRPr/>
          </a:p>
          <a:p>
            <a:pPr algn="l">
              <a:defRPr/>
            </a:pPr>
            <a:r>
              <a:rPr/>
              <a:t>## "Users Get Paid"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Timeline: Months 14–18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Objective</a:t>
            </a:r>
            <a:endParaRPr/>
          </a:p>
          <a:p>
            <a:pPr algn="l">
              <a:defRPr/>
            </a:pPr>
            <a:r>
              <a:rPr/>
              <a:t>Build and execute the complete Data Dividend Protocol — from revenue collection through transparent calculation to actual payment distribution — proving the flywheel works by putting real money in users' hands.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Key Deliverables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Deliverable | Description |</a:t>
            </a:r>
            <a:endParaRPr/>
          </a:p>
          <a:p>
            <a:pPr algn="l">
              <a:defRPr/>
            </a:pPr>
            <a:r>
              <a:rPr/>
              <a:t>|-------------|-------------|</a:t>
            </a:r>
            <a:endParaRPr/>
          </a:p>
          <a:p>
            <a:pPr algn="l">
              <a:defRPr/>
            </a:pPr>
            <a:r>
              <a:rPr/>
              <a:t>| **Revenue Tracking System** | Accurate tracking of all model licensing revenue by source |</a:t>
            </a:r>
            <a:endParaRPr/>
          </a:p>
          <a:p>
            <a:pPr algn="l">
              <a:defRPr/>
            </a:pPr>
            <a:r>
              <a:rPr/>
              <a:t>| **Contribution Accounting** | Calculate each user's share based on opted-in ACUs and quality scores |</a:t>
            </a:r>
            <a:endParaRPr/>
          </a:p>
          <a:p>
            <a:pPr algn="l">
              <a:defRPr/>
            </a:pPr>
            <a:r>
              <a:rPr/>
              <a:t>| **Dividend Formula Engine** | Transparent calculation: `payout = (user_contribution_share) × (revenue) × (0.70)` |</a:t>
            </a:r>
            <a:endParaRPr/>
          </a:p>
          <a:p>
            <a:pPr algn="l">
              <a:defRPr/>
            </a:pPr>
            <a:r>
              <a:rPr/>
              <a:t>| **Payout Ledger** | Immutable record of all dividend calculations and payments |</a:t>
            </a:r>
            <a:endParaRPr/>
          </a:p>
          <a:p>
            <a:pPr algn="l">
              <a:defRPr/>
            </a:pPr>
            <a:r>
              <a:rPr/>
              <a:t>| **Payment Infrastructure** | Integration with payment rails (Stripe, PayPal, crypto options) |</a:t>
            </a:r>
            <a:endParaRPr/>
          </a:p>
          <a:p>
            <a:pPr algn="l">
              <a:defRPr/>
            </a:pPr>
            <a:r>
              <a:rPr/>
              <a:t>| **Tax Documentation** | 1099 generation (US), tax guidance for international |</a:t>
            </a:r>
            <a:endParaRPr/>
          </a:p>
          <a:p>
            <a:pPr algn="l">
              <a:defRPr/>
            </a:pPr>
            <a:r>
              <a:rPr/>
              <a:t>| **User Dividend Dashboard** | Real-time view: your contribution, your share, your earnings, payout history |</a:t>
            </a:r>
            <a:endParaRPr/>
          </a:p>
          <a:p>
            <a:pPr algn="l">
              <a:defRPr/>
            </a:pPr>
            <a:r>
              <a:rPr/>
              <a:t>| **Payout Scheduling** | Monthly or quarterly distribution cycles |</a:t>
            </a:r>
            <a:endParaRPr/>
          </a:p>
          <a:p>
            <a:pPr algn="l">
              <a:defRPr/>
            </a:pPr>
            <a:r>
              <a:rPr/>
              <a:t>| **Communication Campaign** | Announce first dividend; testimonials; social proof |</a:t>
            </a:r>
            <a:endParaRPr/>
          </a:p>
          <a:p>
            <a:pPr algn="l">
              <a:defRPr/>
            </a:pPr>
            <a:r>
              <a:rPr/>
              <a:t>| **First Distribution Event** | Actually pay users — the flywheel proof moment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Dividend Calculation (Simplified)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```</a:t>
            </a:r>
            <a:endParaRPr/>
          </a:p>
          <a:p>
            <a:pPr algn="l">
              <a:defRPr/>
            </a:pPr>
            <a:r>
              <a:rPr/>
              <a:t>Total Model Revenue (Month): $100,000</a:t>
            </a:r>
            <a:endParaRPr/>
          </a:p>
          <a:p>
            <a:pPr algn="l">
              <a:defRPr/>
            </a:pPr>
            <a:r>
              <a:rPr/>
              <a:t>Platform Share (30%):        $30,000</a:t>
            </a:r>
            <a:endParaRPr/>
          </a:p>
          <a:p>
            <a:pPr algn="l">
              <a:defRPr/>
            </a:pPr>
            <a:r>
              <a:rPr/>
              <a:t>User Dividend Pool (70%):    $70,000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User A Contribution Share:   2.5%</a:t>
            </a:r>
            <a:endParaRPr/>
          </a:p>
          <a:p>
            <a:pPr algn="l">
              <a:defRPr/>
            </a:pPr>
            <a:r>
              <a:rPr/>
              <a:t>User A Payout:               $70,000 × 0.025 = $1,750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User B Contribution Share:   0.1%</a:t>
            </a:r>
            <a:endParaRPr/>
          </a:p>
          <a:p>
            <a:pPr algn="l">
              <a:defRPr/>
            </a:pPr>
            <a:r>
              <a:rPr/>
              <a:t>User B Payout:               $70,000 × 0.001 = $70</a:t>
            </a:r>
            <a:endParaRPr/>
          </a:p>
          <a:p>
            <a:pPr algn="l">
              <a:defRPr/>
            </a:pPr>
            <a:r>
              <a:rPr/>
              <a:t>```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Dividend Dashboard (User View)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```</a:t>
            </a:r>
            <a:endParaRPr/>
          </a:p>
          <a:p>
            <a:pPr algn="l">
              <a:defRPr/>
            </a:pPr>
            <a:r>
              <a:rPr/>
              <a:t>┌─────────────────────────────────────────────────────────────┐</a:t>
            </a:r>
            <a:endParaRPr/>
          </a:p>
          <a:p>
            <a:pPr algn="l">
              <a:defRPr/>
            </a:pPr>
            <a:r>
              <a:rPr/>
              <a:t>│                    YOUR DIVIDEND DASHBOARD                  │</a:t>
            </a:r>
            <a:endParaRPr/>
          </a:p>
          <a:p>
            <a:pPr algn="l">
              <a:defRPr/>
            </a:pPr>
            <a:r>
              <a:rPr/>
              <a:t>├─────────────────────────────────────────────────────────────┤</a:t>
            </a:r>
            <a:endParaRPr/>
          </a:p>
          <a:p>
            <a:pPr algn="l">
              <a:defRPr/>
            </a:pPr>
            <a:r>
              <a:rPr/>
              <a:t>│  Total ACUs Contributed:          247                       │</a:t>
            </a:r>
            <a:endParaRPr/>
          </a:p>
          <a:p>
            <a:pPr algn="l">
              <a:defRPr/>
            </a:pPr>
            <a:r>
              <a:rPr/>
              <a:t>│  Average Quality Score:           0.78                      │</a:t>
            </a:r>
            <a:endParaRPr/>
          </a:p>
          <a:p>
            <a:pPr algn="l">
              <a:defRPr/>
            </a:pPr>
            <a:r>
              <a:rPr/>
              <a:t>│  Your Contribution Share:         0.34%                     │</a:t>
            </a:r>
            <a:endParaRPr/>
          </a:p>
          <a:p>
            <a:pPr algn="l">
              <a:defRPr/>
            </a:pPr>
            <a:r>
              <a:rPr/>
              <a:t>│                                                             │</a:t>
            </a:r>
            <a:endParaRPr/>
          </a:p>
          <a:p>
            <a:pPr algn="l">
              <a:defRPr/>
            </a:pPr>
            <a:r>
              <a:rPr/>
              <a:t>│  ─────────────────────────────────────────────────────────  │</a:t>
            </a:r>
            <a:endParaRPr/>
          </a:p>
          <a:p>
            <a:pPr algn="l">
              <a:defRPr/>
            </a:pPr>
            <a:r>
              <a:rPr/>
              <a:t>│                                                             │</a:t>
            </a:r>
            <a:endParaRPr/>
          </a:p>
          <a:p>
            <a:pPr algn="l">
              <a:defRPr/>
            </a:pPr>
            <a:r>
              <a:rPr/>
              <a:t>│  This Month's Revenue Pool:       $70,000                   │</a:t>
            </a:r>
            <a:endParaRPr/>
          </a:p>
          <a:p>
            <a:pPr algn="l">
              <a:defRPr/>
            </a:pPr>
            <a:r>
              <a:rPr/>
              <a:t>│  Your Estimated Payout:           $238.00                   │</a:t>
            </a:r>
            <a:endParaRPr/>
          </a:p>
          <a:p>
            <a:pPr algn="l">
              <a:defRPr/>
            </a:pPr>
            <a:r>
              <a:rPr/>
              <a:t>│                                                             │</a:t>
            </a:r>
            <a:endParaRPr/>
          </a:p>
          <a:p>
            <a:pPr algn="l">
              <a:defRPr/>
            </a:pPr>
            <a:r>
              <a:rPr/>
              <a:t>│  ─────────────────────────────────────────────────────────  │</a:t>
            </a:r>
            <a:endParaRPr/>
          </a:p>
          <a:p>
            <a:pPr algn="l">
              <a:defRPr/>
            </a:pPr>
            <a:r>
              <a:rPr/>
              <a:t>│                                                             │</a:t>
            </a:r>
            <a:endParaRPr/>
          </a:p>
          <a:p>
            <a:pPr algn="l">
              <a:defRPr/>
            </a:pPr>
            <a:r>
              <a:rPr/>
              <a:t>│  Lifetime Earnings:               $238.00                   │</a:t>
            </a:r>
            <a:endParaRPr/>
          </a:p>
          <a:p>
            <a:pPr algn="l">
              <a:defRPr/>
            </a:pPr>
            <a:r>
              <a:rPr/>
              <a:t>│  Pending Payout:                  $238.00                   │</a:t>
            </a:r>
            <a:endParaRPr/>
          </a:p>
          <a:p>
            <a:pPr algn="l">
              <a:defRPr/>
            </a:pPr>
            <a:r>
              <a:rPr/>
              <a:t>│  Next Payout Date:                March 1, 2027             │</a:t>
            </a:r>
            <a:endParaRPr/>
          </a:p>
          <a:p>
            <a:pPr algn="l">
              <a:defRPr/>
            </a:pPr>
            <a:r>
              <a:rPr/>
              <a:t>│                                                             │</a:t>
            </a:r>
            <a:endParaRPr/>
          </a:p>
          <a:p>
            <a:pPr algn="l">
              <a:defRPr/>
            </a:pPr>
            <a:r>
              <a:rPr/>
              <a:t>│  [View Contribution History]  [View Payout History]         │</a:t>
            </a:r>
            <a:endParaRPr/>
          </a:p>
          <a:p>
            <a:pPr algn="l">
              <a:defRPr/>
            </a:pPr>
            <a:r>
              <a:rPr/>
              <a:t>│  [Update Payment Method]      [Tax Documents]               │</a:t>
            </a:r>
            <a:endParaRPr/>
          </a:p>
          <a:p>
            <a:pPr algn="l">
              <a:defRPr/>
            </a:pPr>
            <a:r>
              <a:rPr/>
              <a:t>└─────────────────────────────────────────────────────────────┘</a:t>
            </a:r>
            <a:endParaRPr/>
          </a:p>
          <a:p>
            <a:pPr algn="l">
              <a:defRPr/>
            </a:pPr>
            <a:r>
              <a:rPr/>
              <a:t>```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Success Metrics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Metric | Target |</a:t>
            </a:r>
            <a:endParaRPr/>
          </a:p>
          <a:p>
            <a:pPr algn="l">
              <a:defRPr/>
            </a:pPr>
            <a:r>
              <a:rPr/>
              <a:t>|--------|--------|</a:t>
            </a:r>
            <a:endParaRPr/>
          </a:p>
          <a:p>
            <a:pPr algn="l">
              <a:defRPr/>
            </a:pPr>
            <a:r>
              <a:rPr/>
              <a:t>| First distribution event | Complete by Month 18 |</a:t>
            </a:r>
            <a:endParaRPr/>
          </a:p>
          <a:p>
            <a:pPr algn="l">
              <a:defRPr/>
            </a:pPr>
            <a:r>
              <a:rPr/>
              <a:t>| Total distributed (first payout) | &gt;$50,000 |</a:t>
            </a:r>
            <a:endParaRPr/>
          </a:p>
          <a:p>
            <a:pPr algn="l">
              <a:defRPr/>
            </a:pPr>
            <a:r>
              <a:rPr/>
              <a:t>| Number of users paid | &gt;500 |</a:t>
            </a:r>
            <a:endParaRPr/>
          </a:p>
          <a:p>
            <a:pPr algn="l">
              <a:defRPr/>
            </a:pPr>
            <a:r>
              <a:rPr/>
              <a:t>| Average payout per contributor | &gt;$50 |</a:t>
            </a:r>
            <a:endParaRPr/>
          </a:p>
          <a:p>
            <a:pPr algn="l">
              <a:defRPr/>
            </a:pPr>
            <a:r>
              <a:rPr/>
              <a:t>| Payout success rate | &gt;99% |</a:t>
            </a:r>
            <a:endParaRPr/>
          </a:p>
          <a:p>
            <a:pPr algn="l">
              <a:defRPr/>
            </a:pPr>
            <a:r>
              <a:rPr/>
              <a:t>| User satisfaction (post-payout survey) | &gt;4.5/5 |</a:t>
            </a:r>
            <a:endParaRPr/>
          </a:p>
          <a:p>
            <a:pPr algn="l">
              <a:defRPr/>
            </a:pPr>
            <a:r>
              <a:rPr/>
              <a:t>| PR/social pickup | Major tech media coverage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Dependencies</a:t>
            </a:r>
            <a:endParaRPr/>
          </a:p>
          <a:p>
            <a:pPr algn="l">
              <a:defRPr/>
            </a:pPr>
            <a:r>
              <a:rPr/>
              <a:t>- M9 complete (revenue flowing from model licensing)</a:t>
            </a:r>
            <a:endParaRPr/>
          </a:p>
          <a:p>
            <a:pPr algn="l">
              <a:defRPr/>
            </a:pPr>
            <a:r>
              <a:rPr/>
              <a:t>- M8 complete (contribution tracking in place)</a:t>
            </a:r>
            <a:endParaRPr/>
          </a:p>
          <a:p>
            <a:pPr algn="l">
              <a:defRPr/>
            </a:pPr>
            <a:r>
              <a:rPr/>
              <a:t>- Payment provider integrations</a:t>
            </a:r>
            <a:endParaRPr/>
          </a:p>
          <a:p>
            <a:pPr algn="l">
              <a:defRPr/>
            </a:pPr>
            <a:r>
              <a:rPr/>
              <a:t>- Legal/tax compliance review</a:t>
            </a:r>
            <a:endParaRPr/>
          </a:p>
          <a:p>
            <a:pPr algn="l">
              <a:defRPr/>
            </a:pPr>
            <a:r>
              <a:rPr/>
              <a:t>- Communications/marketing prep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Risks &amp; Mitigations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Risk | Mitigation |</a:t>
            </a:r>
            <a:endParaRPr/>
          </a:p>
          <a:p>
            <a:pPr algn="l">
              <a:defRPr/>
            </a:pPr>
            <a:r>
              <a:rPr/>
              <a:t>|------|------------|</a:t>
            </a:r>
            <a:endParaRPr/>
          </a:p>
          <a:p>
            <a:pPr algn="l">
              <a:defRPr/>
            </a:pPr>
            <a:r>
              <a:rPr/>
              <a:t>| Low revenue = low payouts | Set expectations; emphasize long-term compounding |</a:t>
            </a:r>
            <a:endParaRPr/>
          </a:p>
          <a:p>
            <a:pPr algn="l">
              <a:defRPr/>
            </a:pPr>
            <a:r>
              <a:rPr/>
              <a:t>| Payment failures | Multiple payment options; retry logic; support |</a:t>
            </a:r>
            <a:endParaRPr/>
          </a:p>
          <a:p>
            <a:pPr algn="l">
              <a:defRPr/>
            </a:pPr>
            <a:r>
              <a:rPr/>
              <a:t>| Tax complexity | Partner with tax provider; clear documentation |</a:t>
            </a:r>
            <a:endParaRPr/>
          </a:p>
          <a:p>
            <a:pPr algn="l">
              <a:defRPr/>
            </a:pPr>
            <a:r>
              <a:rPr/>
              <a:t>| User disputes | Transparent formula; audit trail; support escalation |</a:t>
            </a:r>
            <a:endParaRPr/>
          </a:p>
          <a:p>
            <a:pPr algn="l">
              <a:defRPr/>
            </a:pPr>
            <a:r>
              <a:rPr/>
              <a:t>| Securities law concerns | Legal review; "profit share from model revenue, not equity"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Business Impact</a:t>
            </a:r>
            <a:endParaRPr/>
          </a:p>
          <a:p>
            <a:pPr algn="l">
              <a:defRPr/>
            </a:pPr>
            <a:r>
              <a:rPr/>
              <a:t>- **THE PROOF MOMENT** — everything hinges on this working</a:t>
            </a:r>
            <a:endParaRPr/>
          </a:p>
          <a:p>
            <a:pPr algn="l">
              <a:defRPr/>
            </a:pPr>
            <a:r>
              <a:rPr/>
              <a:t>- Creates massive social proof and virality</a:t>
            </a:r>
            <a:endParaRPr/>
          </a:p>
          <a:p>
            <a:pPr algn="l">
              <a:defRPr/>
            </a:pPr>
            <a:r>
              <a:rPr/>
              <a:t>- Validates entire business model</a:t>
            </a:r>
            <a:endParaRPr/>
          </a:p>
          <a:p>
            <a:pPr algn="l">
              <a:defRPr/>
            </a:pPr>
            <a:r>
              <a:rPr/>
              <a:t>- Triggers flywheel acceleration (users recruit users)</a:t>
            </a:r>
            <a:endParaRPr/>
          </a:p>
          <a:p>
            <a:pPr algn="l">
              <a:defRPr/>
            </a:pPr>
            <a:r>
              <a:rPr/>
              <a:t>- Differentiates permanently from all competitors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Resources Required</a:t>
            </a:r>
            <a:endParaRPr/>
          </a:p>
          <a:p>
            <a:pPr algn="l">
              <a:defRPr/>
            </a:pPr>
            <a:r>
              <a:rPr/>
              <a:t>- 1–2 backend engineers</a:t>
            </a:r>
            <a:endParaRPr/>
          </a:p>
          <a:p>
            <a:pPr algn="l">
              <a:defRPr/>
            </a:pPr>
            <a:r>
              <a:rPr/>
              <a:t>- 1 finance/ops hire</a:t>
            </a:r>
            <a:endParaRPr/>
          </a:p>
          <a:p>
            <a:pPr algn="l">
              <a:defRPr/>
            </a:pPr>
            <a:r>
              <a:rPr/>
              <a:t>- Legal counsel: 30 hours</a:t>
            </a:r>
            <a:endParaRPr/>
          </a:p>
          <a:p>
            <a:pPr algn="l">
              <a:defRPr/>
            </a:pPr>
            <a:r>
              <a:rPr/>
              <a:t>- Tax/compliance consultant: 20 hours</a:t>
            </a:r>
            <a:endParaRPr/>
          </a:p>
          <a:p>
            <a:pPr algn="l">
              <a:defRPr/>
            </a:pPr>
            <a:r>
              <a:rPr/>
              <a:t>- Payment provider integration costs</a:t>
            </a:r>
            <a:endParaRPr/>
          </a:p>
          <a:p>
            <a:pPr algn="l">
              <a:defRPr/>
            </a:pPr>
            <a:r>
              <a:rPr/>
              <a:t>- Marketing/comms: $20K first distribution campaign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### Exit Criteria</a:t>
            </a:r>
            <a:endParaRPr/>
          </a:p>
          <a:p>
            <a:pPr algn="l">
              <a:defRPr/>
            </a:pPr>
            <a:r>
              <a:rPr/>
              <a:t>✅ Revenue accurately tracked by source</a:t>
            </a:r>
            <a:endParaRPr/>
          </a:p>
          <a:p>
            <a:pPr algn="l">
              <a:defRPr/>
            </a:pPr>
            <a:r>
              <a:rPr/>
              <a:t>✅ Contribution shares calculated and auditable</a:t>
            </a:r>
            <a:endParaRPr/>
          </a:p>
          <a:p>
            <a:pPr algn="l">
              <a:defRPr/>
            </a:pPr>
            <a:r>
              <a:rPr/>
              <a:t>✅ Dividend formula transparent and published</a:t>
            </a:r>
            <a:endParaRPr/>
          </a:p>
          <a:p>
            <a:pPr algn="l">
              <a:defRPr/>
            </a:pPr>
            <a:r>
              <a:rPr/>
              <a:t>✅ Payment infrastructure functional</a:t>
            </a:r>
            <a:endParaRPr/>
          </a:p>
          <a:p>
            <a:pPr algn="l">
              <a:defRPr/>
            </a:pPr>
            <a:r>
              <a:rPr/>
              <a:t>✅ Tax documentation ready</a:t>
            </a:r>
            <a:endParaRPr/>
          </a:p>
          <a:p>
            <a:pPr algn="l">
              <a:defRPr/>
            </a:pPr>
            <a:r>
              <a:rPr/>
              <a:t>✅ **First distribution completed — users receive real payments**</a:t>
            </a:r>
            <a:endParaRPr/>
          </a:p>
          <a:p>
            <a:pPr algn="l">
              <a:defRPr/>
            </a:pPr>
            <a:r>
              <a:rPr/>
              <a:t>✅ Post-distribution survey: &gt;4.5/5 satisfaction</a:t>
            </a:r>
            <a:endParaRPr/>
          </a:p>
          <a:p>
            <a:pPr algn="l">
              <a:defRPr/>
            </a:pPr>
            <a:r>
              <a:rPr/>
              <a:t>✅ Media coverage achieved</a:t>
            </a:r>
            <a:endParaRPr/>
          </a:p>
          <a:p>
            <a:pPr algn="l">
              <a:defRPr/>
            </a:pPr>
            <a:r>
              <a:rPr/>
              <a:t>✅ Opt-in rate increases post-distribution (flywheel evidence)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 MILESTONE SUMMARY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# | Milestone | Duration | Cumulative | Core Deliverable |</a:t>
            </a:r>
            <a:endParaRPr/>
          </a:p>
          <a:p>
            <a:pPr algn="l">
              <a:defRPr/>
            </a:pPr>
            <a:r>
              <a:rPr/>
              <a:t>|---|-----------|----------|------------|------------------|</a:t>
            </a:r>
            <a:endParaRPr/>
          </a:p>
          <a:p>
            <a:pPr algn="l">
              <a:defRPr/>
            </a:pPr>
            <a:r>
              <a:rPr/>
              <a:t>| **M1** | Core Infrastructure | 2 months | Month 2 | Auth, DB, security, CI/CD |</a:t>
            </a:r>
            <a:endParaRPr/>
          </a:p>
          <a:p>
            <a:pPr algn="l">
              <a:defRPr/>
            </a:pPr>
            <a:r>
              <a:rPr/>
              <a:t>| **M2** | Universal Mux Layer | 2 months | Month 4 | BYOK, 8+ providers, unified chat |</a:t>
            </a:r>
            <a:endParaRPr/>
          </a:p>
          <a:p>
            <a:pPr algn="l">
              <a:defRPr/>
            </a:pPr>
            <a:r>
              <a:rPr/>
              <a:t>| **M3** | Atomic Chat Units | 2 months | Month 5 | Ownership primitive, provenance |</a:t>
            </a:r>
            <a:endParaRPr/>
          </a:p>
          <a:p>
            <a:pPr algn="l">
              <a:defRPr/>
            </a:pPr>
            <a:r>
              <a:rPr/>
              <a:t>| **M4** | Sovereign Storage | 2 months | Month 6 | Encryption, export, deletion |</a:t>
            </a:r>
            <a:endParaRPr/>
          </a:p>
          <a:p>
            <a:pPr algn="l">
              <a:defRPr/>
            </a:pPr>
            <a:r>
              <a:rPr/>
              <a:t>| **M5** | Compose Engine | 2 months | Month 7 | Fork, mux, remux |</a:t>
            </a:r>
            <a:endParaRPr/>
          </a:p>
          <a:p>
            <a:pPr algn="l">
              <a:defRPr/>
            </a:pPr>
            <a:r>
              <a:rPr/>
              <a:t>| **M6** | Context Engine | 3 months | Month 9 | Second brain, RAG, entity graph |</a:t>
            </a:r>
            <a:endParaRPr/>
          </a:p>
          <a:p>
            <a:pPr algn="l">
              <a:defRPr/>
            </a:pPr>
            <a:r>
              <a:rPr/>
              <a:t>| **M7** | Social Layer | 3 months | Month 11 | Share, follow, remix, discovery |</a:t>
            </a:r>
            <a:endParaRPr/>
          </a:p>
          <a:p>
            <a:pPr algn="l">
              <a:defRPr/>
            </a:pPr>
            <a:r>
              <a:rPr/>
              <a:t>| **M8** | Consent System | 2 months | Month 12 | Opt-in, PII detection, revocation |</a:t>
            </a:r>
            <a:endParaRPr/>
          </a:p>
          <a:p>
            <a:pPr algn="l">
              <a:defRPr/>
            </a:pPr>
            <a:r>
              <a:rPr/>
              <a:t>| **M9** | Training Pipeline | 3 months | Month 14 | Data → model → licensing |</a:t>
            </a:r>
            <a:endParaRPr/>
          </a:p>
          <a:p>
            <a:pPr algn="l">
              <a:defRPr/>
            </a:pPr>
            <a:r>
              <a:rPr/>
              <a:t>| **M10** | Dividend Distribution | 4 months | Month 18 | **Users get paid**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 CRITICAL PATH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```</a:t>
            </a:r>
            <a:endParaRPr/>
          </a:p>
          <a:p>
            <a:pPr algn="l">
              <a:defRPr/>
            </a:pPr>
            <a:r>
              <a:rPr/>
              <a:t>M1 ──→ M2 ──→ M3 ──→ M4</a:t>
            </a:r>
            <a:endParaRPr/>
          </a:p>
          <a:p>
            <a:pPr algn="l">
              <a:defRPr/>
            </a:pPr>
            <a:r>
              <a:rPr/>
              <a:t>              │</a:t>
            </a:r>
            <a:endParaRPr/>
          </a:p>
          <a:p>
            <a:pPr algn="l">
              <a:defRPr/>
            </a:pPr>
            <a:r>
              <a:rPr/>
              <a:t>              ▼</a:t>
            </a:r>
            <a:endParaRPr/>
          </a:p>
          <a:p>
            <a:pPr algn="l">
              <a:defRPr/>
            </a:pPr>
            <a:r>
              <a:rPr/>
              <a:t>             M5 ──→ M6 ──→ M7</a:t>
            </a:r>
            <a:endParaRPr/>
          </a:p>
          <a:p>
            <a:pPr algn="l">
              <a:defRPr/>
            </a:pPr>
            <a:r>
              <a:rPr/>
              <a:t>                          │</a:t>
            </a:r>
            <a:endParaRPr/>
          </a:p>
          <a:p>
            <a:pPr algn="l">
              <a:defRPr/>
            </a:pPr>
            <a:r>
              <a:rPr/>
              <a:t>                          ▼</a:t>
            </a:r>
            <a:endParaRPr/>
          </a:p>
          <a:p>
            <a:pPr algn="l">
              <a:defRPr/>
            </a:pPr>
            <a:r>
              <a:rPr/>
              <a:t>                    M8 ──→ M9 ──→ M10</a:t>
            </a:r>
            <a:endParaRPr/>
          </a:p>
          <a:p>
            <a:pPr algn="l">
              <a:defRPr/>
            </a:pPr>
            <a:r>
              <a:rPr/>
              <a:t>                                   │</a:t>
            </a:r>
            <a:endParaRPr/>
          </a:p>
          <a:p>
            <a:pPr algn="l">
              <a:defRPr/>
            </a:pPr>
            <a:r>
              <a:rPr/>
              <a:t>                                   ▼</a:t>
            </a:r>
            <a:endParaRPr/>
          </a:p>
          <a:p>
            <a:pPr algn="l">
              <a:defRPr/>
            </a:pPr>
            <a:r>
              <a:rPr/>
              <a:t>                          💰 FIRST DIVIDEND 💰</a:t>
            </a:r>
            <a:endParaRPr/>
          </a:p>
          <a:p>
            <a:pPr algn="l">
              <a:defRPr/>
            </a:pPr>
            <a:r>
              <a:rPr/>
              <a:t>```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 KEY DEPENDENCIES VISUALIZATION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```</a:t>
            </a:r>
            <a:endParaRPr/>
          </a:p>
          <a:p>
            <a:pPr algn="l">
              <a:defRPr/>
            </a:pPr>
            <a:r>
              <a:rPr/>
              <a:t>                    ┌─────────────────┐</a:t>
            </a:r>
            <a:endParaRPr/>
          </a:p>
          <a:p>
            <a:pPr algn="l">
              <a:defRPr/>
            </a:pPr>
            <a:r>
              <a:rPr/>
              <a:t>                    │  M1: CORE INFRA  │</a:t>
            </a:r>
            <a:endParaRPr/>
          </a:p>
          <a:p>
            <a:pPr algn="l">
              <a:defRPr/>
            </a:pPr>
            <a:r>
              <a:rPr/>
              <a:t>                    └────────┬────────┘</a:t>
            </a:r>
            <a:endParaRPr/>
          </a:p>
          <a:p>
            <a:pPr algn="l">
              <a:defRPr/>
            </a:pPr>
            <a:r>
              <a:rPr/>
              <a:t>                             │</a:t>
            </a:r>
            <a:endParaRPr/>
          </a:p>
          <a:p>
            <a:pPr algn="l">
              <a:defRPr/>
            </a:pPr>
            <a:r>
              <a:rPr/>
              <a:t>                             ▼</a:t>
            </a:r>
            <a:endParaRPr/>
          </a:p>
          <a:p>
            <a:pPr algn="l">
              <a:defRPr/>
            </a:pPr>
            <a:r>
              <a:rPr/>
              <a:t>                    ┌─────────────────┐</a:t>
            </a:r>
            <a:endParaRPr/>
          </a:p>
          <a:p>
            <a:pPr algn="l">
              <a:defRPr/>
            </a:pPr>
            <a:r>
              <a:rPr/>
              <a:t>                    │   M2: MUX LAYER  │</a:t>
            </a:r>
            <a:endParaRPr/>
          </a:p>
          <a:p>
            <a:pPr algn="l">
              <a:defRPr/>
            </a:pPr>
            <a:r>
              <a:rPr/>
              <a:t>                    └────────┬────────┘</a:t>
            </a:r>
            <a:endParaRPr/>
          </a:p>
          <a:p>
            <a:pPr algn="l">
              <a:defRPr/>
            </a:pPr>
            <a:r>
              <a:rPr/>
              <a:t>                             │</a:t>
            </a:r>
            <a:endParaRPr/>
          </a:p>
          <a:p>
            <a:pPr algn="l">
              <a:defRPr/>
            </a:pPr>
            <a:r>
              <a:rPr/>
              <a:t>              ┌──────────────┼──────────────┐</a:t>
            </a:r>
            <a:endParaRPr/>
          </a:p>
          <a:p>
            <a:pPr algn="l">
              <a:defRPr/>
            </a:pPr>
            <a:r>
              <a:rPr/>
              <a:t>              ▼              ▼              ▼</a:t>
            </a:r>
            <a:endParaRPr/>
          </a:p>
          <a:p>
            <a:pPr algn="l">
              <a:defRPr/>
            </a:pPr>
            <a:r>
              <a:rPr/>
              <a:t>       ┌────────────┐ ┌────────────┐ ┌────────────┐</a:t>
            </a:r>
            <a:endParaRPr/>
          </a:p>
          <a:p>
            <a:pPr algn="l">
              <a:defRPr/>
            </a:pPr>
            <a:r>
              <a:rPr/>
              <a:t>       │ M3: ACUs   │ │ M4: STORAGE│ │ M5: COMPOSE│</a:t>
            </a:r>
            <a:endParaRPr/>
          </a:p>
          <a:p>
            <a:pPr algn="l">
              <a:defRPr/>
            </a:pPr>
            <a:r>
              <a:rPr/>
              <a:t>       └─────┬──────┘ └─────┬──────┘ └─────┬──────┘</a:t>
            </a:r>
            <a:endParaRPr/>
          </a:p>
          <a:p>
            <a:pPr algn="l">
              <a:defRPr/>
            </a:pPr>
            <a:r>
              <a:rPr/>
              <a:t>             │              │              │</a:t>
            </a:r>
            <a:endParaRPr/>
          </a:p>
          <a:p>
            <a:pPr algn="l">
              <a:defRPr/>
            </a:pPr>
            <a:r>
              <a:rPr/>
              <a:t>             └──────────────┼──────────────┘</a:t>
            </a:r>
            <a:endParaRPr/>
          </a:p>
          <a:p>
            <a:pPr algn="l">
              <a:defRPr/>
            </a:pPr>
            <a:r>
              <a:rPr/>
              <a:t>                            ▼</a:t>
            </a:r>
            <a:endParaRPr/>
          </a:p>
          <a:p>
            <a:pPr algn="l">
              <a:defRPr/>
            </a:pPr>
            <a:r>
              <a:rPr/>
              <a:t>                    ┌─────────────────┐</a:t>
            </a:r>
            <a:endParaRPr/>
          </a:p>
          <a:p>
            <a:pPr algn="l">
              <a:defRPr/>
            </a:pPr>
            <a:r>
              <a:rPr/>
              <a:t>                    │ M6: CONTEXT     │</a:t>
            </a:r>
            <a:endParaRPr/>
          </a:p>
          <a:p>
            <a:pPr algn="l">
              <a:defRPr/>
            </a:pPr>
            <a:r>
              <a:rPr/>
              <a:t>                    └────────┬────────┘</a:t>
            </a:r>
            <a:endParaRPr/>
          </a:p>
          <a:p>
            <a:pPr algn="l">
              <a:defRPr/>
            </a:pPr>
            <a:r>
              <a:rPr/>
              <a:t>                             │</a:t>
            </a:r>
            <a:endParaRPr/>
          </a:p>
          <a:p>
            <a:pPr algn="l">
              <a:defRPr/>
            </a:pPr>
            <a:r>
              <a:rPr/>
              <a:t>                             ▼</a:t>
            </a:r>
            <a:endParaRPr/>
          </a:p>
          <a:p>
            <a:pPr algn="l">
              <a:defRPr/>
            </a:pPr>
            <a:r>
              <a:rPr/>
              <a:t>                    ┌─────────────────┐</a:t>
            </a:r>
            <a:endParaRPr/>
          </a:p>
          <a:p>
            <a:pPr algn="l">
              <a:defRPr/>
            </a:pPr>
            <a:r>
              <a:rPr/>
              <a:t>                    │ M7: SOCIAL      │</a:t>
            </a:r>
            <a:endParaRPr/>
          </a:p>
          <a:p>
            <a:pPr algn="l">
              <a:defRPr/>
            </a:pPr>
            <a:r>
              <a:rPr/>
              <a:t>                    └────────┬────────┘</a:t>
            </a:r>
            <a:endParaRPr/>
          </a:p>
          <a:p>
            <a:pPr algn="l">
              <a:defRPr/>
            </a:pPr>
            <a:r>
              <a:rPr/>
              <a:t>                             │</a:t>
            </a:r>
            <a:endParaRPr/>
          </a:p>
          <a:p>
            <a:pPr algn="l">
              <a:defRPr/>
            </a:pPr>
            <a:r>
              <a:rPr/>
              <a:t>                             ▼</a:t>
            </a:r>
            <a:endParaRPr/>
          </a:p>
          <a:p>
            <a:pPr algn="l">
              <a:defRPr/>
            </a:pPr>
            <a:r>
              <a:rPr/>
              <a:t>                    ┌─────────────────┐</a:t>
            </a:r>
            <a:endParaRPr/>
          </a:p>
          <a:p>
            <a:pPr algn="l">
              <a:defRPr/>
            </a:pPr>
            <a:r>
              <a:rPr/>
              <a:t>                    │ M8: CONSENT     │</a:t>
            </a:r>
            <a:endParaRPr/>
          </a:p>
          <a:p>
            <a:pPr algn="l">
              <a:defRPr/>
            </a:pPr>
            <a:r>
              <a:rPr/>
              <a:t>                    └────────┬────────┘</a:t>
            </a:r>
            <a:endParaRPr/>
          </a:p>
          <a:p>
            <a:pPr algn="l">
              <a:defRPr/>
            </a:pPr>
            <a:r>
              <a:rPr/>
              <a:t>                             │</a:t>
            </a:r>
            <a:endParaRPr/>
          </a:p>
          <a:p>
            <a:pPr algn="l">
              <a:defRPr/>
            </a:pPr>
            <a:r>
              <a:rPr/>
              <a:t>                             ▼</a:t>
            </a:r>
            <a:endParaRPr/>
          </a:p>
          <a:p>
            <a:pPr algn="l">
              <a:defRPr/>
            </a:pPr>
            <a:r>
              <a:rPr/>
              <a:t>                    ┌─────────────────┐</a:t>
            </a:r>
            <a:endParaRPr/>
          </a:p>
          <a:p>
            <a:pPr algn="l">
              <a:defRPr/>
            </a:pPr>
            <a:r>
              <a:rPr/>
              <a:t>                    │ M9: TRAINING    │</a:t>
            </a:r>
            <a:endParaRPr/>
          </a:p>
          <a:p>
            <a:pPr algn="l">
              <a:defRPr/>
            </a:pPr>
            <a:r>
              <a:rPr/>
              <a:t>                    └────────┬────────┘</a:t>
            </a:r>
            <a:endParaRPr/>
          </a:p>
          <a:p>
            <a:pPr algn="l">
              <a:defRPr/>
            </a:pPr>
            <a:r>
              <a:rPr/>
              <a:t>                             │</a:t>
            </a:r>
            <a:endParaRPr/>
          </a:p>
          <a:p>
            <a:pPr algn="l">
              <a:defRPr/>
            </a:pPr>
            <a:r>
              <a:rPr/>
              <a:t>                             ▼</a:t>
            </a:r>
            <a:endParaRPr/>
          </a:p>
          <a:p>
            <a:pPr algn="l">
              <a:defRPr/>
            </a:pPr>
            <a:r>
              <a:rPr/>
              <a:t>                    ┌─────────────────┐</a:t>
            </a:r>
            <a:endParaRPr/>
          </a:p>
          <a:p>
            <a:pPr algn="l">
              <a:defRPr/>
            </a:pPr>
            <a:r>
              <a:rPr/>
              <a:t>                    │ M10: DIVIDEND   │</a:t>
            </a:r>
            <a:endParaRPr/>
          </a:p>
          <a:p>
            <a:pPr algn="l">
              <a:defRPr/>
            </a:pPr>
            <a:r>
              <a:rPr/>
              <a:t>                    │    💰 PAYOUT     │</a:t>
            </a:r>
            <a:endParaRPr/>
          </a:p>
          <a:p>
            <a:pPr algn="l">
              <a:defRPr/>
            </a:pPr>
            <a:r>
              <a:rPr/>
              <a:t>                    └─────────────────┘</a:t>
            </a:r>
            <a:endParaRPr/>
          </a:p>
          <a:p>
            <a:pPr algn="l">
              <a:defRPr/>
            </a:pPr>
            <a:r>
              <a:rPr/>
              <a:t>```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 RESOURCE REQUIREMENTS SUMMARY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| Phase | Engineering | ML | Design | Legal | Other |</a:t>
            </a:r>
            <a:endParaRPr/>
          </a:p>
          <a:p>
            <a:pPr algn="l">
              <a:defRPr/>
            </a:pPr>
            <a:r>
              <a:rPr/>
              <a:t>|-------|-------------|-----|--------|-------|-------|</a:t>
            </a:r>
            <a:endParaRPr/>
          </a:p>
          <a:p>
            <a:pPr algn="l">
              <a:defRPr/>
            </a:pPr>
            <a:r>
              <a:rPr/>
              <a:t>| M1–M2 | 4–5 | 0 | 1 | 10 hrs | — |</a:t>
            </a:r>
            <a:endParaRPr/>
          </a:p>
          <a:p>
            <a:pPr algn="l">
              <a:defRPr/>
            </a:pPr>
            <a:r>
              <a:rPr/>
              <a:t>| M3–M5 | 4 | 0 | 2 | 25 hrs | — |</a:t>
            </a:r>
            <a:endParaRPr/>
          </a:p>
          <a:p>
            <a:pPr algn="l">
              <a:defRPr/>
            </a:pPr>
            <a:r>
              <a:rPr/>
              <a:t>| M6 | 3 | 2–3 | 1 | 0 | — |</a:t>
            </a:r>
            <a:endParaRPr/>
          </a:p>
          <a:p>
            <a:pPr algn="l">
              <a:defRPr/>
            </a:pPr>
            <a:r>
              <a:rPr/>
              <a:t>| M7 | 4 | 0 | 2 | 10 hrs | Community 1 |</a:t>
            </a:r>
            <a:endParaRPr/>
          </a:p>
          <a:p>
            <a:pPr algn="l">
              <a:defRPr/>
            </a:pPr>
            <a:r>
              <a:rPr/>
              <a:t>| M8 | 3 | 1 | 1 | 60 hrs | Compliance 20 hrs |</a:t>
            </a:r>
            <a:endParaRPr/>
          </a:p>
          <a:p>
            <a:pPr algn="l">
              <a:defRPr/>
            </a:pPr>
            <a:r>
              <a:rPr/>
              <a:t>| M9 | 3 | 3 | 0 | 10 hrs | BD 1 |</a:t>
            </a:r>
            <a:endParaRPr/>
          </a:p>
          <a:p>
            <a:pPr algn="l">
              <a:defRPr/>
            </a:pPr>
            <a:r>
              <a:rPr/>
              <a:t>| M10 | 2 | 0 | 1 | 30 hrs | Finance 1, Marketing |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**Total Team at Peak:** ~12–15 people</a:t>
            </a:r>
            <a:endParaRPr/>
          </a:p>
          <a:p>
            <a:pPr algn="l">
              <a:defRPr/>
            </a:pPr>
            <a:r>
              <a:rPr/>
              <a:t>**Total Legal Hours:** ~145 hours</a:t>
            </a:r>
            <a:endParaRPr/>
          </a:p>
          <a:p>
            <a:pPr algn="l">
              <a:defRPr/>
            </a:pPr>
            <a:r>
              <a:rPr/>
              <a:t>**Total Timeline:** 18 months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# SUCCESS STATE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At the completion of Milestone 10: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✅ Users can chat with 8+ AI providers through one interface</a:t>
            </a:r>
            <a:endParaRPr/>
          </a:p>
          <a:p>
            <a:pPr algn="l">
              <a:defRPr/>
            </a:pPr>
            <a:r>
              <a:rPr/>
              <a:t>✅ Every conversation is owned as an Atomic Chat Unit</a:t>
            </a:r>
            <a:endParaRPr/>
          </a:p>
          <a:p>
            <a:pPr algn="l">
              <a:defRPr/>
            </a:pPr>
            <a:r>
              <a:rPr/>
              <a:t>✅ Data is encrypted and sovereign (export, delete, control)</a:t>
            </a:r>
            <a:endParaRPr/>
          </a:p>
          <a:p>
            <a:pPr algn="l">
              <a:defRPr/>
            </a:pPr>
            <a:r>
              <a:rPr/>
              <a:t>✅ Users can fork, mux, and remux across models</a:t>
            </a:r>
            <a:endParaRPr/>
          </a:p>
          <a:p>
            <a:pPr algn="l">
              <a:defRPr/>
            </a:pPr>
            <a:r>
              <a:rPr/>
              <a:t>✅ Context engine makes every conversation smarter</a:t>
            </a:r>
            <a:endParaRPr/>
          </a:p>
          <a:p>
            <a:pPr algn="l">
              <a:defRPr/>
            </a:pPr>
            <a:r>
              <a:rPr/>
              <a:t>✅ Social layer enables sharing, following, remixing</a:t>
            </a:r>
            <a:endParaRPr/>
          </a:p>
          <a:p>
            <a:pPr algn="l">
              <a:defRPr/>
            </a:pPr>
            <a:r>
              <a:rPr/>
              <a:t>✅ Consent system enables granular opt-in with full transparency</a:t>
            </a:r>
            <a:endParaRPr/>
          </a:p>
          <a:p>
            <a:pPr algn="l">
              <a:defRPr/>
            </a:pPr>
            <a:r>
              <a:rPr/>
              <a:t>✅ Training pipeline produces revenue-generating models</a:t>
            </a:r>
            <a:endParaRPr/>
          </a:p>
          <a:p>
            <a:pPr algn="l">
              <a:defRPr/>
            </a:pPr>
            <a:r>
              <a:rPr/>
              <a:t>✅ **Users have received real dividend payments**</a:t>
            </a:r>
            <a:endParaRPr/>
          </a:p>
          <a:p>
            <a:pPr algn="l">
              <a:defRPr/>
            </a:pPr>
            <a:r>
              <a:rPr/>
              <a:t>✅ **The flywheel is spinning**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---</a:t>
            </a:r>
            <a:endParaRPr/>
          </a:p>
          <a:p>
            <a:pPr algn="l">
              <a:defRPr/>
            </a:pPr>
            <a:endParaRPr/>
          </a:p>
          <a:p>
            <a:pPr algn="l">
              <a:defRPr/>
            </a:pPr>
            <a:r>
              <a:rPr/>
              <a:t>**Ready to build.**</a:t>
            </a:r>
            <a:endParaRPr/>
          </a:p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Fido Template">
  <a:themeElements>
    <a:clrScheme name="Pitch Template">
      <a:dk1>
        <a:srgbClr val="222222"/>
      </a:dk1>
      <a:lt1>
        <a:srgbClr val="FFFFFF"/>
      </a:lt1>
      <a:dk2>
        <a:srgbClr val="FF502F"/>
      </a:dk2>
      <a:lt2>
        <a:srgbClr val="FFFFFF"/>
      </a:lt2>
      <a:accent1>
        <a:srgbClr val="000000"/>
      </a:accent1>
      <a:accent2>
        <a:srgbClr val="CCCCCC"/>
      </a:accent2>
      <a:accent3>
        <a:srgbClr val="EAEBF2"/>
      </a:accent3>
      <a:accent4>
        <a:srgbClr val="666666"/>
      </a:accent4>
      <a:accent5>
        <a:srgbClr val="434343"/>
      </a:accent5>
      <a:accent6>
        <a:srgbClr val="F0F0F7"/>
      </a:accent6>
      <a:hlink>
        <a:srgbClr val="000000"/>
      </a:hlink>
      <a:folHlink>
        <a:srgbClr val="090533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ONLYOFFICE/9.0.4.50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Theme 1</vt:lpstr>
      <vt:lpstr>Theme 2</vt:lpstr>
      <vt:lpstr>Theme 3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</cp:revision>
  <dcterms:modified xsi:type="dcterms:W3CDTF">2026-02-18T23:48:03Z</dcterms:modified>
</cp:coreProperties>
</file>